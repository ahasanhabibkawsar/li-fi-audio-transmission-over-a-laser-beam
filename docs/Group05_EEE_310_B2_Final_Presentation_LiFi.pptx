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34"/>
  </p:notesMasterIdLst>
  <p:sldIdLst>
    <p:sldId id="256" r:id="rId3"/>
    <p:sldId id="288" r:id="rId4"/>
    <p:sldId id="289" r:id="rId5"/>
    <p:sldId id="290" r:id="rId6"/>
    <p:sldId id="291" r:id="rId7"/>
    <p:sldId id="292" r:id="rId8"/>
    <p:sldId id="293" r:id="rId9"/>
    <p:sldId id="325" r:id="rId10"/>
    <p:sldId id="324" r:id="rId11"/>
    <p:sldId id="327" r:id="rId12"/>
    <p:sldId id="297" r:id="rId13"/>
    <p:sldId id="298" r:id="rId14"/>
    <p:sldId id="322" r:id="rId15"/>
    <p:sldId id="300" r:id="rId16"/>
    <p:sldId id="301" r:id="rId17"/>
    <p:sldId id="302" r:id="rId18"/>
    <p:sldId id="303" r:id="rId19"/>
    <p:sldId id="304" r:id="rId20"/>
    <p:sldId id="305" r:id="rId21"/>
    <p:sldId id="323" r:id="rId22"/>
    <p:sldId id="307" r:id="rId23"/>
    <p:sldId id="308" r:id="rId24"/>
    <p:sldId id="309" r:id="rId25"/>
    <p:sldId id="310" r:id="rId26"/>
    <p:sldId id="311" r:id="rId27"/>
    <p:sldId id="312" r:id="rId28"/>
    <p:sldId id="313" r:id="rId29"/>
    <p:sldId id="328" r:id="rId30"/>
    <p:sldId id="315" r:id="rId31"/>
    <p:sldId id="316" r:id="rId32"/>
    <p:sldId id="329"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AE01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94"/>
    <p:restoredTop sz="94610"/>
  </p:normalViewPr>
  <p:slideViewPr>
    <p:cSldViewPr snapToGrid="0" snapToObjects="1">
      <p:cViewPr varScale="1">
        <p:scale>
          <a:sx n="82" d="100"/>
          <a:sy n="82"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2578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801701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cSld name="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GB" dirty="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21" name="Footer Placeholder 20"/>
          <p:cNvSpPr>
            <a:spLocks noGrp="1"/>
          </p:cNvSpPr>
          <p:nvPr>
            <p:ph type="ftr" sz="quarter" idx="11"/>
          </p:nvPr>
        </p:nvSpPr>
        <p:spPr>
          <a:xfrm>
            <a:off x="1453896" y="5211060"/>
            <a:ext cx="5905500" cy="228600"/>
          </a:xfrm>
          <a:prstGeom prst="rect">
            <a:avLst/>
          </a:prstGeom>
        </p:spPr>
        <p:txBody>
          <a:bodyPr/>
          <a:lstStyle>
            <a:lvl1pPr algn="l">
              <a:defRPr>
                <a:solidFill>
                  <a:schemeClr val="tx1">
                    <a:lumMod val="75000"/>
                    <a:lumOff val="25000"/>
                  </a:schemeClr>
                </a:solidFill>
              </a:defRPr>
            </a:lvl1pPr>
          </a:lstStyle>
          <a:p>
            <a:r>
              <a:rPr lang="en-GB"/>
              <a:t>Title of the Project</a:t>
            </a:r>
            <a:endParaRPr lang="en-BD"/>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E9C29D53-9981-884B-B5B6-B5743DF81FD1}" type="slidenum">
              <a:rPr lang="en-BD" smtClean="0"/>
              <a:t>‹#›</a:t>
            </a:fld>
            <a:endParaRPr lang="en-BD"/>
          </a:p>
        </p:txBody>
      </p:sp>
      <p:sp>
        <p:nvSpPr>
          <p:cNvPr id="23" name="Rectangle 22">
            <a:extLst>
              <a:ext uri="{FF2B5EF4-FFF2-40B4-BE49-F238E27FC236}">
                <a16:creationId xmlns:a16="http://schemas.microsoft.com/office/drawing/2014/main" id="{ACC9C879-EF2D-BA4E-B6A9-D4377737278E}"/>
              </a:ext>
            </a:extLst>
          </p:cNvPr>
          <p:cNvSpPr/>
          <p:nvPr userDrawn="1"/>
        </p:nvSpPr>
        <p:spPr>
          <a:xfrm>
            <a:off x="0" y="0"/>
            <a:ext cx="12192000" cy="15622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dirty="0">
                <a:latin typeface="Arial" panose="020B0604020202020204" pitchFamily="34" charset="0"/>
                <a:cs typeface="Arial" panose="020B0604020202020204" pitchFamily="34" charset="0"/>
              </a:rPr>
              <a:t>EEE </a:t>
            </a:r>
            <a:r>
              <a:rPr lang="en-US" sz="2400" dirty="0">
                <a:latin typeface="Arial" panose="020B0604020202020204" pitchFamily="34" charset="0"/>
                <a:cs typeface="Arial" panose="020B0604020202020204" pitchFamily="34" charset="0"/>
              </a:rPr>
              <a:t>xxx</a:t>
            </a:r>
            <a:r>
              <a:rPr lang="en-BD" sz="2400" dirty="0">
                <a:latin typeface="Arial" panose="020B0604020202020204" pitchFamily="34" charset="0"/>
                <a:cs typeface="Arial" panose="020B0604020202020204" pitchFamily="34" charset="0"/>
              </a:rPr>
              <a:t> – </a:t>
            </a:r>
            <a:r>
              <a:rPr lang="en-US" sz="2400" dirty="0">
                <a:latin typeface="Arial" panose="020B0604020202020204" pitchFamily="34" charset="0"/>
                <a:cs typeface="Arial" panose="020B0604020202020204" pitchFamily="34" charset="0"/>
              </a:rPr>
              <a:t>Course Title</a:t>
            </a:r>
            <a:r>
              <a:rPr lang="en-BD" sz="2400" dirty="0">
                <a:latin typeface="Arial" panose="020B0604020202020204" pitchFamily="34" charset="0"/>
                <a:cs typeface="Arial" panose="020B0604020202020204" pitchFamily="34" charset="0"/>
              </a:rPr>
              <a:t> Laboratory</a:t>
            </a:r>
          </a:p>
          <a:p>
            <a:pPr marL="0" marR="0" lvl="0" indent="0" algn="ctr" defTabSz="457200" rtl="0" eaLnBrk="1" fontAlgn="auto" latinLnBrk="0" hangingPunct="1">
              <a:lnSpc>
                <a:spcPct val="100000"/>
              </a:lnSpc>
              <a:spcBef>
                <a:spcPts val="0"/>
              </a:spcBef>
              <a:spcAft>
                <a:spcPts val="0"/>
              </a:spcAft>
              <a:buClrTx/>
              <a:buSzTx/>
              <a:buFontTx/>
              <a:buNone/>
              <a:tabLst/>
              <a:defRPr/>
            </a:pPr>
            <a:r>
              <a:rPr lang="en-BD" sz="2800" dirty="0">
                <a:latin typeface="Arial" panose="020B0604020202020204" pitchFamily="34" charset="0"/>
                <a:cs typeface="Arial" panose="020B0604020202020204" pitchFamily="34" charset="0"/>
              </a:rPr>
              <a:t>Jan 202</a:t>
            </a:r>
            <a:r>
              <a:rPr lang="en-US" sz="2800" dirty="0">
                <a:latin typeface="Arial" panose="020B0604020202020204" pitchFamily="34" charset="0"/>
                <a:cs typeface="Arial" panose="020B0604020202020204" pitchFamily="34" charset="0"/>
              </a:rPr>
              <a:t>x </a:t>
            </a:r>
            <a:r>
              <a:rPr lang="en-BD" sz="2800" dirty="0">
                <a:latin typeface="Arial" panose="020B0604020202020204" pitchFamily="34" charset="0"/>
                <a:cs typeface="Arial" panose="020B0604020202020204" pitchFamily="34" charset="0"/>
              </a:rPr>
              <a:t>Level-</a:t>
            </a:r>
            <a:r>
              <a:rPr lang="en-US" sz="2800" dirty="0">
                <a:latin typeface="Arial" panose="020B0604020202020204" pitchFamily="34" charset="0"/>
                <a:cs typeface="Arial" panose="020B0604020202020204" pitchFamily="34" charset="0"/>
              </a:rPr>
              <a:t>x</a:t>
            </a:r>
            <a:r>
              <a:rPr lang="en-BD" sz="2800" dirty="0">
                <a:latin typeface="Arial" panose="020B0604020202020204" pitchFamily="34" charset="0"/>
                <a:cs typeface="Arial" panose="020B0604020202020204" pitchFamily="34" charset="0"/>
              </a:rPr>
              <a:t> Term-I Section </a:t>
            </a:r>
            <a:r>
              <a:rPr lang="en-US" sz="2800" dirty="0">
                <a:latin typeface="Arial" panose="020B0604020202020204" pitchFamily="34" charset="0"/>
                <a:cs typeface="Arial" panose="020B0604020202020204" pitchFamily="34" charset="0"/>
              </a:rPr>
              <a:t>Z</a:t>
            </a:r>
            <a:endParaRPr lang="en-BD" sz="2800" dirty="0">
              <a:latin typeface="Arial" panose="020B0604020202020204" pitchFamily="34" charset="0"/>
              <a:cs typeface="Arial" panose="020B0604020202020204" pitchFamily="34" charset="0"/>
            </a:endParaRPr>
          </a:p>
          <a:p>
            <a:pPr algn="ctr"/>
            <a:r>
              <a:rPr lang="en-BD" sz="3600" dirty="0">
                <a:latin typeface="Arial" panose="020B0604020202020204" pitchFamily="34" charset="0"/>
                <a:cs typeface="Arial" panose="020B0604020202020204" pitchFamily="34" charset="0"/>
              </a:rPr>
              <a:t>Final Project Demonstration</a:t>
            </a:r>
          </a:p>
        </p:txBody>
      </p:sp>
      <p:sp>
        <p:nvSpPr>
          <p:cNvPr id="24" name="Rectangle 23">
            <a:extLst>
              <a:ext uri="{FF2B5EF4-FFF2-40B4-BE49-F238E27FC236}">
                <a16:creationId xmlns:a16="http://schemas.microsoft.com/office/drawing/2014/main" id="{A799C6A4-662A-4C47-AB70-4A7A449F40AE}"/>
              </a:ext>
            </a:extLst>
          </p:cNvPr>
          <p:cNvSpPr/>
          <p:nvPr userDrawn="1"/>
        </p:nvSpPr>
        <p:spPr>
          <a:xfrm>
            <a:off x="0" y="5968657"/>
            <a:ext cx="12192000" cy="88934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2865755" algn="ctr"/>
                <a:tab pos="5731510" algn="r"/>
              </a:tabLst>
            </a:pPr>
            <a:r>
              <a:rPr lang="en-US" sz="1800" cap="small" spc="160" dirty="0">
                <a:effectLst/>
                <a:latin typeface="Arial" panose="020B0604020202020204" pitchFamily="34" charset="0"/>
                <a:ea typeface="Times New Roman" panose="02020603050405020304" pitchFamily="18" charset="0"/>
                <a:cs typeface="Arial" panose="020B0604020202020204" pitchFamily="34" charset="0"/>
              </a:rPr>
              <a:t>Bangladesh University of Engineering and Technology</a:t>
            </a:r>
            <a:endParaRPr lang="en-GB" sz="1800" dirty="0">
              <a:effectLst/>
              <a:latin typeface="Arial" panose="020B0604020202020204" pitchFamily="34" charset="0"/>
              <a:ea typeface="Times New Roman" panose="02020603050405020304" pitchFamily="18" charset="0"/>
              <a:cs typeface="Arial" panose="020B0604020202020204" pitchFamily="34" charset="0"/>
            </a:endParaRPr>
          </a:p>
          <a:p>
            <a:pPr algn="ctr"/>
            <a:r>
              <a:rPr lang="en-US" sz="1800" cap="small" spc="160" dirty="0">
                <a:effectLst/>
                <a:latin typeface="Arial" panose="020B0604020202020204" pitchFamily="34" charset="0"/>
                <a:ea typeface="Times New Roman" panose="02020603050405020304" pitchFamily="18" charset="0"/>
                <a:cs typeface="Arial" panose="020B0604020202020204" pitchFamily="34" charset="0"/>
              </a:rPr>
              <a:t>Department of Electrical and Electronic Engineering</a:t>
            </a:r>
            <a:endParaRPr lang="en-BD" sz="2400" dirty="0">
              <a:latin typeface="Arial" panose="020B0604020202020204" pitchFamily="34" charset="0"/>
              <a:cs typeface="Arial" panose="020B0604020202020204" pitchFamily="34" charset="0"/>
            </a:endParaRPr>
          </a:p>
        </p:txBody>
      </p:sp>
      <p:pic>
        <p:nvPicPr>
          <p:cNvPr id="9" name="Graphic 8">
            <a:extLst>
              <a:ext uri="{FF2B5EF4-FFF2-40B4-BE49-F238E27FC236}">
                <a16:creationId xmlns:a16="http://schemas.microsoft.com/office/drawing/2014/main" id="{89B5FDC4-269D-0A46-8DED-E482158D83E5}"/>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84048"/>
          <a:stretch/>
        </p:blipFill>
        <p:spPr>
          <a:xfrm>
            <a:off x="1682496" y="6046044"/>
            <a:ext cx="793630" cy="734567"/>
          </a:xfrm>
          <a:prstGeom prst="rect">
            <a:avLst/>
          </a:prstGeom>
        </p:spPr>
      </p:pic>
    </p:spTree>
    <p:extLst>
      <p:ext uri="{BB962C8B-B14F-4D97-AF65-F5344CB8AC3E}">
        <p14:creationId xmlns:p14="http://schemas.microsoft.com/office/powerpoint/2010/main" val="344617717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7.jpg"/></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9.jpg"/></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1.jpg"/><Relationship Id="rId7" Type="http://schemas.openxmlformats.org/officeDocument/2006/relationships/image" Target="../media/image24.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jpg"/></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0.jpg"/><Relationship Id="rId7" Type="http://schemas.openxmlformats.org/officeDocument/2006/relationships/image" Target="../media/image34.jp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3.jpg"/><Relationship Id="rId5" Type="http://schemas.openxmlformats.org/officeDocument/2006/relationships/image" Target="../media/image32.jpg"/><Relationship Id="rId4" Type="http://schemas.openxmlformats.org/officeDocument/2006/relationships/image" Target="../media/image31.jpg"/></Relationships>
</file>

<file path=ppt/slides/_rels/slide21.xml.rels><?xml version="1.0" encoding="UTF-8" standalone="yes"?>
<Relationships xmlns="http://schemas.openxmlformats.org/package/2006/relationships"><Relationship Id="rId3" Type="http://schemas.openxmlformats.org/officeDocument/2006/relationships/image" Target="../media/image35.jp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8.jpg"/><Relationship Id="rId5" Type="http://schemas.openxmlformats.org/officeDocument/2006/relationships/image" Target="../media/image37.jpg"/><Relationship Id="rId4" Type="http://schemas.openxmlformats.org/officeDocument/2006/relationships/image" Target="../media/image36.jp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hyperlink" Target="https://youtu.be/T3q3XpJ2jnU"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 0" descr="/home/claude/fig/hero.jpg">
            <a:extLst>
              <a:ext uri="{FF2B5EF4-FFF2-40B4-BE49-F238E27FC236}">
                <a16:creationId xmlns:a16="http://schemas.microsoft.com/office/drawing/2014/main" id="{CD562D4E-E36B-9E3C-9275-0D49CEB935DB}"/>
              </a:ext>
            </a:extLst>
          </p:cNvPr>
          <p:cNvPicPr>
            <a:picLocks noChangeAspect="1"/>
          </p:cNvPicPr>
          <p:nvPr/>
        </p:nvPicPr>
        <p:blipFill>
          <a:blip r:embed="rId2">
            <a:alphaModFix amt="38000"/>
          </a:blip>
          <a:srcRect t="7770" b="7770"/>
          <a:stretch/>
        </p:blipFill>
        <p:spPr>
          <a:xfrm>
            <a:off x="0" y="1623407"/>
            <a:ext cx="12192000" cy="4329524"/>
          </a:xfrm>
          <a:prstGeom prst="rect">
            <a:avLst/>
          </a:prstGeom>
        </p:spPr>
      </p:pic>
      <p:sp>
        <p:nvSpPr>
          <p:cNvPr id="2" name="Title 1">
            <a:extLst>
              <a:ext uri="{FF2B5EF4-FFF2-40B4-BE49-F238E27FC236}">
                <a16:creationId xmlns:a16="http://schemas.microsoft.com/office/drawing/2014/main" id="{8146C925-AD3C-084C-A393-173805EA7DAE}"/>
              </a:ext>
            </a:extLst>
          </p:cNvPr>
          <p:cNvSpPr>
            <a:spLocks noGrp="1"/>
          </p:cNvSpPr>
          <p:nvPr>
            <p:ph type="ctrTitle"/>
          </p:nvPr>
        </p:nvSpPr>
        <p:spPr>
          <a:xfrm>
            <a:off x="1771940" y="1775977"/>
            <a:ext cx="9068586" cy="1580405"/>
          </a:xfrm>
        </p:spPr>
        <p:txBody>
          <a:bodyPr/>
          <a:lstStyle/>
          <a:p>
            <a:pPr marL="0" indent="0" algn="ctr">
              <a:lnSpc>
                <a:spcPct val="100000"/>
              </a:lnSpc>
              <a:buNone/>
            </a:pPr>
            <a:r>
              <a:rPr lang="en-US" sz="5400" b="1" dirty="0">
                <a:solidFill>
                  <a:schemeClr val="tx1"/>
                </a:solidFill>
                <a:latin typeface="Times New Roman"/>
                <a:ea typeface="Times New Roman"/>
                <a:cs typeface="Times New Roman"/>
              </a:rPr>
              <a:t>LI-FI: </a:t>
            </a:r>
            <a:br>
              <a:rPr lang="en-US" sz="5400" b="1" dirty="0">
                <a:solidFill>
                  <a:schemeClr val="tx1"/>
                </a:solidFill>
                <a:latin typeface="Times New Roman"/>
                <a:ea typeface="Times New Roman"/>
                <a:cs typeface="Times New Roman"/>
              </a:rPr>
            </a:br>
            <a:r>
              <a:rPr lang="en-US" sz="3200" b="1" dirty="0">
                <a:solidFill>
                  <a:schemeClr val="tx1"/>
                </a:solidFill>
                <a:latin typeface="Times New Roman"/>
                <a:ea typeface="Times New Roman"/>
                <a:cs typeface="Times New Roman"/>
              </a:rPr>
              <a:t>AUDIO TRANSMISSION</a:t>
            </a:r>
            <a:br>
              <a:rPr lang="en-US" sz="3200" dirty="0">
                <a:solidFill>
                  <a:schemeClr val="tx1"/>
                </a:solidFill>
                <a:latin typeface="Times New Roman"/>
                <a:ea typeface="Times New Roman"/>
                <a:cs typeface="Times New Roman"/>
              </a:rPr>
            </a:br>
            <a:r>
              <a:rPr lang="en-US" sz="3200" b="1" dirty="0">
                <a:solidFill>
                  <a:schemeClr val="tx1"/>
                </a:solidFill>
                <a:latin typeface="Times New Roman"/>
                <a:ea typeface="Times New Roman"/>
                <a:cs typeface="Times New Roman"/>
              </a:rPr>
              <a:t>OVER A LASER BEAM</a:t>
            </a:r>
            <a:endParaRPr lang="en-US" sz="5400" dirty="0">
              <a:solidFill>
                <a:schemeClr val="tx1"/>
              </a:solidFill>
              <a:latin typeface="Times New Roman"/>
              <a:ea typeface="Times New Roman"/>
              <a:cs typeface="Times New Roman"/>
            </a:endParaRPr>
          </a:p>
        </p:txBody>
      </p:sp>
      <p:sp>
        <p:nvSpPr>
          <p:cNvPr id="3" name="Subtitle 2">
            <a:extLst>
              <a:ext uri="{FF2B5EF4-FFF2-40B4-BE49-F238E27FC236}">
                <a16:creationId xmlns:a16="http://schemas.microsoft.com/office/drawing/2014/main" id="{17F0DBAF-7D79-1641-9F57-35E40E2F3CCD}"/>
              </a:ext>
            </a:extLst>
          </p:cNvPr>
          <p:cNvSpPr>
            <a:spLocks noGrp="1"/>
          </p:cNvSpPr>
          <p:nvPr>
            <p:ph type="subTitle" idx="1"/>
          </p:nvPr>
        </p:nvSpPr>
        <p:spPr>
          <a:xfrm>
            <a:off x="4237894" y="5359768"/>
            <a:ext cx="2350475" cy="885432"/>
          </a:xfrm>
        </p:spPr>
        <p:txBody>
          <a:bodyPr/>
          <a:lstStyle/>
          <a:p>
            <a:pPr marL="0" indent="0" algn="ctr">
              <a:buNone/>
            </a:pPr>
            <a:r>
              <a:rPr lang="en-US" sz="1200" b="1" dirty="0">
                <a:latin typeface="Times New Roman"/>
                <a:ea typeface="Times New Roman"/>
                <a:cs typeface="Times New Roman"/>
              </a:rPr>
              <a:t>MD. </a:t>
            </a:r>
            <a:r>
              <a:rPr lang="en-US" sz="1200" b="1" dirty="0" err="1">
                <a:latin typeface="Times New Roman"/>
                <a:ea typeface="Times New Roman"/>
                <a:cs typeface="Times New Roman"/>
              </a:rPr>
              <a:t>Saruwer</a:t>
            </a:r>
            <a:r>
              <a:rPr lang="en-US" sz="1200" b="1" dirty="0">
                <a:latin typeface="Times New Roman"/>
                <a:ea typeface="Times New Roman"/>
                <a:cs typeface="Times New Roman"/>
              </a:rPr>
              <a:t> </a:t>
            </a:r>
            <a:r>
              <a:rPr lang="en-US" sz="1200" b="1" dirty="0" err="1">
                <a:latin typeface="Times New Roman"/>
                <a:ea typeface="Times New Roman"/>
                <a:cs typeface="Times New Roman"/>
              </a:rPr>
              <a:t>Hossan</a:t>
            </a:r>
            <a:r>
              <a:rPr lang="en-US" sz="1200" b="1" dirty="0">
                <a:latin typeface="Times New Roman"/>
                <a:ea typeface="Times New Roman"/>
                <a:cs typeface="Times New Roman"/>
              </a:rPr>
              <a:t> Pial</a:t>
            </a:r>
          </a:p>
          <a:p>
            <a:r>
              <a:rPr lang="en-US" sz="2000" b="1" dirty="0"/>
              <a:t>2206099</a:t>
            </a:r>
            <a:endParaRPr lang="en-BD" sz="2000" b="1" dirty="0"/>
          </a:p>
        </p:txBody>
      </p:sp>
      <p:sp>
        <p:nvSpPr>
          <p:cNvPr id="5" name="Subtitle 2">
            <a:extLst>
              <a:ext uri="{FF2B5EF4-FFF2-40B4-BE49-F238E27FC236}">
                <a16:creationId xmlns:a16="http://schemas.microsoft.com/office/drawing/2014/main" id="{73D65FC9-0D80-444D-8239-028EF0E63ED0}"/>
              </a:ext>
            </a:extLst>
          </p:cNvPr>
          <p:cNvSpPr txBox="1">
            <a:spLocks/>
          </p:cNvSpPr>
          <p:nvPr/>
        </p:nvSpPr>
        <p:spPr>
          <a:xfrm>
            <a:off x="6299143" y="5333200"/>
            <a:ext cx="2350475"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pPr marL="0" indent="0" algn="ctr">
              <a:buNone/>
            </a:pPr>
            <a:r>
              <a:rPr lang="en-US" sz="1200" b="1" dirty="0" err="1">
                <a:latin typeface="Times New Roman"/>
                <a:ea typeface="Times New Roman"/>
                <a:cs typeface="Times New Roman"/>
              </a:rPr>
              <a:t>Mustasin</a:t>
            </a:r>
            <a:r>
              <a:rPr lang="en-US" sz="1200" b="1" dirty="0">
                <a:latin typeface="Times New Roman"/>
                <a:ea typeface="Times New Roman"/>
                <a:cs typeface="Times New Roman"/>
              </a:rPr>
              <a:t> Rahman </a:t>
            </a:r>
            <a:r>
              <a:rPr lang="en-US" sz="1200" b="1" dirty="0" err="1">
                <a:latin typeface="Times New Roman"/>
                <a:ea typeface="Times New Roman"/>
                <a:cs typeface="Times New Roman"/>
              </a:rPr>
              <a:t>Ador</a:t>
            </a:r>
            <a:endParaRPr lang="en-US" sz="1200" b="1" dirty="0">
              <a:latin typeface="Times New Roman"/>
              <a:ea typeface="Times New Roman"/>
              <a:cs typeface="Times New Roman"/>
            </a:endParaRPr>
          </a:p>
          <a:p>
            <a:r>
              <a:rPr lang="en-US" sz="2000" b="1" dirty="0"/>
              <a:t>2206104</a:t>
            </a:r>
            <a:endParaRPr lang="en-BD" sz="2000" b="1" dirty="0"/>
          </a:p>
        </p:txBody>
      </p:sp>
      <p:sp>
        <p:nvSpPr>
          <p:cNvPr id="7" name="Subtitle 2">
            <a:extLst>
              <a:ext uri="{FF2B5EF4-FFF2-40B4-BE49-F238E27FC236}">
                <a16:creationId xmlns:a16="http://schemas.microsoft.com/office/drawing/2014/main" id="{C185C57D-A765-0B46-AE76-AD4244F426AB}"/>
              </a:ext>
            </a:extLst>
          </p:cNvPr>
          <p:cNvSpPr txBox="1">
            <a:spLocks/>
          </p:cNvSpPr>
          <p:nvPr/>
        </p:nvSpPr>
        <p:spPr>
          <a:xfrm>
            <a:off x="2141736" y="5340478"/>
            <a:ext cx="2350475"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pPr marL="0" indent="0" algn="ctr">
              <a:buNone/>
            </a:pPr>
            <a:r>
              <a:rPr lang="en-US" sz="1200" b="1" dirty="0">
                <a:latin typeface="Times New Roman"/>
                <a:ea typeface="Times New Roman"/>
                <a:cs typeface="Times New Roman"/>
              </a:rPr>
              <a:t>Md. </a:t>
            </a:r>
            <a:r>
              <a:rPr lang="en-US" sz="1200" b="1" dirty="0" err="1">
                <a:latin typeface="Times New Roman"/>
                <a:ea typeface="Times New Roman"/>
                <a:cs typeface="Times New Roman"/>
              </a:rPr>
              <a:t>Ahasan</a:t>
            </a:r>
            <a:r>
              <a:rPr lang="en-US" sz="1200" b="1" dirty="0">
                <a:latin typeface="Times New Roman"/>
                <a:ea typeface="Times New Roman"/>
                <a:cs typeface="Times New Roman"/>
              </a:rPr>
              <a:t> Habib Kawsar</a:t>
            </a:r>
          </a:p>
          <a:p>
            <a:r>
              <a:rPr lang="en-US" sz="2000" b="1" dirty="0"/>
              <a:t>2206119</a:t>
            </a:r>
            <a:endParaRPr lang="en-BD" sz="2000" b="1" dirty="0"/>
          </a:p>
        </p:txBody>
      </p:sp>
      <p:sp>
        <p:nvSpPr>
          <p:cNvPr id="9" name="Subtitle 2">
            <a:extLst>
              <a:ext uri="{FF2B5EF4-FFF2-40B4-BE49-F238E27FC236}">
                <a16:creationId xmlns:a16="http://schemas.microsoft.com/office/drawing/2014/main" id="{C7A885CF-D2B7-2D4F-9C5B-F2B757DB520C}"/>
              </a:ext>
            </a:extLst>
          </p:cNvPr>
          <p:cNvSpPr txBox="1">
            <a:spLocks/>
          </p:cNvSpPr>
          <p:nvPr/>
        </p:nvSpPr>
        <p:spPr>
          <a:xfrm>
            <a:off x="8199931" y="5318983"/>
            <a:ext cx="2350475"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pPr marL="0" indent="0" algn="ctr">
              <a:buNone/>
            </a:pPr>
            <a:r>
              <a:rPr lang="en-US" sz="1200" b="1" dirty="0">
                <a:latin typeface="Times New Roman"/>
                <a:ea typeface="Times New Roman"/>
                <a:cs typeface="Times New Roman"/>
              </a:rPr>
              <a:t>Md. Imran </a:t>
            </a:r>
            <a:r>
              <a:rPr lang="en-US" sz="1200" b="1" dirty="0" err="1">
                <a:latin typeface="Times New Roman"/>
                <a:ea typeface="Times New Roman"/>
                <a:cs typeface="Times New Roman"/>
              </a:rPr>
              <a:t>Shajid</a:t>
            </a:r>
            <a:endParaRPr lang="en-US" sz="1200" b="1" dirty="0">
              <a:latin typeface="Times New Roman"/>
              <a:ea typeface="Times New Roman"/>
              <a:cs typeface="Times New Roman"/>
            </a:endParaRPr>
          </a:p>
          <a:p>
            <a:r>
              <a:rPr lang="en-US" sz="2000" b="1" dirty="0"/>
              <a:t>2206120</a:t>
            </a:r>
            <a:endParaRPr lang="en-BD" sz="2000" b="1" dirty="0"/>
          </a:p>
        </p:txBody>
      </p:sp>
      <p:sp>
        <p:nvSpPr>
          <p:cNvPr id="11" name="Subtitle 2">
            <a:extLst>
              <a:ext uri="{FF2B5EF4-FFF2-40B4-BE49-F238E27FC236}">
                <a16:creationId xmlns:a16="http://schemas.microsoft.com/office/drawing/2014/main" id="{6D4ABD83-8F2E-FD4E-B18C-2299D6E2E152}"/>
              </a:ext>
            </a:extLst>
          </p:cNvPr>
          <p:cNvSpPr txBox="1">
            <a:spLocks/>
          </p:cNvSpPr>
          <p:nvPr/>
        </p:nvSpPr>
        <p:spPr>
          <a:xfrm>
            <a:off x="4884528" y="3554820"/>
            <a:ext cx="3033537"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BD" cap="small" dirty="0"/>
              <a:t>Submitted by – Group </a:t>
            </a:r>
            <a:r>
              <a:rPr lang="en-US" cap="small" dirty="0"/>
              <a:t>5</a:t>
            </a:r>
            <a:endParaRPr lang="en-BD" sz="2800" cap="small" dirty="0"/>
          </a:p>
        </p:txBody>
      </p:sp>
      <p:sp>
        <p:nvSpPr>
          <p:cNvPr id="13" name="Slide Number Placeholder 12">
            <a:extLst>
              <a:ext uri="{FF2B5EF4-FFF2-40B4-BE49-F238E27FC236}">
                <a16:creationId xmlns:a16="http://schemas.microsoft.com/office/drawing/2014/main" id="{DB74ABDA-11C0-7C43-8041-3445AA6819AB}"/>
              </a:ext>
            </a:extLst>
          </p:cNvPr>
          <p:cNvSpPr>
            <a:spLocks noGrp="1"/>
          </p:cNvSpPr>
          <p:nvPr>
            <p:ph type="sldNum" sz="quarter" idx="12"/>
          </p:nvPr>
        </p:nvSpPr>
        <p:spPr>
          <a:xfrm flipV="1">
            <a:off x="11686022" y="6586285"/>
            <a:ext cx="733024" cy="45719"/>
          </a:xfrm>
        </p:spPr>
        <p:txBody>
          <a:bodyPr/>
          <a:lstStyle/>
          <a:p>
            <a:r>
              <a:rPr lang="en-US" dirty="0">
                <a:solidFill>
                  <a:schemeClr val="bg1"/>
                </a:solidFill>
              </a:rPr>
              <a:t>I</a:t>
            </a:r>
            <a:endParaRPr lang="en-BD" dirty="0">
              <a:solidFill>
                <a:schemeClr val="bg1"/>
              </a:solidFill>
            </a:endParaRPr>
          </a:p>
        </p:txBody>
      </p:sp>
      <p:sp>
        <p:nvSpPr>
          <p:cNvPr id="12" name="Rectangle 11">
            <a:extLst>
              <a:ext uri="{FF2B5EF4-FFF2-40B4-BE49-F238E27FC236}">
                <a16:creationId xmlns:a16="http://schemas.microsoft.com/office/drawing/2014/main" id="{9BBEF26C-C5CE-D5EC-5ADE-925164B41A43}"/>
              </a:ext>
            </a:extLst>
          </p:cNvPr>
          <p:cNvSpPr/>
          <p:nvPr/>
        </p:nvSpPr>
        <p:spPr>
          <a:xfrm>
            <a:off x="0" y="-17336"/>
            <a:ext cx="12192000" cy="164074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b="1" dirty="0">
              <a:solidFill>
                <a:schemeClr val="bg1"/>
              </a:solidFill>
            </a:endParaRPr>
          </a:p>
        </p:txBody>
      </p:sp>
      <p:sp>
        <p:nvSpPr>
          <p:cNvPr id="17" name="TextBox 16">
            <a:extLst>
              <a:ext uri="{FF2B5EF4-FFF2-40B4-BE49-F238E27FC236}">
                <a16:creationId xmlns:a16="http://schemas.microsoft.com/office/drawing/2014/main" id="{1FDE75EB-BAE1-D212-C117-524F6DDE150A}"/>
              </a:ext>
            </a:extLst>
          </p:cNvPr>
          <p:cNvSpPr txBox="1"/>
          <p:nvPr/>
        </p:nvSpPr>
        <p:spPr>
          <a:xfrm>
            <a:off x="2405047" y="128495"/>
            <a:ext cx="7618704" cy="523220"/>
          </a:xfrm>
          <a:prstGeom prst="rect">
            <a:avLst/>
          </a:prstGeom>
          <a:noFill/>
        </p:spPr>
        <p:txBody>
          <a:bodyPr wrap="square">
            <a:spAutoFit/>
          </a:bodyPr>
          <a:lstStyle/>
          <a:p>
            <a:r>
              <a:rPr lang="en-US" sz="2800" b="1" dirty="0">
                <a:solidFill>
                  <a:schemeClr val="bg1"/>
                </a:solidFill>
                <a:latin typeface="Times New Roman"/>
                <a:ea typeface="Times New Roman"/>
                <a:cs typeface="Times New Roman"/>
              </a:rPr>
              <a:t>EEE 310 – Communication System I Laboratory</a:t>
            </a:r>
            <a:endParaRPr lang="en-US" sz="2800" b="1" dirty="0">
              <a:solidFill>
                <a:schemeClr val="bg1"/>
              </a:solidFill>
            </a:endParaRPr>
          </a:p>
        </p:txBody>
      </p:sp>
      <p:sp>
        <p:nvSpPr>
          <p:cNvPr id="19" name="TextBox 18">
            <a:extLst>
              <a:ext uri="{FF2B5EF4-FFF2-40B4-BE49-F238E27FC236}">
                <a16:creationId xmlns:a16="http://schemas.microsoft.com/office/drawing/2014/main" id="{23DFDB2C-EC7C-7D66-64FE-F2BFCCD2CC77}"/>
              </a:ext>
            </a:extLst>
          </p:cNvPr>
          <p:cNvSpPr txBox="1"/>
          <p:nvPr/>
        </p:nvSpPr>
        <p:spPr>
          <a:xfrm>
            <a:off x="2945186" y="603932"/>
            <a:ext cx="6538426" cy="461665"/>
          </a:xfrm>
          <a:prstGeom prst="rect">
            <a:avLst/>
          </a:prstGeom>
          <a:noFill/>
        </p:spPr>
        <p:txBody>
          <a:bodyPr wrap="square">
            <a:spAutoFit/>
          </a:bodyPr>
          <a:lstStyle/>
          <a:p>
            <a:pPr marL="0" indent="0" algn="ctr">
              <a:buNone/>
            </a:pPr>
            <a:r>
              <a:rPr lang="en-US" sz="2400" b="1" dirty="0">
                <a:solidFill>
                  <a:schemeClr val="bg1"/>
                </a:solidFill>
                <a:latin typeface="Times New Roman"/>
                <a:ea typeface="Times New Roman"/>
                <a:cs typeface="Times New Roman"/>
              </a:rPr>
              <a:t>September 2026  |  Level 3 Term 1  |  Section: B2</a:t>
            </a:r>
            <a:endParaRPr lang="en-US" sz="2400" dirty="0">
              <a:solidFill>
                <a:schemeClr val="bg1"/>
              </a:solidFill>
              <a:latin typeface="Times New Roman"/>
              <a:ea typeface="Times New Roman"/>
              <a:cs typeface="Times New Roman"/>
            </a:endParaRPr>
          </a:p>
        </p:txBody>
      </p:sp>
      <p:sp>
        <p:nvSpPr>
          <p:cNvPr id="20" name="Subtitle 2">
            <a:extLst>
              <a:ext uri="{FF2B5EF4-FFF2-40B4-BE49-F238E27FC236}">
                <a16:creationId xmlns:a16="http://schemas.microsoft.com/office/drawing/2014/main" id="{51FF8AE8-A57C-041E-C428-5D468CB74C2A}"/>
              </a:ext>
            </a:extLst>
          </p:cNvPr>
          <p:cNvSpPr txBox="1">
            <a:spLocks/>
          </p:cNvSpPr>
          <p:nvPr/>
        </p:nvSpPr>
        <p:spPr>
          <a:xfrm>
            <a:off x="19544" y="5333200"/>
            <a:ext cx="2350475"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pPr marL="0" indent="0" algn="ctr">
              <a:buNone/>
            </a:pPr>
            <a:r>
              <a:rPr lang="en-US" sz="1200" b="1" dirty="0">
                <a:latin typeface="Times New Roman"/>
                <a:ea typeface="Times New Roman"/>
                <a:cs typeface="Times New Roman"/>
              </a:rPr>
              <a:t>Md. Mahedi Hasan Saikot</a:t>
            </a:r>
          </a:p>
          <a:p>
            <a:r>
              <a:rPr lang="en-US" sz="2000" b="1" dirty="0"/>
              <a:t>2206111</a:t>
            </a:r>
            <a:endParaRPr lang="en-BD" sz="2000" b="1" dirty="0"/>
          </a:p>
        </p:txBody>
      </p:sp>
      <p:sp>
        <p:nvSpPr>
          <p:cNvPr id="22" name="Subtitle 2">
            <a:extLst>
              <a:ext uri="{FF2B5EF4-FFF2-40B4-BE49-F238E27FC236}">
                <a16:creationId xmlns:a16="http://schemas.microsoft.com/office/drawing/2014/main" id="{1C9B9A1A-A07F-6509-3E82-F8D107A17C26}"/>
              </a:ext>
            </a:extLst>
          </p:cNvPr>
          <p:cNvSpPr txBox="1">
            <a:spLocks/>
          </p:cNvSpPr>
          <p:nvPr/>
        </p:nvSpPr>
        <p:spPr>
          <a:xfrm>
            <a:off x="10138244" y="5333200"/>
            <a:ext cx="2350475"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pPr marL="0" indent="0" algn="ctr">
              <a:buNone/>
            </a:pPr>
            <a:r>
              <a:rPr lang="en-US" sz="1200" b="1" dirty="0">
                <a:latin typeface="Times New Roman"/>
                <a:ea typeface="Times New Roman"/>
                <a:cs typeface="Times New Roman"/>
              </a:rPr>
              <a:t>Afnan Bin Obaid</a:t>
            </a:r>
          </a:p>
          <a:p>
            <a:r>
              <a:rPr lang="en-US" sz="2000" b="1" dirty="0"/>
              <a:t>2206121</a:t>
            </a:r>
            <a:endParaRPr lang="en-BD" sz="2000" b="1" dirty="0"/>
          </a:p>
        </p:txBody>
      </p:sp>
      <p:sp>
        <p:nvSpPr>
          <p:cNvPr id="24" name="TextBox 23">
            <a:extLst>
              <a:ext uri="{FF2B5EF4-FFF2-40B4-BE49-F238E27FC236}">
                <a16:creationId xmlns:a16="http://schemas.microsoft.com/office/drawing/2014/main" id="{94824091-5793-02F6-C4D1-CC35494A7808}"/>
              </a:ext>
            </a:extLst>
          </p:cNvPr>
          <p:cNvSpPr txBox="1"/>
          <p:nvPr/>
        </p:nvSpPr>
        <p:spPr>
          <a:xfrm>
            <a:off x="3676465" y="1009876"/>
            <a:ext cx="5336906" cy="584775"/>
          </a:xfrm>
          <a:prstGeom prst="rect">
            <a:avLst/>
          </a:prstGeom>
          <a:noFill/>
        </p:spPr>
        <p:txBody>
          <a:bodyPr wrap="square">
            <a:spAutoFit/>
          </a:bodyPr>
          <a:lstStyle/>
          <a:p>
            <a:r>
              <a:rPr lang="en-US" sz="3200" b="1" dirty="0">
                <a:solidFill>
                  <a:schemeClr val="bg1"/>
                </a:solidFill>
                <a:latin typeface="Times New Roman"/>
                <a:ea typeface="Times New Roman"/>
                <a:cs typeface="Times New Roman"/>
              </a:rPr>
              <a:t>Final Project Demonstration</a:t>
            </a:r>
            <a:endParaRPr lang="en-US" sz="3200" b="1" dirty="0">
              <a:solidFill>
                <a:schemeClr val="bg1"/>
              </a:solidFill>
            </a:endParaRPr>
          </a:p>
        </p:txBody>
      </p:sp>
      <p:sp>
        <p:nvSpPr>
          <p:cNvPr id="4" name="AutoShape 2" descr="Sticker with no label">
            <a:extLst>
              <a:ext uri="{FF2B5EF4-FFF2-40B4-BE49-F238E27FC236}">
                <a16:creationId xmlns:a16="http://schemas.microsoft.com/office/drawing/2014/main" id="{9A88F238-87E4-8E5A-F4D3-ECE01766382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C6DDBD17-8EB8-0AE1-B6A2-4636E67F8E71}"/>
              </a:ext>
            </a:extLst>
          </p:cNvPr>
          <p:cNvPicPr>
            <a:picLocks noChangeAspect="1"/>
          </p:cNvPicPr>
          <p:nvPr/>
        </p:nvPicPr>
        <p:blipFill>
          <a:blip r:embed="rId3"/>
          <a:srcRect l="-3065" b="12772"/>
          <a:stretch/>
        </p:blipFill>
        <p:spPr>
          <a:xfrm>
            <a:off x="284498" y="3800055"/>
            <a:ext cx="1867357" cy="1580404"/>
          </a:xfrm>
          <a:prstGeom prst="rect">
            <a:avLst/>
          </a:prstGeom>
        </p:spPr>
      </p:pic>
      <p:pic>
        <p:nvPicPr>
          <p:cNvPr id="15" name="Picture 14">
            <a:extLst>
              <a:ext uri="{FF2B5EF4-FFF2-40B4-BE49-F238E27FC236}">
                <a16:creationId xmlns:a16="http://schemas.microsoft.com/office/drawing/2014/main" id="{125534C8-6969-53A7-6887-9E7FA753C2DA}"/>
              </a:ext>
            </a:extLst>
          </p:cNvPr>
          <p:cNvPicPr>
            <a:picLocks noChangeAspect="1"/>
          </p:cNvPicPr>
          <p:nvPr/>
        </p:nvPicPr>
        <p:blipFill>
          <a:blip r:embed="rId4"/>
          <a:srcRect l="8432" t="1049" r="61764" b="55137"/>
          <a:stretch/>
        </p:blipFill>
        <p:spPr>
          <a:xfrm>
            <a:off x="2386779" y="3585042"/>
            <a:ext cx="2146167" cy="1774725"/>
          </a:xfrm>
          <a:prstGeom prst="rect">
            <a:avLst/>
          </a:prstGeom>
        </p:spPr>
      </p:pic>
      <p:pic>
        <p:nvPicPr>
          <p:cNvPr id="23" name="Picture 22">
            <a:extLst>
              <a:ext uri="{FF2B5EF4-FFF2-40B4-BE49-F238E27FC236}">
                <a16:creationId xmlns:a16="http://schemas.microsoft.com/office/drawing/2014/main" id="{2DD5AE54-672E-18B7-3393-85850C60DC11}"/>
              </a:ext>
            </a:extLst>
          </p:cNvPr>
          <p:cNvPicPr>
            <a:picLocks noChangeAspect="1"/>
          </p:cNvPicPr>
          <p:nvPr/>
        </p:nvPicPr>
        <p:blipFill>
          <a:blip r:embed="rId5"/>
          <a:srcRect l="6413" b="16301"/>
          <a:stretch/>
        </p:blipFill>
        <p:spPr>
          <a:xfrm>
            <a:off x="6701432" y="3800055"/>
            <a:ext cx="1732988" cy="1549873"/>
          </a:xfrm>
          <a:prstGeom prst="rect">
            <a:avLst/>
          </a:prstGeom>
        </p:spPr>
      </p:pic>
      <p:pic>
        <p:nvPicPr>
          <p:cNvPr id="30" name="Picture 29">
            <a:extLst>
              <a:ext uri="{FF2B5EF4-FFF2-40B4-BE49-F238E27FC236}">
                <a16:creationId xmlns:a16="http://schemas.microsoft.com/office/drawing/2014/main" id="{F8AE4FA4-6FDB-6E6B-18D8-31B5739FFDC8}"/>
              </a:ext>
            </a:extLst>
          </p:cNvPr>
          <p:cNvPicPr>
            <a:picLocks noChangeAspect="1"/>
          </p:cNvPicPr>
          <p:nvPr/>
        </p:nvPicPr>
        <p:blipFill>
          <a:blip r:embed="rId6"/>
          <a:srcRect l="22932" t="-1129" r="18805" b="27344"/>
          <a:stretch/>
        </p:blipFill>
        <p:spPr>
          <a:xfrm>
            <a:off x="4976460" y="3694531"/>
            <a:ext cx="1351361" cy="1711394"/>
          </a:xfrm>
          <a:prstGeom prst="rect">
            <a:avLst/>
          </a:prstGeom>
        </p:spPr>
      </p:pic>
      <p:pic>
        <p:nvPicPr>
          <p:cNvPr id="34" name="Picture 33">
            <a:extLst>
              <a:ext uri="{FF2B5EF4-FFF2-40B4-BE49-F238E27FC236}">
                <a16:creationId xmlns:a16="http://schemas.microsoft.com/office/drawing/2014/main" id="{FB7A6F37-2345-7EB8-2B20-783BDD5D6AC9}"/>
              </a:ext>
            </a:extLst>
          </p:cNvPr>
          <p:cNvPicPr>
            <a:picLocks noChangeAspect="1"/>
          </p:cNvPicPr>
          <p:nvPr/>
        </p:nvPicPr>
        <p:blipFill>
          <a:blip r:embed="rId7"/>
          <a:srcRect l="41368" t="3970" r="46730" b="80803"/>
          <a:stretch/>
        </p:blipFill>
        <p:spPr>
          <a:xfrm>
            <a:off x="10840526" y="4404638"/>
            <a:ext cx="692111" cy="885432"/>
          </a:xfrm>
          <a:prstGeom prst="rect">
            <a:avLst/>
          </a:prstGeom>
        </p:spPr>
      </p:pic>
      <p:pic>
        <p:nvPicPr>
          <p:cNvPr id="36" name="Picture 35">
            <a:extLst>
              <a:ext uri="{FF2B5EF4-FFF2-40B4-BE49-F238E27FC236}">
                <a16:creationId xmlns:a16="http://schemas.microsoft.com/office/drawing/2014/main" id="{5A3E24A0-17DC-77C2-9A68-9EC15E61D2A5}"/>
              </a:ext>
            </a:extLst>
          </p:cNvPr>
          <p:cNvPicPr>
            <a:picLocks noChangeAspect="1"/>
          </p:cNvPicPr>
          <p:nvPr/>
        </p:nvPicPr>
        <p:blipFill>
          <a:blip r:embed="rId8"/>
          <a:srcRect l="38418" t="4821" r="40867" b="67597"/>
          <a:stretch/>
        </p:blipFill>
        <p:spPr>
          <a:xfrm>
            <a:off x="9127212" y="4411509"/>
            <a:ext cx="678008" cy="902706"/>
          </a:xfrm>
          <a:prstGeom prst="rect">
            <a:avLst/>
          </a:prstGeom>
        </p:spPr>
      </p:pic>
    </p:spTree>
    <p:extLst>
      <p:ext uri="{BB962C8B-B14F-4D97-AF65-F5344CB8AC3E}">
        <p14:creationId xmlns:p14="http://schemas.microsoft.com/office/powerpoint/2010/main" val="2778246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475488"/>
            <a:ext cx="11338560" cy="566928"/>
          </a:xfrm>
          <a:prstGeom prst="rect">
            <a:avLst/>
          </a:prstGeom>
          <a:noFill/>
          <a:ln/>
        </p:spPr>
        <p:txBody>
          <a:bodyPr wrap="square" lIns="0" tIns="0" rIns="0" bIns="0" rtlCol="0" anchor="ctr"/>
          <a:lstStyle/>
          <a:p>
            <a:pPr marL="0" indent="0">
              <a:buNone/>
            </a:pPr>
            <a:r>
              <a:rPr lang="en-US" sz="4800" b="1" dirty="0">
                <a:solidFill>
                  <a:srgbClr val="17324F"/>
                </a:solidFill>
                <a:latin typeface="Times New Roman"/>
                <a:ea typeface="Times New Roman"/>
                <a:cs typeface="Times New Roman"/>
              </a:rPr>
              <a:t>Outline</a:t>
            </a:r>
            <a:endParaRPr lang="en-US" sz="2700" dirty="0">
              <a:latin typeface="Times New Roman"/>
              <a:ea typeface="Times New Roman"/>
              <a:cs typeface="Times New Roman"/>
            </a:endParaRPr>
          </a:p>
        </p:txBody>
      </p:sp>
      <p:sp>
        <p:nvSpPr>
          <p:cNvPr id="3" name="Shape 1"/>
          <p:cNvSpPr/>
          <p:nvPr/>
        </p:nvSpPr>
        <p:spPr>
          <a:xfrm>
            <a:off x="0" y="6108192"/>
            <a:ext cx="12192000" cy="749808"/>
          </a:xfrm>
          <a:prstGeom prst="rect">
            <a:avLst/>
          </a:prstGeom>
          <a:solidFill>
            <a:srgbClr val="C00000"/>
          </a:solidFill>
          <a:ln/>
        </p:spPr>
      </p:sp>
      <p:sp>
        <p:nvSpPr>
          <p:cNvPr id="4" name="Text 2"/>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5" name="Text 3"/>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6" name="Text 4"/>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2206111</a:t>
            </a:r>
            <a:endParaRPr lang="en-US" sz="1600" dirty="0">
              <a:latin typeface="Times New Roman"/>
              <a:ea typeface="Times New Roman"/>
              <a:cs typeface="Times New Roman"/>
            </a:endParaRPr>
          </a:p>
        </p:txBody>
      </p:sp>
      <p:sp>
        <p:nvSpPr>
          <p:cNvPr id="7" name="Text 5"/>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a:t>
            </a:r>
            <a:endParaRPr lang="en-US" sz="1600" dirty="0">
              <a:latin typeface="Times New Roman"/>
              <a:ea typeface="Times New Roman"/>
              <a:cs typeface="Times New Roman"/>
            </a:endParaRPr>
          </a:p>
        </p:txBody>
      </p:sp>
      <p:sp>
        <p:nvSpPr>
          <p:cNvPr id="8" name="Shape 6"/>
          <p:cNvSpPr/>
          <p:nvPr/>
        </p:nvSpPr>
        <p:spPr>
          <a:xfrm>
            <a:off x="685800" y="1417320"/>
            <a:ext cx="5349240" cy="749808"/>
          </a:xfrm>
          <a:prstGeom prst="roundRect">
            <a:avLst>
              <a:gd name="adj" fmla="val 9756"/>
            </a:avLst>
          </a:prstGeom>
          <a:solidFill>
            <a:srgbClr val="F2F5F9"/>
          </a:solidFill>
          <a:ln w="9525">
            <a:solidFill>
              <a:srgbClr val="C3CCD6"/>
            </a:solidFill>
            <a:prstDash val="solid"/>
          </a:ln>
        </p:spPr>
      </p:sp>
      <p:sp>
        <p:nvSpPr>
          <p:cNvPr id="9" name="Text 7"/>
          <p:cNvSpPr txBox="1"/>
          <p:nvPr/>
        </p:nvSpPr>
        <p:spPr>
          <a:xfrm>
            <a:off x="914400" y="1417320"/>
            <a:ext cx="4937760" cy="749808"/>
          </a:xfrm>
          <a:prstGeom prst="rect">
            <a:avLst/>
          </a:prstGeom>
          <a:noFill/>
          <a:ln/>
        </p:spPr>
        <p:txBody>
          <a:bodyPr wrap="square" lIns="0" tIns="0" rIns="0" bIns="0" rtlCol="0" anchor="ctr"/>
          <a:lstStyle/>
          <a:p>
            <a:pPr marL="0" indent="0">
              <a:buNone/>
            </a:pPr>
            <a:r>
              <a:rPr lang="en-US" sz="2400" b="1" dirty="0">
                <a:solidFill>
                  <a:srgbClr val="17324F"/>
                </a:solidFill>
                <a:latin typeface="Times New Roman"/>
                <a:ea typeface="Times New Roman"/>
                <a:cs typeface="Times New Roman"/>
              </a:rPr>
              <a:t>1.  Summary / Abstract</a:t>
            </a:r>
            <a:endParaRPr lang="en-US" sz="2400" dirty="0">
              <a:latin typeface="Times New Roman"/>
              <a:ea typeface="Times New Roman"/>
              <a:cs typeface="Times New Roman"/>
            </a:endParaRPr>
          </a:p>
        </p:txBody>
      </p:sp>
      <p:sp>
        <p:nvSpPr>
          <p:cNvPr id="10" name="Shape 8"/>
          <p:cNvSpPr/>
          <p:nvPr/>
        </p:nvSpPr>
        <p:spPr>
          <a:xfrm>
            <a:off x="685800" y="2350008"/>
            <a:ext cx="5349240" cy="749808"/>
          </a:xfrm>
          <a:prstGeom prst="roundRect">
            <a:avLst>
              <a:gd name="adj" fmla="val 9756"/>
            </a:avLst>
          </a:prstGeom>
          <a:solidFill>
            <a:srgbClr val="F2F5F9"/>
          </a:solidFill>
          <a:ln w="9525">
            <a:solidFill>
              <a:srgbClr val="C3CCD6"/>
            </a:solidFill>
            <a:prstDash val="solid"/>
          </a:ln>
        </p:spPr>
      </p:sp>
      <p:sp>
        <p:nvSpPr>
          <p:cNvPr id="11" name="Text 9"/>
          <p:cNvSpPr txBox="1"/>
          <p:nvPr/>
        </p:nvSpPr>
        <p:spPr>
          <a:xfrm>
            <a:off x="914400" y="2350008"/>
            <a:ext cx="4937760" cy="749808"/>
          </a:xfrm>
          <a:prstGeom prst="rect">
            <a:avLst/>
          </a:prstGeom>
          <a:noFill/>
          <a:ln/>
        </p:spPr>
        <p:txBody>
          <a:bodyPr wrap="square" lIns="0" tIns="0" rIns="0" bIns="0" rtlCol="0" anchor="ctr"/>
          <a:lstStyle/>
          <a:p>
            <a:pPr marL="0" indent="0">
              <a:buNone/>
            </a:pPr>
            <a:r>
              <a:rPr lang="en-US" sz="1600" b="1" dirty="0">
                <a:solidFill>
                  <a:srgbClr val="17324F"/>
                </a:solidFill>
                <a:latin typeface="Times New Roman"/>
                <a:ea typeface="Times New Roman"/>
                <a:cs typeface="Times New Roman"/>
              </a:rPr>
              <a:t>2.  </a:t>
            </a:r>
            <a:r>
              <a:rPr lang="en-US" sz="2400" b="1" dirty="0">
                <a:solidFill>
                  <a:srgbClr val="17324F"/>
                </a:solidFill>
                <a:latin typeface="Times New Roman"/>
                <a:ea typeface="Times New Roman"/>
                <a:cs typeface="Times New Roman"/>
              </a:rPr>
              <a:t>Introduction</a:t>
            </a:r>
            <a:endParaRPr lang="en-US" sz="1600" dirty="0">
              <a:latin typeface="Times New Roman"/>
              <a:ea typeface="Times New Roman"/>
              <a:cs typeface="Times New Roman"/>
            </a:endParaRPr>
          </a:p>
        </p:txBody>
      </p:sp>
      <p:sp>
        <p:nvSpPr>
          <p:cNvPr id="12" name="Shape 10"/>
          <p:cNvSpPr/>
          <p:nvPr/>
        </p:nvSpPr>
        <p:spPr>
          <a:xfrm>
            <a:off x="685800" y="3282696"/>
            <a:ext cx="5349240" cy="749808"/>
          </a:xfrm>
          <a:prstGeom prst="roundRect">
            <a:avLst>
              <a:gd name="adj" fmla="val 9756"/>
            </a:avLst>
          </a:prstGeom>
          <a:solidFill>
            <a:srgbClr val="F2F5F9"/>
          </a:solidFill>
          <a:ln w="9525">
            <a:solidFill>
              <a:srgbClr val="C3CCD6"/>
            </a:solidFill>
            <a:prstDash val="solid"/>
          </a:ln>
        </p:spPr>
      </p:sp>
      <p:sp>
        <p:nvSpPr>
          <p:cNvPr id="13" name="Text 11"/>
          <p:cNvSpPr txBox="1"/>
          <p:nvPr/>
        </p:nvSpPr>
        <p:spPr>
          <a:xfrm>
            <a:off x="914400" y="3282696"/>
            <a:ext cx="4937760" cy="749808"/>
          </a:xfrm>
          <a:prstGeom prst="rect">
            <a:avLst/>
          </a:prstGeom>
          <a:noFill/>
          <a:ln/>
        </p:spPr>
        <p:txBody>
          <a:bodyPr wrap="square" lIns="0" tIns="0" rIns="0" bIns="0" rtlCol="0" anchor="ctr"/>
          <a:lstStyle/>
          <a:p>
            <a:pPr marL="0" indent="0">
              <a:buNone/>
            </a:pPr>
            <a:r>
              <a:rPr lang="en-US" sz="2400" b="1" dirty="0">
                <a:solidFill>
                  <a:srgbClr val="17324F"/>
                </a:solidFill>
                <a:latin typeface="Times New Roman"/>
                <a:ea typeface="Times New Roman"/>
                <a:cs typeface="Times New Roman"/>
              </a:rPr>
              <a:t>3.  Design</a:t>
            </a:r>
            <a:endParaRPr lang="en-US" sz="2400" dirty="0">
              <a:latin typeface="Times New Roman"/>
              <a:ea typeface="Times New Roman"/>
              <a:cs typeface="Times New Roman"/>
            </a:endParaRPr>
          </a:p>
        </p:txBody>
      </p:sp>
      <p:sp>
        <p:nvSpPr>
          <p:cNvPr id="14" name="Shape 12"/>
          <p:cNvSpPr/>
          <p:nvPr/>
        </p:nvSpPr>
        <p:spPr>
          <a:xfrm>
            <a:off x="685800" y="4215384"/>
            <a:ext cx="5349240" cy="749808"/>
          </a:xfrm>
          <a:prstGeom prst="roundRect">
            <a:avLst>
              <a:gd name="adj" fmla="val 9756"/>
            </a:avLst>
          </a:prstGeom>
          <a:solidFill>
            <a:srgbClr val="F2F5F9"/>
          </a:solidFill>
          <a:ln w="9525">
            <a:solidFill>
              <a:srgbClr val="C3CCD6"/>
            </a:solidFill>
            <a:prstDash val="solid"/>
          </a:ln>
        </p:spPr>
      </p:sp>
      <p:sp>
        <p:nvSpPr>
          <p:cNvPr id="15" name="Text 13"/>
          <p:cNvSpPr txBox="1"/>
          <p:nvPr/>
        </p:nvSpPr>
        <p:spPr>
          <a:xfrm>
            <a:off x="914400" y="4215384"/>
            <a:ext cx="4937760" cy="749808"/>
          </a:xfrm>
          <a:prstGeom prst="rect">
            <a:avLst/>
          </a:prstGeom>
          <a:noFill/>
          <a:ln/>
        </p:spPr>
        <p:txBody>
          <a:bodyPr wrap="square" lIns="0" tIns="0" rIns="0" bIns="0" rtlCol="0" anchor="ctr"/>
          <a:lstStyle/>
          <a:p>
            <a:pPr marL="0" indent="0">
              <a:buNone/>
            </a:pPr>
            <a:r>
              <a:rPr lang="en-US" sz="1600" b="1" dirty="0">
                <a:solidFill>
                  <a:srgbClr val="17324F"/>
                </a:solidFill>
                <a:latin typeface="Times New Roman"/>
                <a:ea typeface="Times New Roman"/>
                <a:cs typeface="Times New Roman"/>
              </a:rPr>
              <a:t>4.  </a:t>
            </a:r>
            <a:r>
              <a:rPr lang="en-US" sz="2400" b="1" dirty="0">
                <a:solidFill>
                  <a:srgbClr val="17324F"/>
                </a:solidFill>
                <a:latin typeface="Times New Roman"/>
                <a:ea typeface="Times New Roman"/>
                <a:cs typeface="Times New Roman"/>
              </a:rPr>
              <a:t>Implementation</a:t>
            </a:r>
            <a:endParaRPr lang="en-US" sz="2400" dirty="0">
              <a:latin typeface="Times New Roman"/>
              <a:ea typeface="Times New Roman"/>
              <a:cs typeface="Times New Roman"/>
            </a:endParaRPr>
          </a:p>
        </p:txBody>
      </p:sp>
      <p:sp>
        <p:nvSpPr>
          <p:cNvPr id="16" name="Shape 14"/>
          <p:cNvSpPr/>
          <p:nvPr/>
        </p:nvSpPr>
        <p:spPr>
          <a:xfrm>
            <a:off x="685800" y="5148072"/>
            <a:ext cx="5349240" cy="749808"/>
          </a:xfrm>
          <a:prstGeom prst="roundRect">
            <a:avLst>
              <a:gd name="adj" fmla="val 9756"/>
            </a:avLst>
          </a:prstGeom>
          <a:solidFill>
            <a:srgbClr val="F2F5F9"/>
          </a:solidFill>
          <a:ln w="9525">
            <a:solidFill>
              <a:srgbClr val="C3CCD6"/>
            </a:solidFill>
            <a:prstDash val="solid"/>
          </a:ln>
        </p:spPr>
      </p:sp>
      <p:sp>
        <p:nvSpPr>
          <p:cNvPr id="17" name="Text 15"/>
          <p:cNvSpPr txBox="1"/>
          <p:nvPr/>
        </p:nvSpPr>
        <p:spPr>
          <a:xfrm>
            <a:off x="914400" y="5148072"/>
            <a:ext cx="4937760" cy="749808"/>
          </a:xfrm>
          <a:prstGeom prst="rect">
            <a:avLst/>
          </a:prstGeom>
          <a:noFill/>
          <a:ln/>
        </p:spPr>
        <p:txBody>
          <a:bodyPr wrap="square" lIns="0" tIns="0" rIns="0" bIns="0" rtlCol="0" anchor="ctr"/>
          <a:lstStyle/>
          <a:p>
            <a:pPr marL="0" indent="0">
              <a:buNone/>
            </a:pPr>
            <a:r>
              <a:rPr lang="en-US" sz="2400" b="1" dirty="0">
                <a:solidFill>
                  <a:srgbClr val="17324F"/>
                </a:solidFill>
                <a:latin typeface="Times New Roman"/>
                <a:ea typeface="Times New Roman"/>
                <a:cs typeface="Times New Roman"/>
              </a:rPr>
              <a:t>5.  Design Analysis and Evaluation</a:t>
            </a:r>
            <a:endParaRPr lang="en-US" sz="2400" dirty="0">
              <a:latin typeface="Times New Roman"/>
              <a:ea typeface="Times New Roman"/>
              <a:cs typeface="Times New Roman"/>
            </a:endParaRPr>
          </a:p>
        </p:txBody>
      </p:sp>
      <p:sp>
        <p:nvSpPr>
          <p:cNvPr id="18" name="Shape 16"/>
          <p:cNvSpPr/>
          <p:nvPr/>
        </p:nvSpPr>
        <p:spPr>
          <a:xfrm>
            <a:off x="6446520" y="1417320"/>
            <a:ext cx="4960619" cy="749808"/>
          </a:xfrm>
          <a:prstGeom prst="roundRect">
            <a:avLst>
              <a:gd name="adj" fmla="val 9756"/>
            </a:avLst>
          </a:prstGeom>
          <a:solidFill>
            <a:srgbClr val="F2F5F9"/>
          </a:solidFill>
          <a:ln w="9525">
            <a:solidFill>
              <a:srgbClr val="C3CCD6"/>
            </a:solidFill>
            <a:prstDash val="solid"/>
          </a:ln>
        </p:spPr>
      </p:sp>
      <p:sp>
        <p:nvSpPr>
          <p:cNvPr id="19" name="Text 17"/>
          <p:cNvSpPr txBox="1"/>
          <p:nvPr/>
        </p:nvSpPr>
        <p:spPr>
          <a:xfrm>
            <a:off x="6675120" y="1417320"/>
            <a:ext cx="4937760" cy="749808"/>
          </a:xfrm>
          <a:prstGeom prst="rect">
            <a:avLst/>
          </a:prstGeom>
          <a:noFill/>
          <a:ln/>
        </p:spPr>
        <p:txBody>
          <a:bodyPr wrap="square" lIns="0" tIns="0" rIns="0" bIns="0" rtlCol="0" anchor="ctr"/>
          <a:lstStyle/>
          <a:p>
            <a:pPr marL="0" indent="0">
              <a:buNone/>
            </a:pPr>
            <a:r>
              <a:rPr lang="en-US" sz="2400" b="1" dirty="0">
                <a:solidFill>
                  <a:srgbClr val="17324F"/>
                </a:solidFill>
                <a:latin typeface="Times New Roman"/>
                <a:ea typeface="Times New Roman"/>
                <a:cs typeface="Times New Roman"/>
              </a:rPr>
              <a:t>6.  Team Work</a:t>
            </a:r>
            <a:endParaRPr lang="en-US" sz="2400" dirty="0">
              <a:latin typeface="Times New Roman"/>
              <a:ea typeface="Times New Roman"/>
              <a:cs typeface="Times New Roman"/>
            </a:endParaRPr>
          </a:p>
        </p:txBody>
      </p:sp>
      <p:sp>
        <p:nvSpPr>
          <p:cNvPr id="20" name="Shape 18"/>
          <p:cNvSpPr/>
          <p:nvPr/>
        </p:nvSpPr>
        <p:spPr>
          <a:xfrm>
            <a:off x="6446520" y="2436596"/>
            <a:ext cx="4960619" cy="932688"/>
          </a:xfrm>
          <a:prstGeom prst="roundRect">
            <a:avLst>
              <a:gd name="adj" fmla="val 9756"/>
            </a:avLst>
          </a:prstGeom>
          <a:solidFill>
            <a:srgbClr val="F2F5F9"/>
          </a:solidFill>
          <a:ln w="9525">
            <a:solidFill>
              <a:srgbClr val="C3CCD6"/>
            </a:solidFill>
            <a:prstDash val="solid"/>
          </a:ln>
        </p:spPr>
      </p:sp>
      <p:sp>
        <p:nvSpPr>
          <p:cNvPr id="21" name="Text 19"/>
          <p:cNvSpPr txBox="1"/>
          <p:nvPr/>
        </p:nvSpPr>
        <p:spPr>
          <a:xfrm>
            <a:off x="6222279" y="2435848"/>
            <a:ext cx="4937760" cy="749808"/>
          </a:xfrm>
          <a:prstGeom prst="rect">
            <a:avLst/>
          </a:prstGeom>
          <a:noFill/>
          <a:ln/>
        </p:spPr>
        <p:txBody>
          <a:bodyPr wrap="square" lIns="0" tIns="0" rIns="0" bIns="0" rtlCol="0" anchor="ctr"/>
          <a:lstStyle/>
          <a:p>
            <a:pPr marL="0" indent="0" algn="ctr">
              <a:buNone/>
            </a:pPr>
            <a:r>
              <a:rPr lang="en-US" sz="2400" b="1" dirty="0">
                <a:solidFill>
                  <a:srgbClr val="17324F"/>
                </a:solidFill>
                <a:latin typeface="Times New Roman"/>
                <a:ea typeface="Times New Roman"/>
                <a:cs typeface="Times New Roman"/>
              </a:rPr>
              <a:t>7.  Communication to External Stakeholders</a:t>
            </a:r>
            <a:endParaRPr lang="en-US" sz="2400" dirty="0">
              <a:latin typeface="Times New Roman"/>
              <a:ea typeface="Times New Roman"/>
              <a:cs typeface="Times New Roman"/>
            </a:endParaRPr>
          </a:p>
        </p:txBody>
      </p:sp>
      <p:sp>
        <p:nvSpPr>
          <p:cNvPr id="22" name="Shape 20"/>
          <p:cNvSpPr/>
          <p:nvPr/>
        </p:nvSpPr>
        <p:spPr>
          <a:xfrm>
            <a:off x="6469379" y="3639499"/>
            <a:ext cx="4937760" cy="894806"/>
          </a:xfrm>
          <a:prstGeom prst="roundRect">
            <a:avLst>
              <a:gd name="adj" fmla="val 9756"/>
            </a:avLst>
          </a:prstGeom>
          <a:solidFill>
            <a:srgbClr val="F2F5F9"/>
          </a:solidFill>
          <a:ln w="9525">
            <a:solidFill>
              <a:srgbClr val="C3CCD6"/>
            </a:solidFill>
            <a:prstDash val="solid"/>
          </a:ln>
        </p:spPr>
      </p:sp>
      <p:sp>
        <p:nvSpPr>
          <p:cNvPr id="23" name="Text 21"/>
          <p:cNvSpPr txBox="1"/>
          <p:nvPr/>
        </p:nvSpPr>
        <p:spPr>
          <a:xfrm>
            <a:off x="6395195" y="3711998"/>
            <a:ext cx="4937760" cy="749808"/>
          </a:xfrm>
          <a:prstGeom prst="rect">
            <a:avLst/>
          </a:prstGeom>
          <a:noFill/>
          <a:ln/>
        </p:spPr>
        <p:txBody>
          <a:bodyPr wrap="square" lIns="0" tIns="0" rIns="0" bIns="0" rtlCol="0" anchor="ctr"/>
          <a:lstStyle/>
          <a:p>
            <a:pPr marL="0" indent="0" algn="ctr">
              <a:buNone/>
            </a:pPr>
            <a:r>
              <a:rPr lang="en-US" sz="2400" b="1" dirty="0">
                <a:solidFill>
                  <a:srgbClr val="17324F"/>
                </a:solidFill>
                <a:latin typeface="Times New Roman"/>
                <a:ea typeface="Times New Roman"/>
                <a:cs typeface="Times New Roman"/>
              </a:rPr>
              <a:t>8.  Project Management and Cost Analysis</a:t>
            </a:r>
            <a:endParaRPr lang="en-US" sz="2400" dirty="0">
              <a:latin typeface="Times New Roman"/>
              <a:ea typeface="Times New Roman"/>
              <a:cs typeface="Times New Roman"/>
            </a:endParaRPr>
          </a:p>
        </p:txBody>
      </p:sp>
      <p:sp>
        <p:nvSpPr>
          <p:cNvPr id="24" name="Shape 22"/>
          <p:cNvSpPr/>
          <p:nvPr/>
        </p:nvSpPr>
        <p:spPr>
          <a:xfrm>
            <a:off x="6469379" y="4818701"/>
            <a:ext cx="4937760" cy="749808"/>
          </a:xfrm>
          <a:prstGeom prst="roundRect">
            <a:avLst>
              <a:gd name="adj" fmla="val 9756"/>
            </a:avLst>
          </a:prstGeom>
          <a:solidFill>
            <a:srgbClr val="F2F5F9"/>
          </a:solidFill>
          <a:ln w="9525">
            <a:solidFill>
              <a:srgbClr val="C3CCD6"/>
            </a:solidFill>
            <a:prstDash val="solid"/>
          </a:ln>
        </p:spPr>
      </p:sp>
      <p:sp>
        <p:nvSpPr>
          <p:cNvPr id="25" name="Text 23"/>
          <p:cNvSpPr txBox="1"/>
          <p:nvPr/>
        </p:nvSpPr>
        <p:spPr>
          <a:xfrm>
            <a:off x="6675120" y="4798360"/>
            <a:ext cx="4937760" cy="749808"/>
          </a:xfrm>
          <a:prstGeom prst="rect">
            <a:avLst/>
          </a:prstGeom>
          <a:noFill/>
          <a:ln/>
        </p:spPr>
        <p:txBody>
          <a:bodyPr wrap="square" lIns="0" tIns="0" rIns="0" bIns="0" rtlCol="0" anchor="ctr"/>
          <a:lstStyle/>
          <a:p>
            <a:pPr marL="0" indent="0">
              <a:buNone/>
            </a:pPr>
            <a:r>
              <a:rPr lang="en-US" sz="2400" b="1" dirty="0">
                <a:solidFill>
                  <a:srgbClr val="17324F"/>
                </a:solidFill>
                <a:latin typeface="Times New Roman"/>
                <a:ea typeface="Times New Roman"/>
                <a:cs typeface="Times New Roman"/>
              </a:rPr>
              <a:t>9.  References</a:t>
            </a:r>
            <a:endParaRPr lang="en-US" sz="2400" dirty="0">
              <a:latin typeface="Times New Roman"/>
              <a:ea typeface="Times New Roman"/>
              <a:cs typeface="Times New Roman"/>
            </a:endParaRPr>
          </a:p>
        </p:txBody>
      </p:sp>
      <p:pic>
        <p:nvPicPr>
          <p:cNvPr id="29" name="Picture 28">
            <a:extLst>
              <a:ext uri="{FF2B5EF4-FFF2-40B4-BE49-F238E27FC236}">
                <a16:creationId xmlns:a16="http://schemas.microsoft.com/office/drawing/2014/main" id="{DDF1A779-E0F1-1085-A635-65D0667642F3}"/>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2712860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523766"/>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1.  Summary / Abstract</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3</a:t>
            </a:r>
            <a:endParaRPr lang="en-US" sz="1100" dirty="0">
              <a:latin typeface="Times New Roman"/>
              <a:ea typeface="Times New Roman"/>
              <a:cs typeface="Times New Roman"/>
            </a:endParaRPr>
          </a:p>
        </p:txBody>
      </p:sp>
      <p:sp>
        <p:nvSpPr>
          <p:cNvPr id="8" name="Text 6"/>
          <p:cNvSpPr txBox="1"/>
          <p:nvPr/>
        </p:nvSpPr>
        <p:spPr>
          <a:xfrm>
            <a:off x="564209" y="1845661"/>
            <a:ext cx="6217920" cy="3475466"/>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7324F"/>
                </a:solidFill>
                <a:latin typeface="Times New Roman"/>
                <a:ea typeface="Times New Roman"/>
                <a:cs typeface="Times New Roman"/>
              </a:rPr>
              <a:t>An analog Li-Fi Link, sends audio through a free-space laser beam.                                     no radio, no microcontroller, no firmware.</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Transmitter amplifies, band-limits the audio, modulates the current of a 650 nm, 5 mW laser diode through a closed-loop constant-current driver (LM358 + BD135).</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Receiver detects the modulated light with a BPW34 photodiode, amplifies and filters it, drives an 8 Ω loudspeaker through an LM386.</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Simulated in PSpice, then built on two independent breadboards with separate 9 V supplies.</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Measured result: intelligible speech and music over 10 m indoors, with a    3 dB bandwidth of about 40 Hz – 12 kHz.</a:t>
            </a:r>
            <a:endParaRPr lang="en-US" sz="1600" dirty="0">
              <a:latin typeface="Times New Roman"/>
              <a:ea typeface="Times New Roman"/>
              <a:cs typeface="Times New Roman"/>
            </a:endParaRPr>
          </a:p>
        </p:txBody>
      </p:sp>
      <p:sp>
        <p:nvSpPr>
          <p:cNvPr id="10" name="Text 7"/>
          <p:cNvSpPr txBox="1"/>
          <p:nvPr/>
        </p:nvSpPr>
        <p:spPr>
          <a:xfrm>
            <a:off x="6782129" y="5010231"/>
            <a:ext cx="530352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The completed link in operation</a:t>
            </a:r>
            <a:endParaRPr lang="en-US" sz="1050" dirty="0">
              <a:latin typeface="Times New Roman"/>
              <a:ea typeface="Times New Roman"/>
              <a:cs typeface="Times New Roman"/>
            </a:endParaRPr>
          </a:p>
        </p:txBody>
      </p:sp>
      <p:sp>
        <p:nvSpPr>
          <p:cNvPr id="12" name="Shape 1">
            <a:extLst>
              <a:ext uri="{FF2B5EF4-FFF2-40B4-BE49-F238E27FC236}">
                <a16:creationId xmlns:a16="http://schemas.microsoft.com/office/drawing/2014/main" id="{F91A4B05-D68B-6E06-3CE7-380D5BA706C1}"/>
              </a:ext>
            </a:extLst>
          </p:cNvPr>
          <p:cNvSpPr/>
          <p:nvPr/>
        </p:nvSpPr>
        <p:spPr>
          <a:xfrm>
            <a:off x="0" y="6108192"/>
            <a:ext cx="12192000" cy="749808"/>
          </a:xfrm>
          <a:prstGeom prst="rect">
            <a:avLst/>
          </a:prstGeom>
          <a:solidFill>
            <a:srgbClr val="C00000"/>
          </a:solidFill>
          <a:ln/>
        </p:spPr>
      </p:sp>
      <p:sp>
        <p:nvSpPr>
          <p:cNvPr id="13" name="Text 2">
            <a:extLst>
              <a:ext uri="{FF2B5EF4-FFF2-40B4-BE49-F238E27FC236}">
                <a16:creationId xmlns:a16="http://schemas.microsoft.com/office/drawing/2014/main" id="{474AFB40-8BD4-D53F-9543-682A12CAB700}"/>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4" name="Text 3">
            <a:extLst>
              <a:ext uri="{FF2B5EF4-FFF2-40B4-BE49-F238E27FC236}">
                <a16:creationId xmlns:a16="http://schemas.microsoft.com/office/drawing/2014/main" id="{6CDE788C-C31C-9680-4B6B-3B7B28CA90B3}"/>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5" name="Text 4">
            <a:extLst>
              <a:ext uri="{FF2B5EF4-FFF2-40B4-BE49-F238E27FC236}">
                <a16:creationId xmlns:a16="http://schemas.microsoft.com/office/drawing/2014/main" id="{6053BAB0-94DE-5047-0B71-998F7C338727}"/>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2206111</a:t>
            </a:r>
            <a:endParaRPr lang="en-US" sz="1600" dirty="0">
              <a:latin typeface="Times New Roman"/>
              <a:ea typeface="Times New Roman"/>
              <a:cs typeface="Times New Roman"/>
            </a:endParaRPr>
          </a:p>
        </p:txBody>
      </p:sp>
      <p:sp>
        <p:nvSpPr>
          <p:cNvPr id="16" name="Text 5">
            <a:extLst>
              <a:ext uri="{FF2B5EF4-FFF2-40B4-BE49-F238E27FC236}">
                <a16:creationId xmlns:a16="http://schemas.microsoft.com/office/drawing/2014/main" id="{8596970D-7D83-8ED3-3313-E1918A34514E}"/>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3</a:t>
            </a:r>
            <a:endParaRPr lang="en-US" sz="1600" dirty="0">
              <a:latin typeface="Times New Roman"/>
              <a:ea typeface="Times New Roman"/>
              <a:cs typeface="Times New Roman"/>
            </a:endParaRPr>
          </a:p>
        </p:txBody>
      </p:sp>
      <p:pic>
        <p:nvPicPr>
          <p:cNvPr id="17" name="Picture 16">
            <a:extLst>
              <a:ext uri="{FF2B5EF4-FFF2-40B4-BE49-F238E27FC236}">
                <a16:creationId xmlns:a16="http://schemas.microsoft.com/office/drawing/2014/main" id="{BC91D741-11A3-318E-A02E-C27A874EF6B0}"/>
              </a:ext>
            </a:extLst>
          </p:cNvPr>
          <p:cNvPicPr>
            <a:picLocks noChangeAspect="1"/>
          </p:cNvPicPr>
          <p:nvPr/>
        </p:nvPicPr>
        <p:blipFill>
          <a:blip r:embed="rId3"/>
          <a:stretch>
            <a:fillRect/>
          </a:stretch>
        </p:blipFill>
        <p:spPr>
          <a:xfrm>
            <a:off x="3109" y="6159218"/>
            <a:ext cx="739389" cy="647756"/>
          </a:xfrm>
          <a:prstGeom prst="rect">
            <a:avLst/>
          </a:prstGeom>
        </p:spPr>
      </p:pic>
      <p:pic>
        <p:nvPicPr>
          <p:cNvPr id="18" name="Image 0" descr="/home/claude/fig/beam.jpg">
            <a:extLst>
              <a:ext uri="{FF2B5EF4-FFF2-40B4-BE49-F238E27FC236}">
                <a16:creationId xmlns:a16="http://schemas.microsoft.com/office/drawing/2014/main" id="{FC97F2DB-9681-25D0-C3C4-12978D4B8CDD}"/>
              </a:ext>
            </a:extLst>
          </p:cNvPr>
          <p:cNvPicPr>
            <a:picLocks noChangeAspect="1"/>
          </p:cNvPicPr>
          <p:nvPr/>
        </p:nvPicPr>
        <p:blipFill>
          <a:blip r:embed="rId4"/>
          <a:stretch>
            <a:fillRect/>
          </a:stretch>
        </p:blipFill>
        <p:spPr>
          <a:xfrm>
            <a:off x="7040880" y="1828190"/>
            <a:ext cx="4754880" cy="3201619"/>
          </a:xfrm>
          <a:prstGeom prst="rect">
            <a:avLst/>
          </a:prstGeom>
        </p:spPr>
      </p:pic>
    </p:spTree>
    <p:extLst>
      <p:ext uri="{BB962C8B-B14F-4D97-AF65-F5344CB8AC3E}">
        <p14:creationId xmlns:p14="http://schemas.microsoft.com/office/powerpoint/2010/main" val="185164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26720" y="562425"/>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2.  Introduction</a:t>
            </a:r>
            <a:endParaRPr lang="en-US" sz="4400" dirty="0">
              <a:latin typeface="Times New Roman"/>
              <a:ea typeface="Times New Roman"/>
              <a:cs typeface="Times New Roman"/>
            </a:endParaRPr>
          </a:p>
        </p:txBody>
      </p:sp>
      <p:sp>
        <p:nvSpPr>
          <p:cNvPr id="3" name="Text 1"/>
          <p:cNvSpPr txBox="1"/>
          <p:nvPr/>
        </p:nvSpPr>
        <p:spPr>
          <a:xfrm>
            <a:off x="434340" y="1672742"/>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Why send sound on light?</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4</a:t>
            </a:r>
            <a:endParaRPr lang="en-US" sz="1100" dirty="0">
              <a:latin typeface="Times New Roman"/>
              <a:ea typeface="Times New Roman"/>
              <a:cs typeface="Times New Roman"/>
            </a:endParaRPr>
          </a:p>
        </p:txBody>
      </p:sp>
      <p:sp>
        <p:nvSpPr>
          <p:cNvPr id="9" name="Text 7"/>
          <p:cNvSpPr txBox="1"/>
          <p:nvPr/>
        </p:nvSpPr>
        <p:spPr>
          <a:xfrm>
            <a:off x="548640" y="2240280"/>
            <a:ext cx="6309360" cy="475488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rgbClr val="17324F"/>
                </a:solidFill>
                <a:latin typeface="Times New Roman"/>
                <a:ea typeface="Times New Roman"/>
                <a:cs typeface="Times New Roman"/>
              </a:rPr>
              <a:t>Radio spectrum- congested</a:t>
            </a:r>
            <a:r>
              <a:rPr lang="en-US" sz="1600" dirty="0">
                <a:solidFill>
                  <a:srgbClr val="17324F"/>
                </a:solidFill>
                <a:latin typeface="Times New Roman"/>
                <a:ea typeface="Times New Roman"/>
                <a:cs typeface="Times New Roman"/>
              </a:rPr>
              <a:t>, restricted in hospitals, aircraft, industrial plants.</a:t>
            </a:r>
          </a:p>
          <a:p>
            <a:pPr>
              <a:spcAft>
                <a:spcPts val="800"/>
              </a:spcAft>
              <a:buSzPct val="100000"/>
            </a:pPr>
            <a:endParaRPr lang="en-US" sz="1600" dirty="0">
              <a:latin typeface="Times New Roman"/>
              <a:ea typeface="Times New Roman"/>
              <a:cs typeface="Times New Roman"/>
            </a:endParaRPr>
          </a:p>
          <a:p>
            <a:pPr marL="228600" indent="-228600">
              <a:spcAft>
                <a:spcPts val="800"/>
              </a:spcAft>
              <a:buSzPct val="100000"/>
              <a:buChar char="•"/>
            </a:pPr>
            <a:r>
              <a:rPr lang="en-US" sz="1600" b="1" dirty="0">
                <a:solidFill>
                  <a:srgbClr val="17324F"/>
                </a:solidFill>
                <a:latin typeface="Times New Roman"/>
                <a:ea typeface="Times New Roman"/>
                <a:cs typeface="Times New Roman"/>
              </a:rPr>
              <a:t>Light- </a:t>
            </a:r>
            <a:r>
              <a:rPr lang="en-US" sz="1600" dirty="0">
                <a:solidFill>
                  <a:srgbClr val="17324F"/>
                </a:solidFill>
                <a:latin typeface="Times New Roman"/>
                <a:ea typeface="Times New Roman"/>
                <a:cs typeface="Times New Roman"/>
              </a:rPr>
              <a:t>unlicensed, </a:t>
            </a:r>
            <a:r>
              <a:rPr lang="en-US" sz="1600" b="1" dirty="0">
                <a:solidFill>
                  <a:srgbClr val="17324F"/>
                </a:solidFill>
                <a:latin typeface="Times New Roman"/>
                <a:ea typeface="Times New Roman"/>
                <a:cs typeface="Times New Roman"/>
              </a:rPr>
              <a:t>uncongested</a:t>
            </a:r>
            <a:r>
              <a:rPr lang="en-US" sz="1600" dirty="0">
                <a:solidFill>
                  <a:srgbClr val="17324F"/>
                </a:solidFill>
                <a:latin typeface="Times New Roman"/>
                <a:ea typeface="Times New Roman"/>
                <a:cs typeface="Times New Roman"/>
              </a:rPr>
              <a:t> medium. Doesn’t pass through walls —     the link is naturally </a:t>
            </a:r>
            <a:r>
              <a:rPr lang="en-US" sz="1600" b="1" dirty="0">
                <a:solidFill>
                  <a:srgbClr val="17324F"/>
                </a:solidFill>
                <a:latin typeface="Times New Roman"/>
                <a:ea typeface="Times New Roman"/>
                <a:cs typeface="Times New Roman"/>
              </a:rPr>
              <a:t>confined</a:t>
            </a:r>
            <a:r>
              <a:rPr lang="en-US" sz="1600" dirty="0">
                <a:solidFill>
                  <a:srgbClr val="17324F"/>
                </a:solidFill>
                <a:latin typeface="Times New Roman"/>
                <a:ea typeface="Times New Roman"/>
                <a:cs typeface="Times New Roman"/>
              </a:rPr>
              <a:t> to one room.</a:t>
            </a:r>
          </a:p>
          <a:p>
            <a:pPr>
              <a:spcAft>
                <a:spcPts val="800"/>
              </a:spcAft>
              <a:buSzPct val="100000"/>
            </a:pPr>
            <a:endParaRPr lang="en-US" sz="1600" dirty="0">
              <a:latin typeface="Times New Roman"/>
              <a:ea typeface="Times New Roman"/>
              <a:cs typeface="Times New Roman"/>
            </a:endParaRPr>
          </a:p>
          <a:p>
            <a:pPr marL="228600" indent="-228600">
              <a:spcAft>
                <a:spcPts val="800"/>
              </a:spcAft>
              <a:buSzPct val="100000"/>
              <a:buChar char="•"/>
            </a:pPr>
            <a:r>
              <a:rPr lang="en-US" sz="1550" dirty="0">
                <a:solidFill>
                  <a:srgbClr val="17324F"/>
                </a:solidFill>
                <a:latin typeface="Times New Roman"/>
                <a:ea typeface="Times New Roman"/>
                <a:cs typeface="Times New Roman"/>
              </a:rPr>
              <a:t>Solves Complex engineering problem: needs device physics (laser threshold, photodiode responsivity), analog feedback theory, communication-system reasoning about bandwidth and noise.</a:t>
            </a:r>
            <a:endParaRPr lang="en-US" sz="1550" dirty="0">
              <a:latin typeface="Times New Roman"/>
              <a:ea typeface="Times New Roman"/>
              <a:cs typeface="Times New Roman"/>
            </a:endParaRPr>
          </a:p>
        </p:txBody>
      </p:sp>
      <p:pic>
        <p:nvPicPr>
          <p:cNvPr id="10" name="Image 0" descr="/home/claude/fig/beam.jpg"/>
          <p:cNvPicPr>
            <a:picLocks noChangeAspect="1"/>
          </p:cNvPicPr>
          <p:nvPr/>
        </p:nvPicPr>
        <p:blipFill>
          <a:blip r:embed="rId3"/>
          <a:stretch>
            <a:fillRect/>
          </a:stretch>
        </p:blipFill>
        <p:spPr>
          <a:xfrm>
            <a:off x="7040880" y="1828190"/>
            <a:ext cx="4754880" cy="3201619"/>
          </a:xfrm>
          <a:prstGeom prst="rect">
            <a:avLst/>
          </a:prstGeom>
        </p:spPr>
      </p:pic>
      <p:sp>
        <p:nvSpPr>
          <p:cNvPr id="11" name="Text 8"/>
          <p:cNvSpPr txBox="1"/>
          <p:nvPr/>
        </p:nvSpPr>
        <p:spPr>
          <a:xfrm>
            <a:off x="6812280" y="5066386"/>
            <a:ext cx="521208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The modulated beam between transmitter and receiver</a:t>
            </a:r>
            <a:endParaRPr lang="en-US" sz="1050" dirty="0">
              <a:latin typeface="Times New Roman"/>
              <a:ea typeface="Times New Roman"/>
              <a:cs typeface="Times New Roman"/>
            </a:endParaRPr>
          </a:p>
        </p:txBody>
      </p:sp>
      <p:sp>
        <p:nvSpPr>
          <p:cNvPr id="12" name="Shape 1">
            <a:extLst>
              <a:ext uri="{FF2B5EF4-FFF2-40B4-BE49-F238E27FC236}">
                <a16:creationId xmlns:a16="http://schemas.microsoft.com/office/drawing/2014/main" id="{52DE9209-F0B4-6A87-29A6-27E267CAB40A}"/>
              </a:ext>
            </a:extLst>
          </p:cNvPr>
          <p:cNvSpPr/>
          <p:nvPr/>
        </p:nvSpPr>
        <p:spPr>
          <a:xfrm>
            <a:off x="0" y="6108192"/>
            <a:ext cx="12192000" cy="749808"/>
          </a:xfrm>
          <a:prstGeom prst="rect">
            <a:avLst/>
          </a:prstGeom>
          <a:solidFill>
            <a:srgbClr val="C00000"/>
          </a:solidFill>
          <a:ln/>
        </p:spPr>
      </p:sp>
      <p:sp>
        <p:nvSpPr>
          <p:cNvPr id="13" name="Text 2">
            <a:extLst>
              <a:ext uri="{FF2B5EF4-FFF2-40B4-BE49-F238E27FC236}">
                <a16:creationId xmlns:a16="http://schemas.microsoft.com/office/drawing/2014/main" id="{FF338B7F-5C66-4FAF-32E2-A932FB221AA5}"/>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4" name="Text 3">
            <a:extLst>
              <a:ext uri="{FF2B5EF4-FFF2-40B4-BE49-F238E27FC236}">
                <a16:creationId xmlns:a16="http://schemas.microsoft.com/office/drawing/2014/main" id="{A670269D-08FB-E3F1-4B0F-AC1AD8A9DF8B}"/>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5" name="Text 4">
            <a:extLst>
              <a:ext uri="{FF2B5EF4-FFF2-40B4-BE49-F238E27FC236}">
                <a16:creationId xmlns:a16="http://schemas.microsoft.com/office/drawing/2014/main" id="{37621B28-24E5-85A2-FF8E-2D6E39A827B8}"/>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2206111</a:t>
            </a:r>
            <a:endParaRPr lang="en-US" sz="1600" dirty="0">
              <a:latin typeface="Times New Roman"/>
              <a:ea typeface="Times New Roman"/>
              <a:cs typeface="Times New Roman"/>
            </a:endParaRPr>
          </a:p>
        </p:txBody>
      </p:sp>
      <p:sp>
        <p:nvSpPr>
          <p:cNvPr id="16" name="Text 5">
            <a:extLst>
              <a:ext uri="{FF2B5EF4-FFF2-40B4-BE49-F238E27FC236}">
                <a16:creationId xmlns:a16="http://schemas.microsoft.com/office/drawing/2014/main" id="{FDACA7E0-6200-A807-83B9-6F6A8520FD7D}"/>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4</a:t>
            </a:r>
            <a:endParaRPr lang="en-US" sz="1600" dirty="0">
              <a:latin typeface="Times New Roman"/>
              <a:ea typeface="Times New Roman"/>
              <a:cs typeface="Times New Roman"/>
            </a:endParaRPr>
          </a:p>
        </p:txBody>
      </p:sp>
      <p:pic>
        <p:nvPicPr>
          <p:cNvPr id="17" name="Picture 16">
            <a:extLst>
              <a:ext uri="{FF2B5EF4-FFF2-40B4-BE49-F238E27FC236}">
                <a16:creationId xmlns:a16="http://schemas.microsoft.com/office/drawing/2014/main" id="{298C5406-6929-8FEF-9A95-1B8F1DCB9D54}"/>
              </a:ext>
            </a:extLst>
          </p:cNvPr>
          <p:cNvPicPr>
            <a:picLocks noChangeAspect="1"/>
          </p:cNvPicPr>
          <p:nvPr/>
        </p:nvPicPr>
        <p:blipFill>
          <a:blip r:embed="rId4"/>
          <a:stretch>
            <a:fillRect/>
          </a:stretch>
        </p:blipFill>
        <p:spPr>
          <a:xfrm>
            <a:off x="3109" y="6159218"/>
            <a:ext cx="739389" cy="647756"/>
          </a:xfrm>
          <a:prstGeom prst="rect">
            <a:avLst/>
          </a:prstGeom>
        </p:spPr>
      </p:pic>
    </p:spTree>
    <p:extLst>
      <p:ext uri="{BB962C8B-B14F-4D97-AF65-F5344CB8AC3E}">
        <p14:creationId xmlns:p14="http://schemas.microsoft.com/office/powerpoint/2010/main" val="3380365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72803" y="1620596"/>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Alternative solutions considered</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5</a:t>
            </a:r>
            <a:endParaRPr lang="en-US" sz="1100" dirty="0">
              <a:latin typeface="Times New Roman"/>
              <a:ea typeface="Times New Roman"/>
              <a:cs typeface="Times New Roman"/>
            </a:endParaRPr>
          </a:p>
        </p:txBody>
      </p:sp>
      <p:graphicFrame>
        <p:nvGraphicFramePr>
          <p:cNvPr id="9" name="Table 0"/>
          <p:cNvGraphicFramePr>
            <a:graphicFrameLocks noGrp="1"/>
          </p:cNvGraphicFramePr>
          <p:nvPr>
            <p:extLst>
              <p:ext uri="{D42A27DB-BD31-4B8C-83A1-F6EECF244321}">
                <p14:modId xmlns:p14="http://schemas.microsoft.com/office/powerpoint/2010/main" val="410395561"/>
              </p:ext>
            </p:extLst>
          </p:nvPr>
        </p:nvGraphicFramePr>
        <p:xfrm>
          <a:off x="518160" y="2096262"/>
          <a:ext cx="11155680" cy="2956560"/>
        </p:xfrm>
        <a:graphic>
          <a:graphicData uri="http://schemas.openxmlformats.org/drawingml/2006/table">
            <a:tbl>
              <a:tblPr/>
              <a:tblGrid>
                <a:gridCol w="28346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0">
                <a:tc>
                  <a:txBody>
                    <a:bodyPr/>
                    <a:lstStyle/>
                    <a:p>
                      <a:pPr marL="0" indent="0" algn="ctr">
                        <a:buNone/>
                      </a:pPr>
                      <a:r>
                        <a:rPr lang="en-US" sz="1600" b="1" dirty="0">
                          <a:solidFill>
                            <a:srgbClr val="FFFFFF"/>
                          </a:solidFill>
                          <a:latin typeface="Times New Roman"/>
                          <a:ea typeface="Times New Roman"/>
                          <a:cs typeface="Times New Roman"/>
                        </a:rPr>
                        <a:t>Alternative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600" b="1" dirty="0">
                          <a:solidFill>
                            <a:srgbClr val="FFFFFF"/>
                          </a:solidFill>
                          <a:latin typeface="Times New Roman"/>
                          <a:ea typeface="Times New Roman"/>
                          <a:cs typeface="Times New Roman"/>
                        </a:rPr>
                        <a:t>Advantage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600" b="1" dirty="0">
                          <a:solidFill>
                            <a:srgbClr val="FFFFFF"/>
                          </a:solidFill>
                          <a:latin typeface="Times New Roman"/>
                          <a:ea typeface="Times New Roman"/>
                          <a:cs typeface="Times New Roman"/>
                        </a:rPr>
                        <a:t>Why not chosen</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0">
                <a:tc>
                  <a:txBody>
                    <a:bodyPr/>
                    <a:lstStyle/>
                    <a:p>
                      <a:pPr marL="0" indent="0" algn="l">
                        <a:buNone/>
                      </a:pPr>
                      <a:r>
                        <a:rPr lang="en-US" sz="1600" dirty="0">
                          <a:solidFill>
                            <a:srgbClr val="17324F"/>
                          </a:solidFill>
                          <a:latin typeface="Times New Roman"/>
                          <a:ea typeface="Times New Roman"/>
                          <a:cs typeface="Times New Roman"/>
                        </a:rPr>
                        <a:t>Bluetooth / Wi-Fi audio</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Mature, robust, no alignment needed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congested radio spectrum; no optical content</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600" dirty="0">
                          <a:solidFill>
                            <a:srgbClr val="17324F"/>
                          </a:solidFill>
                          <a:latin typeface="Times New Roman"/>
                          <a:ea typeface="Times New Roman"/>
                          <a:cs typeface="Times New Roman"/>
                        </a:rPr>
                        <a:t>Infrared LED link</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solidFill>
                            <a:srgbClr val="17324F"/>
                          </a:solidFill>
                          <a:latin typeface="Times New Roman"/>
                          <a:ea typeface="Times New Roman"/>
                          <a:cs typeface="Times New Roman"/>
                        </a:rPr>
                        <a:t>Eye-safe, very cheap</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solidFill>
                            <a:srgbClr val="17324F"/>
                          </a:solidFill>
                          <a:latin typeface="Times New Roman"/>
                          <a:ea typeface="Times New Roman"/>
                          <a:cs typeface="Times New Roman"/>
                        </a:rPr>
                        <a:t>Wide beam, low irradiance, short range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2"/>
                  </a:ext>
                </a:extLst>
              </a:tr>
              <a:tr h="0">
                <a:tc>
                  <a:txBody>
                    <a:bodyPr/>
                    <a:lstStyle/>
                    <a:p>
                      <a:pPr marL="0" indent="0" algn="l">
                        <a:buNone/>
                      </a:pPr>
                      <a:r>
                        <a:rPr lang="en-US" sz="1600" dirty="0">
                          <a:solidFill>
                            <a:srgbClr val="17324F"/>
                          </a:solidFill>
                          <a:latin typeface="Times New Roman"/>
                          <a:ea typeface="Times New Roman"/>
                          <a:cs typeface="Times New Roman"/>
                        </a:rPr>
                        <a:t>Optical fibre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Immune to ambient light, huge bandwidth</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Guided medium ; doesn’t demonstrate free-space propagation</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600" dirty="0">
                          <a:solidFill>
                            <a:srgbClr val="17324F"/>
                          </a:solidFill>
                          <a:latin typeface="Times New Roman"/>
                          <a:ea typeface="Times New Roman"/>
                          <a:cs typeface="Times New Roman"/>
                        </a:rPr>
                        <a:t>Digital (PWM / PCM) over light</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solidFill>
                            <a:srgbClr val="17324F"/>
                          </a:solidFill>
                          <a:latin typeface="Times New Roman"/>
                          <a:ea typeface="Times New Roman"/>
                          <a:cs typeface="Times New Roman"/>
                        </a:rPr>
                        <a:t>Robust against ambient light</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solidFill>
                            <a:srgbClr val="17324F"/>
                          </a:solidFill>
                          <a:latin typeface="Times New Roman"/>
                          <a:ea typeface="Times New Roman"/>
                          <a:cs typeface="Times New Roman"/>
                        </a:rPr>
                        <a:t>Needs high switching bandwidth and coding hardware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4"/>
                  </a:ext>
                </a:extLst>
              </a:tr>
              <a:tr h="0">
                <a:tc>
                  <a:txBody>
                    <a:bodyPr/>
                    <a:lstStyle/>
                    <a:p>
                      <a:pPr marL="0" indent="0" algn="l">
                        <a:buNone/>
                      </a:pPr>
                      <a:r>
                        <a:rPr lang="en-US" sz="1600" dirty="0">
                          <a:solidFill>
                            <a:srgbClr val="17324F"/>
                          </a:solidFill>
                          <a:latin typeface="Times New Roman"/>
                          <a:ea typeface="Times New Roman"/>
                          <a:cs typeface="Times New Roman"/>
                        </a:rPr>
                        <a:t>Analog intensity modulation </a:t>
                      </a:r>
                      <a:r>
                        <a:rPr lang="en-US" sz="1600" b="1" dirty="0">
                          <a:solidFill>
                            <a:srgbClr val="17324F"/>
                          </a:solidFill>
                          <a:latin typeface="Times New Roman"/>
                          <a:ea typeface="Times New Roman"/>
                          <a:cs typeface="Times New Roman"/>
                        </a:rPr>
                        <a:t>(chosen)</a:t>
                      </a:r>
                      <a:endParaRPr lang="en-US" sz="1600" b="1"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Smallest component count; shows the full communication chain</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Demands careful linearisation of the laser ;</a:t>
                      </a:r>
                    </a:p>
                    <a:p>
                      <a:pPr marL="0" indent="0" algn="l">
                        <a:buNone/>
                      </a:pPr>
                      <a:r>
                        <a:rPr lang="en-US" sz="1600" dirty="0">
                          <a:solidFill>
                            <a:srgbClr val="17324F"/>
                          </a:solidFill>
                          <a:latin typeface="Times New Roman"/>
                          <a:ea typeface="Times New Roman"/>
                          <a:cs typeface="Times New Roman"/>
                        </a:rPr>
                        <a:t>core design problem</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7"/>
          <p:cNvSpPr txBox="1"/>
          <p:nvPr/>
        </p:nvSpPr>
        <p:spPr>
          <a:xfrm>
            <a:off x="548640" y="5394960"/>
            <a:ext cx="11155680" cy="1097280"/>
          </a:xfrm>
          <a:prstGeom prst="rect">
            <a:avLst/>
          </a:prstGeom>
          <a:noFill/>
          <a:ln/>
        </p:spPr>
        <p:txBody>
          <a:bodyPr wrap="square" lIns="0" tIns="0" rIns="0" bIns="0" rtlCol="0" anchor="t"/>
          <a:lstStyle/>
          <a:p>
            <a:pPr marL="0" indent="0" algn="l">
              <a:buNone/>
            </a:pPr>
            <a:r>
              <a:rPr lang="en-US" sz="1400" i="1" dirty="0">
                <a:solidFill>
                  <a:srgbClr val="4A5A6B"/>
                </a:solidFill>
                <a:latin typeface="Times New Roman"/>
                <a:ea typeface="Times New Roman"/>
                <a:cs typeface="Times New Roman"/>
              </a:rPr>
              <a:t>Direct analog intensity modulation was selected because it exposes the linearity and noise problems that make optical communication interesting, with the fewest parts.</a:t>
            </a:r>
            <a:endParaRPr lang="en-US" sz="1400" dirty="0">
              <a:latin typeface="Times New Roman"/>
              <a:ea typeface="Times New Roman"/>
              <a:cs typeface="Times New Roman"/>
            </a:endParaRPr>
          </a:p>
        </p:txBody>
      </p:sp>
      <p:sp>
        <p:nvSpPr>
          <p:cNvPr id="11" name="Shape 1">
            <a:extLst>
              <a:ext uri="{FF2B5EF4-FFF2-40B4-BE49-F238E27FC236}">
                <a16:creationId xmlns:a16="http://schemas.microsoft.com/office/drawing/2014/main" id="{67A050BB-8CBC-9239-99BF-99F8753CE2BF}"/>
              </a:ext>
            </a:extLst>
          </p:cNvPr>
          <p:cNvSpPr/>
          <p:nvPr/>
        </p:nvSpPr>
        <p:spPr>
          <a:xfrm>
            <a:off x="0" y="6108192"/>
            <a:ext cx="12192000" cy="749808"/>
          </a:xfrm>
          <a:prstGeom prst="rect">
            <a:avLst/>
          </a:prstGeom>
          <a:solidFill>
            <a:srgbClr val="C00000"/>
          </a:solidFill>
          <a:ln/>
        </p:spPr>
      </p:sp>
      <p:sp>
        <p:nvSpPr>
          <p:cNvPr id="12" name="Text 2">
            <a:extLst>
              <a:ext uri="{FF2B5EF4-FFF2-40B4-BE49-F238E27FC236}">
                <a16:creationId xmlns:a16="http://schemas.microsoft.com/office/drawing/2014/main" id="{B25B8953-7C07-1CA4-71DC-738F73CC4166}"/>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3" name="Text 3">
            <a:extLst>
              <a:ext uri="{FF2B5EF4-FFF2-40B4-BE49-F238E27FC236}">
                <a16:creationId xmlns:a16="http://schemas.microsoft.com/office/drawing/2014/main" id="{374912AB-6AD5-672F-AEEF-B62B430D1266}"/>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4" name="Text 4">
            <a:extLst>
              <a:ext uri="{FF2B5EF4-FFF2-40B4-BE49-F238E27FC236}">
                <a16:creationId xmlns:a16="http://schemas.microsoft.com/office/drawing/2014/main" id="{07042324-73F0-3486-0F0A-51253E5EDCF7}"/>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2206111</a:t>
            </a:r>
            <a:endParaRPr lang="en-US" sz="1600" dirty="0">
              <a:latin typeface="Times New Roman"/>
              <a:ea typeface="Times New Roman"/>
              <a:cs typeface="Times New Roman"/>
            </a:endParaRPr>
          </a:p>
        </p:txBody>
      </p:sp>
      <p:sp>
        <p:nvSpPr>
          <p:cNvPr id="15" name="Text 5">
            <a:extLst>
              <a:ext uri="{FF2B5EF4-FFF2-40B4-BE49-F238E27FC236}">
                <a16:creationId xmlns:a16="http://schemas.microsoft.com/office/drawing/2014/main" id="{69A22DA2-9044-CC1B-F2DB-23D04BF0EB25}"/>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5</a:t>
            </a:r>
            <a:endParaRPr lang="en-US" sz="1600" dirty="0">
              <a:latin typeface="Times New Roman"/>
              <a:ea typeface="Times New Roman"/>
              <a:cs typeface="Times New Roman"/>
            </a:endParaRPr>
          </a:p>
        </p:txBody>
      </p:sp>
      <p:pic>
        <p:nvPicPr>
          <p:cNvPr id="16" name="Picture 15">
            <a:extLst>
              <a:ext uri="{FF2B5EF4-FFF2-40B4-BE49-F238E27FC236}">
                <a16:creationId xmlns:a16="http://schemas.microsoft.com/office/drawing/2014/main" id="{A5ED8245-7B2E-8A93-1706-984ACE348379}"/>
              </a:ext>
            </a:extLst>
          </p:cNvPr>
          <p:cNvPicPr>
            <a:picLocks noChangeAspect="1"/>
          </p:cNvPicPr>
          <p:nvPr/>
        </p:nvPicPr>
        <p:blipFill>
          <a:blip r:embed="rId3"/>
          <a:stretch>
            <a:fillRect/>
          </a:stretch>
        </p:blipFill>
        <p:spPr>
          <a:xfrm>
            <a:off x="3109" y="6159218"/>
            <a:ext cx="739389" cy="647756"/>
          </a:xfrm>
          <a:prstGeom prst="rect">
            <a:avLst/>
          </a:prstGeom>
        </p:spPr>
      </p:pic>
      <p:sp>
        <p:nvSpPr>
          <p:cNvPr id="17" name="Text 0">
            <a:extLst>
              <a:ext uri="{FF2B5EF4-FFF2-40B4-BE49-F238E27FC236}">
                <a16:creationId xmlns:a16="http://schemas.microsoft.com/office/drawing/2014/main" id="{7DFB68B0-48F0-7E5E-7083-841D8D02F587}"/>
              </a:ext>
            </a:extLst>
          </p:cNvPr>
          <p:cNvSpPr txBox="1"/>
          <p:nvPr/>
        </p:nvSpPr>
        <p:spPr>
          <a:xfrm>
            <a:off x="426720" y="562425"/>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2.  Introduction</a:t>
            </a:r>
            <a:endParaRPr lang="en-US" sz="4400" dirty="0">
              <a:latin typeface="Times New Roman"/>
              <a:ea typeface="Times New Roman"/>
              <a:cs typeface="Times New Roman"/>
            </a:endParaRPr>
          </a:p>
        </p:txBody>
      </p:sp>
    </p:spTree>
    <p:extLst>
      <p:ext uri="{BB962C8B-B14F-4D97-AF65-F5344CB8AC3E}">
        <p14:creationId xmlns:p14="http://schemas.microsoft.com/office/powerpoint/2010/main" val="2552269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3.1  Design Methods (PO(a))</a:t>
            </a:r>
            <a:endParaRPr lang="en-US" sz="4400" dirty="0">
              <a:latin typeface="Times New Roman"/>
              <a:ea typeface="Times New Roman"/>
              <a:cs typeface="Times New Roman"/>
            </a:endParaRPr>
          </a:p>
        </p:txBody>
      </p:sp>
      <p:sp>
        <p:nvSpPr>
          <p:cNvPr id="3" name="Text 1"/>
          <p:cNvSpPr txBox="1"/>
          <p:nvPr/>
        </p:nvSpPr>
        <p:spPr>
          <a:xfrm>
            <a:off x="466905" y="859910"/>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System architecture</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6</a:t>
            </a:r>
            <a:endParaRPr lang="en-US" sz="1100" dirty="0">
              <a:latin typeface="Times New Roman"/>
              <a:ea typeface="Times New Roman"/>
              <a:cs typeface="Times New Roman"/>
            </a:endParaRPr>
          </a:p>
        </p:txBody>
      </p:sp>
      <p:pic>
        <p:nvPicPr>
          <p:cNvPr id="9" name="Image 0" descr="/home/claude/fig/block_diagram.png"/>
          <p:cNvPicPr>
            <a:picLocks noChangeAspect="1"/>
          </p:cNvPicPr>
          <p:nvPr/>
        </p:nvPicPr>
        <p:blipFill>
          <a:blip r:embed="rId3"/>
          <a:stretch>
            <a:fillRect/>
          </a:stretch>
        </p:blipFill>
        <p:spPr>
          <a:xfrm>
            <a:off x="1119673" y="1139904"/>
            <a:ext cx="9377756" cy="3203496"/>
          </a:xfrm>
          <a:prstGeom prst="rect">
            <a:avLst/>
          </a:prstGeom>
        </p:spPr>
      </p:pic>
      <p:sp>
        <p:nvSpPr>
          <p:cNvPr id="10" name="Text 7"/>
          <p:cNvSpPr txBox="1"/>
          <p:nvPr/>
        </p:nvSpPr>
        <p:spPr>
          <a:xfrm>
            <a:off x="411480" y="4623394"/>
            <a:ext cx="11567160" cy="4703486"/>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17324F"/>
                </a:solidFill>
                <a:latin typeface="Times New Roman"/>
                <a:ea typeface="Times New Roman"/>
                <a:cs typeface="Times New Roman"/>
              </a:rPr>
              <a:t>Transmitter: fixed attenuator → preamp (U1A, ×3.2) → Sallen-Key LPF (U1B, 23 kHz) → constant-current laser driver (U2 + Q1).</a:t>
            </a:r>
            <a:endParaRPr lang="en-US" sz="1600" dirty="0">
              <a:latin typeface="Times New Roman"/>
              <a:ea typeface="Times New Roman"/>
              <a:cs typeface="Times New Roman"/>
            </a:endParaRPr>
          </a:p>
          <a:p>
            <a:pPr marL="228600" indent="-228600">
              <a:spcAft>
                <a:spcPts val="600"/>
              </a:spcAft>
              <a:buSzPct val="100000"/>
              <a:buChar char="•"/>
            </a:pPr>
            <a:r>
              <a:rPr lang="en-US" sz="1600" dirty="0">
                <a:solidFill>
                  <a:srgbClr val="17324F"/>
                </a:solidFill>
                <a:latin typeface="Times New Roman"/>
                <a:ea typeface="Times New Roman"/>
                <a:cs typeface="Times New Roman"/>
              </a:rPr>
              <a:t>Receiver: BPW34 photodiode + 470 Ω → band-pass amplifier (U3A,×22) → Sallen-Key LPF (U3B,10.7 kHz) → LM386 → 8 Ω speaker.</a:t>
            </a:r>
            <a:endParaRPr lang="en-US" sz="1600" dirty="0">
              <a:latin typeface="Times New Roman"/>
              <a:ea typeface="Times New Roman"/>
              <a:cs typeface="Times New Roman"/>
            </a:endParaRPr>
          </a:p>
          <a:p>
            <a:pPr marL="228600" indent="-228600">
              <a:spcAft>
                <a:spcPts val="600"/>
              </a:spcAft>
              <a:buSzPct val="100000"/>
              <a:buChar char="•"/>
            </a:pPr>
            <a:r>
              <a:rPr lang="en-US" sz="1600" dirty="0">
                <a:solidFill>
                  <a:srgbClr val="17324F"/>
                </a:solidFill>
                <a:latin typeface="Times New Roman"/>
                <a:ea typeface="Times New Roman"/>
                <a:cs typeface="Times New Roman"/>
              </a:rPr>
              <a:t>Filters are staggered, not duplicated: the sharper filter sits at the receiver, where the noise is actually generated.</a:t>
            </a:r>
            <a:endParaRPr lang="en-US" sz="1600" dirty="0">
              <a:latin typeface="Times New Roman"/>
              <a:ea typeface="Times New Roman"/>
              <a:cs typeface="Times New Roman"/>
            </a:endParaRPr>
          </a:p>
        </p:txBody>
      </p:sp>
      <p:sp>
        <p:nvSpPr>
          <p:cNvPr id="11" name="Shape 1">
            <a:extLst>
              <a:ext uri="{FF2B5EF4-FFF2-40B4-BE49-F238E27FC236}">
                <a16:creationId xmlns:a16="http://schemas.microsoft.com/office/drawing/2014/main" id="{2337050D-A6E2-2823-D250-F4F276C6095A}"/>
              </a:ext>
            </a:extLst>
          </p:cNvPr>
          <p:cNvSpPr/>
          <p:nvPr/>
        </p:nvSpPr>
        <p:spPr>
          <a:xfrm>
            <a:off x="0" y="6108192"/>
            <a:ext cx="12192000" cy="749808"/>
          </a:xfrm>
          <a:prstGeom prst="rect">
            <a:avLst/>
          </a:prstGeom>
          <a:solidFill>
            <a:srgbClr val="C00000"/>
          </a:solidFill>
          <a:ln/>
        </p:spPr>
      </p:sp>
      <p:sp>
        <p:nvSpPr>
          <p:cNvPr id="12" name="Text 2">
            <a:extLst>
              <a:ext uri="{FF2B5EF4-FFF2-40B4-BE49-F238E27FC236}">
                <a16:creationId xmlns:a16="http://schemas.microsoft.com/office/drawing/2014/main" id="{46E47DFE-C995-413A-3B4E-53A33FCCFDEF}"/>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3" name="Text 3">
            <a:extLst>
              <a:ext uri="{FF2B5EF4-FFF2-40B4-BE49-F238E27FC236}">
                <a16:creationId xmlns:a16="http://schemas.microsoft.com/office/drawing/2014/main" id="{6081697D-21A5-6A8E-FED6-A3F75F287C75}"/>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4" name="Text 4">
            <a:extLst>
              <a:ext uri="{FF2B5EF4-FFF2-40B4-BE49-F238E27FC236}">
                <a16:creationId xmlns:a16="http://schemas.microsoft.com/office/drawing/2014/main" id="{857B6D5F-83F6-8F8E-03AC-D91C0F9D2129}"/>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2206111-119</a:t>
            </a:r>
            <a:endParaRPr lang="en-US" sz="1600" dirty="0">
              <a:latin typeface="Times New Roman"/>
              <a:ea typeface="Times New Roman"/>
              <a:cs typeface="Times New Roman"/>
            </a:endParaRPr>
          </a:p>
        </p:txBody>
      </p:sp>
      <p:sp>
        <p:nvSpPr>
          <p:cNvPr id="15" name="Text 5">
            <a:extLst>
              <a:ext uri="{FF2B5EF4-FFF2-40B4-BE49-F238E27FC236}">
                <a16:creationId xmlns:a16="http://schemas.microsoft.com/office/drawing/2014/main" id="{974B2B87-9BF5-8E1A-AA18-862CD2A37B72}"/>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6</a:t>
            </a:r>
            <a:endParaRPr lang="en-US" sz="1600" dirty="0">
              <a:latin typeface="Times New Roman"/>
              <a:ea typeface="Times New Roman"/>
              <a:cs typeface="Times New Roman"/>
            </a:endParaRPr>
          </a:p>
        </p:txBody>
      </p:sp>
      <p:pic>
        <p:nvPicPr>
          <p:cNvPr id="16" name="Picture 15">
            <a:extLst>
              <a:ext uri="{FF2B5EF4-FFF2-40B4-BE49-F238E27FC236}">
                <a16:creationId xmlns:a16="http://schemas.microsoft.com/office/drawing/2014/main" id="{EA64CB7B-2962-3317-4372-3D754D29DDA4}"/>
              </a:ext>
            </a:extLst>
          </p:cNvPr>
          <p:cNvPicPr>
            <a:picLocks noChangeAspect="1"/>
          </p:cNvPicPr>
          <p:nvPr/>
        </p:nvPicPr>
        <p:blipFill>
          <a:blip r:embed="rId4"/>
          <a:stretch>
            <a:fillRect/>
          </a:stretch>
        </p:blipFill>
        <p:spPr>
          <a:xfrm>
            <a:off x="3109" y="6159218"/>
            <a:ext cx="739389" cy="647756"/>
          </a:xfrm>
          <a:prstGeom prst="rect">
            <a:avLst/>
          </a:prstGeom>
        </p:spPr>
      </p:pic>
    </p:spTree>
    <p:extLst>
      <p:ext uri="{BB962C8B-B14F-4D97-AF65-F5344CB8AC3E}">
        <p14:creationId xmlns:p14="http://schemas.microsoft.com/office/powerpoint/2010/main" val="3087815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3.1  Design Methods (PO(a))</a:t>
            </a:r>
            <a:endParaRPr lang="en-US" sz="4400" dirty="0">
              <a:latin typeface="Times New Roman"/>
              <a:ea typeface="Times New Roman"/>
              <a:cs typeface="Times New Roman"/>
            </a:endParaRPr>
          </a:p>
        </p:txBody>
      </p:sp>
      <p:sp>
        <p:nvSpPr>
          <p:cNvPr id="3" name="Text 1"/>
          <p:cNvSpPr txBox="1"/>
          <p:nvPr/>
        </p:nvSpPr>
        <p:spPr>
          <a:xfrm>
            <a:off x="438912" y="869241"/>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Applying the mathematics</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7</a:t>
            </a:r>
            <a:endParaRPr lang="en-US" sz="1100" dirty="0">
              <a:latin typeface="Times New Roman"/>
              <a:ea typeface="Times New Roman"/>
              <a:cs typeface="Times New Roman"/>
            </a:endParaRPr>
          </a:p>
        </p:txBody>
      </p:sp>
      <p:sp>
        <p:nvSpPr>
          <p:cNvPr id="9" name="Shape 7"/>
          <p:cNvSpPr/>
          <p:nvPr/>
        </p:nvSpPr>
        <p:spPr>
          <a:xfrm>
            <a:off x="548640" y="1417320"/>
            <a:ext cx="5440680" cy="1874520"/>
          </a:xfrm>
          <a:prstGeom prst="roundRect">
            <a:avLst>
              <a:gd name="adj" fmla="val 2927"/>
            </a:avLst>
          </a:prstGeom>
          <a:solidFill>
            <a:srgbClr val="F2F5F9"/>
          </a:solidFill>
          <a:ln w="9525">
            <a:solidFill>
              <a:srgbClr val="C3CCD6"/>
            </a:solidFill>
            <a:prstDash val="solid"/>
          </a:ln>
        </p:spPr>
      </p:sp>
      <p:sp>
        <p:nvSpPr>
          <p:cNvPr id="10" name="Text 8"/>
          <p:cNvSpPr txBox="1"/>
          <p:nvPr/>
        </p:nvSpPr>
        <p:spPr>
          <a:xfrm>
            <a:off x="749808" y="1554480"/>
            <a:ext cx="5029200" cy="1645920"/>
          </a:xfrm>
          <a:prstGeom prst="rect">
            <a:avLst/>
          </a:prstGeom>
          <a:noFill/>
          <a:ln/>
        </p:spPr>
        <p:txBody>
          <a:bodyPr wrap="square" lIns="0" tIns="0" rIns="0" bIns="0" rtlCol="0" anchor="t"/>
          <a:lstStyle/>
          <a:p>
            <a:pPr marL="0" indent="0">
              <a:lnSpc>
                <a:spcPct val="105000"/>
              </a:lnSpc>
              <a:buNone/>
            </a:pPr>
            <a:r>
              <a:rPr lang="en-US" b="1" dirty="0">
                <a:solidFill>
                  <a:srgbClr val="1F3B63"/>
                </a:solidFill>
                <a:latin typeface="Times New Roman"/>
                <a:ea typeface="Times New Roman"/>
                <a:cs typeface="Times New Roman"/>
              </a:rPr>
              <a:t>Linear optical modulation</a:t>
            </a:r>
            <a:endParaRPr lang="en-US" dirty="0">
              <a:latin typeface="Times New Roman"/>
              <a:ea typeface="Times New Roman"/>
              <a:cs typeface="Times New Roman"/>
            </a:endParaRPr>
          </a:p>
          <a:p>
            <a:pPr marL="0" indent="0">
              <a:lnSpc>
                <a:spcPct val="105000"/>
              </a:lnSpc>
              <a:buNone/>
            </a:pPr>
            <a:r>
              <a:rPr lang="en-US" i="1" dirty="0" err="1">
                <a:solidFill>
                  <a:srgbClr val="8C1C1C"/>
                </a:solidFill>
                <a:latin typeface="Times New Roman"/>
                <a:ea typeface="Times New Roman"/>
                <a:cs typeface="Times New Roman"/>
              </a:rPr>
              <a:t>P</a:t>
            </a:r>
            <a:r>
              <a:rPr lang="en-US" sz="1200" i="1" dirty="0" err="1">
                <a:solidFill>
                  <a:srgbClr val="8C1C1C"/>
                </a:solidFill>
                <a:latin typeface="Times New Roman"/>
                <a:ea typeface="Times New Roman"/>
                <a:cs typeface="Times New Roman"/>
              </a:rPr>
              <a:t>opt</a:t>
            </a:r>
            <a:r>
              <a:rPr lang="en-US" i="1" dirty="0">
                <a:solidFill>
                  <a:srgbClr val="8C1C1C"/>
                </a:solidFill>
                <a:latin typeface="Times New Roman"/>
                <a:ea typeface="Times New Roman"/>
                <a:cs typeface="Times New Roman"/>
              </a:rPr>
              <a:t> ≈ η (I − </a:t>
            </a:r>
            <a:r>
              <a:rPr lang="en-US" i="1" dirty="0" err="1">
                <a:solidFill>
                  <a:srgbClr val="8C1C1C"/>
                </a:solidFill>
                <a:latin typeface="Times New Roman"/>
                <a:ea typeface="Times New Roman"/>
                <a:cs typeface="Times New Roman"/>
              </a:rPr>
              <a:t>I</a:t>
            </a:r>
            <a:r>
              <a:rPr lang="en-US" sz="1200" i="1" dirty="0" err="1">
                <a:solidFill>
                  <a:srgbClr val="8C1C1C"/>
                </a:solidFill>
                <a:latin typeface="Times New Roman"/>
                <a:ea typeface="Times New Roman"/>
                <a:cs typeface="Times New Roman"/>
              </a:rPr>
              <a:t>th</a:t>
            </a:r>
            <a:r>
              <a:rPr lang="en-US" i="1" dirty="0">
                <a:solidFill>
                  <a:srgbClr val="8C1C1C"/>
                </a:solidFill>
                <a:latin typeface="Times New Roman"/>
                <a:ea typeface="Times New Roman"/>
                <a:cs typeface="Times New Roman"/>
              </a:rPr>
              <a:t>)</a:t>
            </a:r>
            <a:endParaRPr lang="en-US" dirty="0">
              <a:latin typeface="Times New Roman"/>
              <a:ea typeface="Times New Roman"/>
              <a:cs typeface="Times New Roman"/>
            </a:endParaRPr>
          </a:p>
          <a:p>
            <a:pPr marL="0" indent="0">
              <a:lnSpc>
                <a:spcPct val="105000"/>
              </a:lnSpc>
              <a:buNone/>
            </a:pPr>
            <a:r>
              <a:rPr lang="en-US" sz="1600" dirty="0">
                <a:solidFill>
                  <a:srgbClr val="17324F"/>
                </a:solidFill>
                <a:latin typeface="Times New Roman"/>
                <a:ea typeface="Times New Roman"/>
                <a:cs typeface="Times New Roman"/>
              </a:rPr>
              <a:t>A laser emits only above threshold, so it must be biased above I_th and modulated in current, not voltage.</a:t>
            </a:r>
            <a:endParaRPr lang="en-US" dirty="0">
              <a:latin typeface="Times New Roman"/>
              <a:ea typeface="Times New Roman"/>
              <a:cs typeface="Times New Roman"/>
            </a:endParaRPr>
          </a:p>
        </p:txBody>
      </p:sp>
      <p:sp>
        <p:nvSpPr>
          <p:cNvPr id="11" name="Shape 9"/>
          <p:cNvSpPr/>
          <p:nvPr/>
        </p:nvSpPr>
        <p:spPr>
          <a:xfrm>
            <a:off x="6309360" y="1417320"/>
            <a:ext cx="5440680" cy="1874520"/>
          </a:xfrm>
          <a:prstGeom prst="roundRect">
            <a:avLst>
              <a:gd name="adj" fmla="val 2927"/>
            </a:avLst>
          </a:prstGeom>
          <a:solidFill>
            <a:srgbClr val="F2F5F9"/>
          </a:solidFill>
          <a:ln w="9525">
            <a:solidFill>
              <a:srgbClr val="C3CCD6"/>
            </a:solidFill>
            <a:prstDash val="solid"/>
          </a:ln>
        </p:spPr>
      </p:sp>
      <p:sp>
        <p:nvSpPr>
          <p:cNvPr id="12" name="Text 10"/>
          <p:cNvSpPr txBox="1"/>
          <p:nvPr/>
        </p:nvSpPr>
        <p:spPr>
          <a:xfrm>
            <a:off x="6510528" y="1554480"/>
            <a:ext cx="5029200" cy="1645920"/>
          </a:xfrm>
          <a:prstGeom prst="rect">
            <a:avLst/>
          </a:prstGeom>
          <a:noFill/>
          <a:ln/>
        </p:spPr>
        <p:txBody>
          <a:bodyPr wrap="square" lIns="0" tIns="0" rIns="0" bIns="0" rtlCol="0" anchor="t"/>
          <a:lstStyle/>
          <a:p>
            <a:pPr marL="0" indent="0">
              <a:lnSpc>
                <a:spcPct val="105000"/>
              </a:lnSpc>
              <a:buNone/>
            </a:pPr>
            <a:r>
              <a:rPr lang="en-US" b="1" dirty="0">
                <a:solidFill>
                  <a:srgbClr val="1F3B63"/>
                </a:solidFill>
                <a:latin typeface="Times New Roman"/>
                <a:ea typeface="Times New Roman"/>
                <a:cs typeface="Times New Roman"/>
              </a:rPr>
              <a:t>Constant-current driver</a:t>
            </a:r>
            <a:endParaRPr lang="en-US" dirty="0">
              <a:latin typeface="Times New Roman"/>
              <a:ea typeface="Times New Roman"/>
              <a:cs typeface="Times New Roman"/>
            </a:endParaRPr>
          </a:p>
          <a:p>
            <a:pPr marL="0" indent="0">
              <a:lnSpc>
                <a:spcPct val="105000"/>
              </a:lnSpc>
              <a:buNone/>
            </a:pPr>
            <a:r>
              <a:rPr lang="en-US" i="1" dirty="0" err="1">
                <a:solidFill>
                  <a:srgbClr val="8C1C1C"/>
                </a:solidFill>
                <a:latin typeface="Times New Roman"/>
                <a:ea typeface="Times New Roman"/>
                <a:cs typeface="Times New Roman"/>
              </a:rPr>
              <a:t>I</a:t>
            </a:r>
            <a:r>
              <a:rPr lang="en-US" sz="1200" i="1" dirty="0" err="1">
                <a:solidFill>
                  <a:srgbClr val="8C1C1C"/>
                </a:solidFill>
                <a:latin typeface="Times New Roman"/>
                <a:ea typeface="Times New Roman"/>
                <a:cs typeface="Times New Roman"/>
              </a:rPr>
              <a:t>laser</a:t>
            </a:r>
            <a:r>
              <a:rPr lang="en-US" i="1" dirty="0">
                <a:solidFill>
                  <a:srgbClr val="8C1C1C"/>
                </a:solidFill>
                <a:latin typeface="Times New Roman"/>
                <a:ea typeface="Times New Roman"/>
                <a:cs typeface="Times New Roman"/>
              </a:rPr>
              <a:t> = V</a:t>
            </a:r>
            <a:r>
              <a:rPr lang="en-US" sz="1200" i="1" dirty="0">
                <a:solidFill>
                  <a:srgbClr val="8C1C1C"/>
                </a:solidFill>
                <a:latin typeface="Times New Roman"/>
                <a:ea typeface="Times New Roman"/>
                <a:cs typeface="Times New Roman"/>
              </a:rPr>
              <a:t>in</a:t>
            </a:r>
            <a:r>
              <a:rPr lang="en-US" i="1" dirty="0">
                <a:solidFill>
                  <a:srgbClr val="8C1C1C"/>
                </a:solidFill>
                <a:latin typeface="Times New Roman"/>
                <a:ea typeface="Times New Roman"/>
                <a:cs typeface="Times New Roman"/>
              </a:rPr>
              <a:t> / R</a:t>
            </a:r>
            <a:r>
              <a:rPr lang="en-US" sz="1200" i="1" dirty="0">
                <a:solidFill>
                  <a:srgbClr val="8C1C1C"/>
                </a:solidFill>
                <a:latin typeface="Times New Roman"/>
                <a:ea typeface="Times New Roman"/>
                <a:cs typeface="Times New Roman"/>
              </a:rPr>
              <a:t>11</a:t>
            </a:r>
            <a:endParaRPr lang="en-US" sz="1200" dirty="0">
              <a:latin typeface="Times New Roman"/>
              <a:ea typeface="Times New Roman"/>
              <a:cs typeface="Times New Roman"/>
            </a:endParaRPr>
          </a:p>
          <a:p>
            <a:pPr marL="0" indent="0">
              <a:lnSpc>
                <a:spcPct val="105000"/>
              </a:lnSpc>
              <a:buNone/>
            </a:pPr>
            <a:r>
              <a:rPr lang="en-US" sz="1600" dirty="0">
                <a:solidFill>
                  <a:srgbClr val="17324F"/>
                </a:solidFill>
                <a:latin typeface="Times New Roman"/>
                <a:ea typeface="Times New Roman"/>
                <a:cs typeface="Times New Roman"/>
              </a:rPr>
              <a:t>Feedback makes the current independent of the laser I–V curve, temperature and transistor β.</a:t>
            </a:r>
            <a:endParaRPr lang="en-US" dirty="0">
              <a:latin typeface="Times New Roman"/>
              <a:ea typeface="Times New Roman"/>
              <a:cs typeface="Times New Roman"/>
            </a:endParaRPr>
          </a:p>
          <a:p>
            <a:pPr marL="0" indent="0">
              <a:lnSpc>
                <a:spcPct val="105000"/>
              </a:lnSpc>
              <a:buNone/>
            </a:pPr>
            <a:r>
              <a:rPr lang="en-US" sz="1600" dirty="0">
                <a:solidFill>
                  <a:srgbClr val="17324F"/>
                </a:solidFill>
                <a:latin typeface="Times New Roman"/>
                <a:ea typeface="Times New Roman"/>
                <a:cs typeface="Times New Roman"/>
              </a:rPr>
              <a:t>V_bias = 9 × 10/(68+10) = 1.154 V → 30 mA with R11 = 38 Ω</a:t>
            </a:r>
            <a:endParaRPr lang="en-US" dirty="0">
              <a:latin typeface="Times New Roman"/>
              <a:ea typeface="Times New Roman"/>
              <a:cs typeface="Times New Roman"/>
            </a:endParaRPr>
          </a:p>
        </p:txBody>
      </p:sp>
      <p:sp>
        <p:nvSpPr>
          <p:cNvPr id="13" name="Shape 11"/>
          <p:cNvSpPr/>
          <p:nvPr/>
        </p:nvSpPr>
        <p:spPr>
          <a:xfrm>
            <a:off x="548640" y="3520440"/>
            <a:ext cx="5440680" cy="1874520"/>
          </a:xfrm>
          <a:prstGeom prst="roundRect">
            <a:avLst>
              <a:gd name="adj" fmla="val 2927"/>
            </a:avLst>
          </a:prstGeom>
          <a:solidFill>
            <a:srgbClr val="F2F5F9"/>
          </a:solidFill>
          <a:ln w="9525">
            <a:solidFill>
              <a:srgbClr val="C3CCD6"/>
            </a:solidFill>
            <a:prstDash val="solid"/>
          </a:ln>
        </p:spPr>
      </p:sp>
      <mc:AlternateContent xmlns:mc="http://schemas.openxmlformats.org/markup-compatibility/2006" xmlns:a14="http://schemas.microsoft.com/office/drawing/2010/main">
        <mc:Choice Requires="a14">
          <p:sp>
            <p:nvSpPr>
              <p:cNvPr id="14" name="Text 12"/>
              <p:cNvSpPr txBox="1"/>
              <p:nvPr/>
            </p:nvSpPr>
            <p:spPr>
              <a:xfrm>
                <a:off x="749808" y="3657600"/>
                <a:ext cx="5029200" cy="1645920"/>
              </a:xfrm>
              <a:prstGeom prst="rect">
                <a:avLst/>
              </a:prstGeom>
              <a:noFill/>
              <a:ln/>
            </p:spPr>
            <p:txBody>
              <a:bodyPr wrap="square" lIns="0" tIns="0" rIns="0" bIns="0" rtlCol="0" anchor="t"/>
              <a:lstStyle/>
              <a:p>
                <a:pPr marL="0" indent="0">
                  <a:lnSpc>
                    <a:spcPct val="105000"/>
                  </a:lnSpc>
                  <a:buNone/>
                </a:pPr>
                <a:r>
                  <a:rPr lang="en-US" b="1" dirty="0">
                    <a:solidFill>
                      <a:srgbClr val="1F3B63"/>
                    </a:solidFill>
                    <a:latin typeface="Times New Roman"/>
                    <a:ea typeface="Times New Roman"/>
                    <a:cs typeface="Times New Roman"/>
                  </a:rPr>
                  <a:t>Sallen-Key filters</a:t>
                </a:r>
                <a:endParaRPr lang="en-US" dirty="0">
                  <a:latin typeface="Times New Roman"/>
                  <a:ea typeface="Times New Roman"/>
                  <a:cs typeface="Times New Roman"/>
                </a:endParaRPr>
              </a:p>
              <a:p>
                <a:pPr>
                  <a:lnSpc>
                    <a:spcPct val="105000"/>
                  </a:lnSpc>
                </a:pPr>
                <a:r>
                  <a:rPr lang="en-US" i="1" dirty="0">
                    <a:solidFill>
                      <a:srgbClr val="8C1C1C"/>
                    </a:solidFill>
                    <a:latin typeface="Times New Roman"/>
                    <a:ea typeface="Times New Roman"/>
                    <a:cs typeface="Times New Roman"/>
                  </a:rPr>
                  <a:t>f</a:t>
                </a:r>
                <a:r>
                  <a:rPr lang="en-US" sz="1200" i="1" dirty="0">
                    <a:solidFill>
                      <a:srgbClr val="8C1C1C"/>
                    </a:solidFill>
                    <a:latin typeface="Times New Roman"/>
                    <a:ea typeface="Times New Roman"/>
                    <a:cs typeface="Times New Roman"/>
                  </a:rPr>
                  <a:t>c</a:t>
                </a:r>
                <a:r>
                  <a:rPr lang="en-US" i="1" dirty="0">
                    <a:solidFill>
                      <a:srgbClr val="8C1C1C"/>
                    </a:solidFill>
                    <a:latin typeface="Times New Roman"/>
                    <a:ea typeface="Times New Roman"/>
                    <a:cs typeface="Times New Roman"/>
                  </a:rPr>
                  <a:t> =</a:t>
                </a:r>
                <a14:m>
                  <m:oMath xmlns:m="http://schemas.openxmlformats.org/officeDocument/2006/math">
                    <m:f>
                      <m:fPr>
                        <m:ctrlPr>
                          <a:rPr lang="en-US" i="1" smtClean="0">
                            <a:solidFill>
                              <a:srgbClr val="8C1C1C"/>
                            </a:solidFill>
                            <a:latin typeface="Cambria Math" panose="02040503050406030204" pitchFamily="18" charset="0"/>
                            <a:cs typeface="Times New Roman"/>
                          </a:rPr>
                        </m:ctrlPr>
                      </m:fPr>
                      <m:num>
                        <m:r>
                          <a:rPr lang="en-US" b="0" i="1" smtClean="0">
                            <a:solidFill>
                              <a:srgbClr val="8C1C1C"/>
                            </a:solidFill>
                            <a:latin typeface="Cambria Math" panose="02040503050406030204" pitchFamily="18" charset="0"/>
                            <a:cs typeface="Times New Roman"/>
                          </a:rPr>
                          <m:t>1</m:t>
                        </m:r>
                      </m:num>
                      <m:den>
                        <m:r>
                          <m:rPr>
                            <m:nor/>
                          </m:rPr>
                          <a:rPr lang="en-US" i="1" dirty="0">
                            <a:solidFill>
                              <a:srgbClr val="8C1C1C"/>
                            </a:solidFill>
                            <a:latin typeface="Times New Roman"/>
                            <a:ea typeface="Times New Roman"/>
                            <a:cs typeface="Times New Roman"/>
                          </a:rPr>
                          <m:t>(2</m:t>
                        </m:r>
                        <m:r>
                          <m:rPr>
                            <m:nor/>
                          </m:rPr>
                          <a:rPr lang="en-US" i="1" dirty="0">
                            <a:solidFill>
                              <a:srgbClr val="8C1C1C"/>
                            </a:solidFill>
                            <a:latin typeface="Times New Roman"/>
                            <a:ea typeface="Times New Roman"/>
                            <a:cs typeface="Times New Roman"/>
                          </a:rPr>
                          <m:t>π</m:t>
                        </m:r>
                        <m:r>
                          <m:rPr>
                            <m:nor/>
                          </m:rPr>
                          <a:rPr lang="en-US" i="1" dirty="0">
                            <a:solidFill>
                              <a:srgbClr val="8C1C1C"/>
                            </a:solidFill>
                            <a:latin typeface="Times New Roman"/>
                            <a:ea typeface="Times New Roman"/>
                            <a:cs typeface="Times New Roman"/>
                          </a:rPr>
                          <m:t> </m:t>
                        </m:r>
                        <m:r>
                          <m:rPr>
                            <m:nor/>
                          </m:rPr>
                          <a:rPr lang="en-US" i="1" dirty="0">
                            <a:solidFill>
                              <a:srgbClr val="8C1C1C"/>
                            </a:solidFill>
                            <a:latin typeface="Times New Roman"/>
                            <a:ea typeface="Times New Roman"/>
                            <a:cs typeface="Times New Roman"/>
                          </a:rPr>
                          <m:t>R</m:t>
                        </m:r>
                        <m:r>
                          <m:rPr>
                            <m:nor/>
                          </m:rPr>
                          <a:rPr lang="en-US" i="1" dirty="0">
                            <a:solidFill>
                              <a:srgbClr val="8C1C1C"/>
                            </a:solidFill>
                            <a:latin typeface="Times New Roman"/>
                            <a:ea typeface="Times New Roman"/>
                            <a:cs typeface="Times New Roman"/>
                          </a:rPr>
                          <m:t> √(</m:t>
                        </m:r>
                        <m:r>
                          <m:rPr>
                            <m:nor/>
                          </m:rPr>
                          <a:rPr lang="en-US" i="1" dirty="0">
                            <a:solidFill>
                              <a:srgbClr val="8C1C1C"/>
                            </a:solidFill>
                            <a:latin typeface="Times New Roman"/>
                            <a:ea typeface="Times New Roman"/>
                            <a:cs typeface="Times New Roman"/>
                          </a:rPr>
                          <m:t>C</m:t>
                        </m:r>
                        <m:r>
                          <m:rPr>
                            <m:nor/>
                          </m:rPr>
                          <a:rPr lang="en-US" i="1" dirty="0">
                            <a:solidFill>
                              <a:srgbClr val="8C1C1C"/>
                            </a:solidFill>
                            <a:latin typeface="Times New Roman"/>
                            <a:ea typeface="Times New Roman"/>
                            <a:cs typeface="Times New Roman"/>
                          </a:rPr>
                          <m:t>1</m:t>
                        </m:r>
                        <m:r>
                          <m:rPr>
                            <m:nor/>
                          </m:rPr>
                          <a:rPr lang="en-US" i="1" dirty="0">
                            <a:solidFill>
                              <a:srgbClr val="8C1C1C"/>
                            </a:solidFill>
                            <a:latin typeface="Times New Roman"/>
                            <a:ea typeface="Times New Roman"/>
                            <a:cs typeface="Times New Roman"/>
                          </a:rPr>
                          <m:t>C</m:t>
                        </m:r>
                        <m:r>
                          <m:rPr>
                            <m:nor/>
                          </m:rPr>
                          <a:rPr lang="en-US" i="1" dirty="0">
                            <a:solidFill>
                              <a:srgbClr val="8C1C1C"/>
                            </a:solidFill>
                            <a:latin typeface="Times New Roman"/>
                            <a:ea typeface="Times New Roman"/>
                            <a:cs typeface="Times New Roman"/>
                          </a:rPr>
                          <m:t>2)</m:t>
                        </m:r>
                      </m:den>
                    </m:f>
                  </m:oMath>
                </a14:m>
                <a:r>
                  <a:rPr lang="en-US" i="1" dirty="0">
                    <a:solidFill>
                      <a:srgbClr val="8C1C1C"/>
                    </a:solidFill>
                    <a:latin typeface="Times New Roman"/>
                    <a:ea typeface="Times New Roman"/>
                    <a:cs typeface="Times New Roman"/>
                  </a:rPr>
                  <a:t> ,   Q = ½√(C1/C2)</a:t>
                </a:r>
                <a:endParaRPr lang="en-US" dirty="0">
                  <a:latin typeface="Times New Roman"/>
                  <a:ea typeface="Times New Roman"/>
                  <a:cs typeface="Times New Roman"/>
                </a:endParaRPr>
              </a:p>
              <a:p>
                <a:pPr marL="0" indent="0">
                  <a:lnSpc>
                    <a:spcPct val="105000"/>
                  </a:lnSpc>
                  <a:buNone/>
                </a:pPr>
                <a:r>
                  <a:rPr lang="en-US" sz="1600" dirty="0">
                    <a:solidFill>
                      <a:srgbClr val="17324F"/>
                    </a:solidFill>
                    <a:latin typeface="Times New Roman"/>
                    <a:ea typeface="Times New Roman"/>
                    <a:cs typeface="Times New Roman"/>
                  </a:rPr>
                  <a:t>Transmitter: 10 kΩ, 1 nF, 470 pF → 23 kHz, Q = 0.73</a:t>
                </a:r>
                <a:endParaRPr lang="en-US" dirty="0">
                  <a:latin typeface="Times New Roman"/>
                  <a:ea typeface="Times New Roman"/>
                  <a:cs typeface="Times New Roman"/>
                </a:endParaRPr>
              </a:p>
              <a:p>
                <a:pPr marL="0" indent="0">
                  <a:lnSpc>
                    <a:spcPct val="105000"/>
                  </a:lnSpc>
                  <a:buNone/>
                </a:pPr>
                <a:r>
                  <a:rPr lang="en-US" sz="1600" dirty="0">
                    <a:solidFill>
                      <a:srgbClr val="17324F"/>
                    </a:solidFill>
                    <a:latin typeface="Times New Roman"/>
                    <a:ea typeface="Times New Roman"/>
                    <a:cs typeface="Times New Roman"/>
                  </a:rPr>
                  <a:t>Receiver: 10 kΩ, 2.2 nF, 1 nF → 10.7 kHz, Q = 0.74</a:t>
                </a:r>
                <a:endParaRPr lang="en-US" dirty="0">
                  <a:latin typeface="Times New Roman"/>
                  <a:ea typeface="Times New Roman"/>
                  <a:cs typeface="Times New Roman"/>
                </a:endParaRPr>
              </a:p>
            </p:txBody>
          </p:sp>
        </mc:Choice>
        <mc:Fallback xmlns="">
          <p:sp>
            <p:nvSpPr>
              <p:cNvPr id="14" name="Text 12"/>
              <p:cNvSpPr txBox="1">
                <a:spLocks noRot="1" noChangeAspect="1" noMove="1" noResize="1" noEditPoints="1" noAdjustHandles="1" noChangeArrowheads="1" noChangeShapeType="1" noTextEdit="1"/>
              </p:cNvSpPr>
              <p:nvPr/>
            </p:nvSpPr>
            <p:spPr>
              <a:xfrm>
                <a:off x="749808" y="3657600"/>
                <a:ext cx="5029200" cy="1645920"/>
              </a:xfrm>
              <a:prstGeom prst="rect">
                <a:avLst/>
              </a:prstGeom>
              <a:blipFill>
                <a:blip r:embed="rId3"/>
                <a:stretch>
                  <a:fillRect l="-2788" t="-5185"/>
                </a:stretch>
              </a:blipFill>
              <a:ln/>
            </p:spPr>
            <p:txBody>
              <a:bodyPr/>
              <a:lstStyle/>
              <a:p>
                <a:r>
                  <a:rPr lang="en-US">
                    <a:noFill/>
                  </a:rPr>
                  <a:t> </a:t>
                </a:r>
              </a:p>
            </p:txBody>
          </p:sp>
        </mc:Fallback>
      </mc:AlternateContent>
      <p:sp>
        <p:nvSpPr>
          <p:cNvPr id="15" name="Shape 13"/>
          <p:cNvSpPr/>
          <p:nvPr/>
        </p:nvSpPr>
        <p:spPr>
          <a:xfrm>
            <a:off x="6309360" y="3520440"/>
            <a:ext cx="5440680" cy="1874520"/>
          </a:xfrm>
          <a:prstGeom prst="roundRect">
            <a:avLst>
              <a:gd name="adj" fmla="val 2927"/>
            </a:avLst>
          </a:prstGeom>
          <a:solidFill>
            <a:srgbClr val="F2F5F9"/>
          </a:solidFill>
          <a:ln w="9525">
            <a:solidFill>
              <a:srgbClr val="C3CCD6"/>
            </a:solidFill>
            <a:prstDash val="solid"/>
          </a:ln>
        </p:spPr>
      </p:sp>
      <p:sp>
        <p:nvSpPr>
          <p:cNvPr id="16" name="Text 14"/>
          <p:cNvSpPr txBox="1"/>
          <p:nvPr/>
        </p:nvSpPr>
        <p:spPr>
          <a:xfrm>
            <a:off x="6510528" y="3657600"/>
            <a:ext cx="5029200" cy="1645920"/>
          </a:xfrm>
          <a:prstGeom prst="rect">
            <a:avLst/>
          </a:prstGeom>
          <a:noFill/>
          <a:ln/>
        </p:spPr>
        <p:txBody>
          <a:bodyPr wrap="square" lIns="0" tIns="0" rIns="0" bIns="0" rtlCol="0" anchor="t"/>
          <a:lstStyle/>
          <a:p>
            <a:pPr marL="0" indent="0">
              <a:lnSpc>
                <a:spcPct val="105000"/>
              </a:lnSpc>
              <a:buNone/>
            </a:pPr>
            <a:r>
              <a:rPr lang="en-US" b="1" dirty="0">
                <a:solidFill>
                  <a:srgbClr val="1F3B63"/>
                </a:solidFill>
                <a:latin typeface="Times New Roman"/>
                <a:ea typeface="Times New Roman"/>
                <a:cs typeface="Times New Roman"/>
              </a:rPr>
              <a:t>Detector bandwidth and gain</a:t>
            </a:r>
            <a:endParaRPr lang="en-US" dirty="0">
              <a:latin typeface="Times New Roman"/>
              <a:ea typeface="Times New Roman"/>
              <a:cs typeface="Times New Roman"/>
            </a:endParaRPr>
          </a:p>
          <a:p>
            <a:pPr marL="0" indent="0">
              <a:lnSpc>
                <a:spcPct val="105000"/>
              </a:lnSpc>
              <a:buNone/>
            </a:pPr>
            <a:r>
              <a:rPr lang="en-US" i="1" dirty="0">
                <a:solidFill>
                  <a:srgbClr val="8C1C1C"/>
                </a:solidFill>
                <a:latin typeface="Times New Roman"/>
                <a:ea typeface="Times New Roman"/>
                <a:cs typeface="Times New Roman"/>
              </a:rPr>
              <a:t>f = 1/(2π R18 </a:t>
            </a:r>
            <a:r>
              <a:rPr lang="en-US" i="1" dirty="0" err="1">
                <a:solidFill>
                  <a:srgbClr val="8C1C1C"/>
                </a:solidFill>
                <a:latin typeface="Times New Roman"/>
                <a:ea typeface="Times New Roman"/>
                <a:cs typeface="Times New Roman"/>
              </a:rPr>
              <a:t>C</a:t>
            </a:r>
            <a:r>
              <a:rPr lang="en-US" sz="1200" i="1" dirty="0" err="1">
                <a:solidFill>
                  <a:srgbClr val="8C1C1C"/>
                </a:solidFill>
                <a:latin typeface="Times New Roman"/>
                <a:ea typeface="Times New Roman"/>
                <a:cs typeface="Times New Roman"/>
              </a:rPr>
              <a:t>j</a:t>
            </a:r>
            <a:r>
              <a:rPr lang="en-US" i="1" dirty="0">
                <a:solidFill>
                  <a:srgbClr val="8C1C1C"/>
                </a:solidFill>
                <a:latin typeface="Times New Roman"/>
                <a:ea typeface="Times New Roman"/>
                <a:cs typeface="Times New Roman"/>
              </a:rPr>
              <a:t>) ≈ 13.5 kHz</a:t>
            </a:r>
            <a:endParaRPr lang="en-US" dirty="0">
              <a:latin typeface="Times New Roman"/>
              <a:ea typeface="Times New Roman"/>
              <a:cs typeface="Times New Roman"/>
            </a:endParaRPr>
          </a:p>
          <a:p>
            <a:pPr marL="0" indent="0">
              <a:lnSpc>
                <a:spcPct val="105000"/>
              </a:lnSpc>
              <a:buNone/>
            </a:pPr>
            <a:r>
              <a:rPr lang="en-US" sz="1600" dirty="0">
                <a:solidFill>
                  <a:srgbClr val="17324F"/>
                </a:solidFill>
                <a:latin typeface="Times New Roman"/>
                <a:ea typeface="Times New Roman"/>
                <a:cs typeface="Times New Roman"/>
              </a:rPr>
              <a:t>R18 = 470 Ω balances signal against bandwidth.</a:t>
            </a:r>
            <a:endParaRPr lang="en-US" dirty="0">
              <a:latin typeface="Times New Roman"/>
              <a:ea typeface="Times New Roman"/>
              <a:cs typeface="Times New Roman"/>
            </a:endParaRPr>
          </a:p>
          <a:p>
            <a:pPr marL="0" indent="0">
              <a:lnSpc>
                <a:spcPct val="105000"/>
              </a:lnSpc>
              <a:buNone/>
            </a:pPr>
            <a:r>
              <a:rPr lang="en-US" sz="1600" dirty="0">
                <a:solidFill>
                  <a:srgbClr val="17324F"/>
                </a:solidFill>
                <a:latin typeface="Times New Roman"/>
                <a:ea typeface="Times New Roman"/>
                <a:cs typeface="Times New Roman"/>
              </a:rPr>
              <a:t>U3A gain = 1 + 47k/2.2k ≈ 22; C13 sets a 154 Hz high-pass that rejects 100 Hz lamp flicker.</a:t>
            </a:r>
            <a:endParaRPr lang="en-US" dirty="0">
              <a:latin typeface="Times New Roman"/>
              <a:ea typeface="Times New Roman"/>
              <a:cs typeface="Times New Roman"/>
            </a:endParaRPr>
          </a:p>
        </p:txBody>
      </p:sp>
      <p:sp>
        <p:nvSpPr>
          <p:cNvPr id="17" name="Shape 1">
            <a:extLst>
              <a:ext uri="{FF2B5EF4-FFF2-40B4-BE49-F238E27FC236}">
                <a16:creationId xmlns:a16="http://schemas.microsoft.com/office/drawing/2014/main" id="{F10DB4E7-B610-7142-6D1A-A4C6856BFBAE}"/>
              </a:ext>
            </a:extLst>
          </p:cNvPr>
          <p:cNvSpPr/>
          <p:nvPr/>
        </p:nvSpPr>
        <p:spPr>
          <a:xfrm>
            <a:off x="0" y="6108192"/>
            <a:ext cx="12192000" cy="749808"/>
          </a:xfrm>
          <a:prstGeom prst="rect">
            <a:avLst/>
          </a:prstGeom>
          <a:solidFill>
            <a:srgbClr val="C00000"/>
          </a:solidFill>
          <a:ln/>
        </p:spPr>
      </p:sp>
      <p:sp>
        <p:nvSpPr>
          <p:cNvPr id="18" name="Text 2">
            <a:extLst>
              <a:ext uri="{FF2B5EF4-FFF2-40B4-BE49-F238E27FC236}">
                <a16:creationId xmlns:a16="http://schemas.microsoft.com/office/drawing/2014/main" id="{0D96982D-2ACF-16FE-86A0-94AE4E1CA33A}"/>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9" name="Text 3">
            <a:extLst>
              <a:ext uri="{FF2B5EF4-FFF2-40B4-BE49-F238E27FC236}">
                <a16:creationId xmlns:a16="http://schemas.microsoft.com/office/drawing/2014/main" id="{83C416E9-5461-EB9C-5408-8B90A0AEE36F}"/>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20" name="Text 4">
            <a:extLst>
              <a:ext uri="{FF2B5EF4-FFF2-40B4-BE49-F238E27FC236}">
                <a16:creationId xmlns:a16="http://schemas.microsoft.com/office/drawing/2014/main" id="{91F11B97-D9E5-DA6C-AAAD-70B9A7C9B518}"/>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2206119</a:t>
            </a:r>
            <a:endParaRPr lang="en-US" sz="1600" dirty="0">
              <a:latin typeface="Times New Roman"/>
              <a:ea typeface="Times New Roman"/>
              <a:cs typeface="Times New Roman"/>
            </a:endParaRPr>
          </a:p>
        </p:txBody>
      </p:sp>
      <p:sp>
        <p:nvSpPr>
          <p:cNvPr id="21" name="Text 5">
            <a:extLst>
              <a:ext uri="{FF2B5EF4-FFF2-40B4-BE49-F238E27FC236}">
                <a16:creationId xmlns:a16="http://schemas.microsoft.com/office/drawing/2014/main" id="{D891B475-D8B8-30A9-8BE0-23B3233C5706}"/>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7</a:t>
            </a:r>
            <a:endParaRPr lang="en-US" sz="1600" dirty="0">
              <a:latin typeface="Times New Roman"/>
              <a:ea typeface="Times New Roman"/>
              <a:cs typeface="Times New Roman"/>
            </a:endParaRPr>
          </a:p>
        </p:txBody>
      </p:sp>
      <p:pic>
        <p:nvPicPr>
          <p:cNvPr id="22" name="Picture 21">
            <a:extLst>
              <a:ext uri="{FF2B5EF4-FFF2-40B4-BE49-F238E27FC236}">
                <a16:creationId xmlns:a16="http://schemas.microsoft.com/office/drawing/2014/main" id="{83488088-3FCC-6690-C22E-0E6DECCEC0F1}"/>
              </a:ext>
            </a:extLst>
          </p:cNvPr>
          <p:cNvPicPr>
            <a:picLocks noChangeAspect="1"/>
          </p:cNvPicPr>
          <p:nvPr/>
        </p:nvPicPr>
        <p:blipFill>
          <a:blip r:embed="rId4"/>
          <a:stretch>
            <a:fillRect/>
          </a:stretch>
        </p:blipFill>
        <p:spPr>
          <a:xfrm>
            <a:off x="3109" y="6159218"/>
            <a:ext cx="739389" cy="647756"/>
          </a:xfrm>
          <a:prstGeom prst="rect">
            <a:avLst/>
          </a:prstGeom>
        </p:spPr>
      </p:pic>
    </p:spTree>
    <p:extLst>
      <p:ext uri="{BB962C8B-B14F-4D97-AF65-F5344CB8AC3E}">
        <p14:creationId xmlns:p14="http://schemas.microsoft.com/office/powerpoint/2010/main" val="1025652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3.2  Design: Circuit Diagram</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8</a:t>
            </a:r>
            <a:endParaRPr lang="en-US" sz="1100" dirty="0">
              <a:latin typeface="Times New Roman"/>
              <a:ea typeface="Times New Roman"/>
              <a:cs typeface="Times New Roman"/>
            </a:endParaRPr>
          </a:p>
        </p:txBody>
      </p:sp>
      <p:pic>
        <p:nvPicPr>
          <p:cNvPr id="8" name="Image 0" descr="/home/claude/fig/pspice_schematic.jpg"/>
          <p:cNvPicPr>
            <a:picLocks noChangeAspect="1"/>
          </p:cNvPicPr>
          <p:nvPr/>
        </p:nvPicPr>
        <p:blipFill>
          <a:blip r:embed="rId3"/>
          <a:srcRect b="5000"/>
          <a:stretch>
            <a:fillRect/>
          </a:stretch>
        </p:blipFill>
        <p:spPr>
          <a:xfrm>
            <a:off x="1903445" y="905443"/>
            <a:ext cx="8117633" cy="4591507"/>
          </a:xfrm>
          <a:prstGeom prst="rect">
            <a:avLst/>
          </a:prstGeom>
        </p:spPr>
      </p:pic>
      <p:sp>
        <p:nvSpPr>
          <p:cNvPr id="9" name="Text 6"/>
          <p:cNvSpPr txBox="1"/>
          <p:nvPr/>
        </p:nvSpPr>
        <p:spPr>
          <a:xfrm>
            <a:off x="228600" y="5477256"/>
            <a:ext cx="1170432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Complete link: transmitter (top) and receiver (bottom). F1 models the optical channel as a current-controlled current source.</a:t>
            </a:r>
            <a:endParaRPr lang="en-US" sz="1050" dirty="0">
              <a:latin typeface="Times New Roman"/>
              <a:ea typeface="Times New Roman"/>
              <a:cs typeface="Times New Roman"/>
            </a:endParaRPr>
          </a:p>
        </p:txBody>
      </p:sp>
      <p:sp>
        <p:nvSpPr>
          <p:cNvPr id="10" name="Shape 1">
            <a:extLst>
              <a:ext uri="{FF2B5EF4-FFF2-40B4-BE49-F238E27FC236}">
                <a16:creationId xmlns:a16="http://schemas.microsoft.com/office/drawing/2014/main" id="{9E9DFEC3-45DF-E892-D692-2D2096B93BED}"/>
              </a:ext>
            </a:extLst>
          </p:cNvPr>
          <p:cNvSpPr/>
          <p:nvPr/>
        </p:nvSpPr>
        <p:spPr>
          <a:xfrm>
            <a:off x="0" y="6108192"/>
            <a:ext cx="12192000" cy="749808"/>
          </a:xfrm>
          <a:prstGeom prst="rect">
            <a:avLst/>
          </a:prstGeom>
          <a:solidFill>
            <a:srgbClr val="C00000"/>
          </a:solidFill>
          <a:ln/>
        </p:spPr>
      </p:sp>
      <p:sp>
        <p:nvSpPr>
          <p:cNvPr id="11" name="Text 2">
            <a:extLst>
              <a:ext uri="{FF2B5EF4-FFF2-40B4-BE49-F238E27FC236}">
                <a16:creationId xmlns:a16="http://schemas.microsoft.com/office/drawing/2014/main" id="{BE8CBC00-60B7-8B77-1D48-1CFE8680960A}"/>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2" name="Text 3">
            <a:extLst>
              <a:ext uri="{FF2B5EF4-FFF2-40B4-BE49-F238E27FC236}">
                <a16:creationId xmlns:a16="http://schemas.microsoft.com/office/drawing/2014/main" id="{AEE58D93-0CDF-69D7-89A2-5BC6CA0523C7}"/>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3" name="Text 4">
            <a:extLst>
              <a:ext uri="{FF2B5EF4-FFF2-40B4-BE49-F238E27FC236}">
                <a16:creationId xmlns:a16="http://schemas.microsoft.com/office/drawing/2014/main" id="{7BDB3AFA-2705-D8A6-D4B8-EF45C4FAB261}"/>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2206119</a:t>
            </a:r>
            <a:endParaRPr lang="en-US" sz="1600" dirty="0">
              <a:latin typeface="Times New Roman"/>
              <a:ea typeface="Times New Roman"/>
              <a:cs typeface="Times New Roman"/>
            </a:endParaRPr>
          </a:p>
        </p:txBody>
      </p:sp>
      <p:sp>
        <p:nvSpPr>
          <p:cNvPr id="14" name="Text 5">
            <a:extLst>
              <a:ext uri="{FF2B5EF4-FFF2-40B4-BE49-F238E27FC236}">
                <a16:creationId xmlns:a16="http://schemas.microsoft.com/office/drawing/2014/main" id="{EBE719EF-0A1D-0965-AC91-6EB13DA6EAE2}"/>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8</a:t>
            </a:r>
            <a:endParaRPr lang="en-US" sz="1600" dirty="0">
              <a:latin typeface="Times New Roman"/>
              <a:ea typeface="Times New Roman"/>
              <a:cs typeface="Times New Roman"/>
            </a:endParaRPr>
          </a:p>
        </p:txBody>
      </p:sp>
      <p:pic>
        <p:nvPicPr>
          <p:cNvPr id="15" name="Picture 14">
            <a:extLst>
              <a:ext uri="{FF2B5EF4-FFF2-40B4-BE49-F238E27FC236}">
                <a16:creationId xmlns:a16="http://schemas.microsoft.com/office/drawing/2014/main" id="{26A59A18-C913-762B-E6B8-2A061DAC4CDB}"/>
              </a:ext>
            </a:extLst>
          </p:cNvPr>
          <p:cNvPicPr>
            <a:picLocks noChangeAspect="1"/>
          </p:cNvPicPr>
          <p:nvPr/>
        </p:nvPicPr>
        <p:blipFill>
          <a:blip r:embed="rId4"/>
          <a:stretch>
            <a:fillRect/>
          </a:stretch>
        </p:blipFill>
        <p:spPr>
          <a:xfrm>
            <a:off x="3109" y="6159218"/>
            <a:ext cx="739389" cy="647756"/>
          </a:xfrm>
          <a:prstGeom prst="rect">
            <a:avLst/>
          </a:prstGeom>
        </p:spPr>
      </p:pic>
    </p:spTree>
    <p:extLst>
      <p:ext uri="{BB962C8B-B14F-4D97-AF65-F5344CB8AC3E}">
        <p14:creationId xmlns:p14="http://schemas.microsoft.com/office/powerpoint/2010/main" val="3035761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3.2  Design: Power Supply</a:t>
            </a:r>
            <a:endParaRPr lang="en-US" sz="4400" dirty="0">
              <a:latin typeface="Times New Roman"/>
              <a:ea typeface="Times New Roman"/>
              <a:cs typeface="Times New Roman"/>
            </a:endParaRPr>
          </a:p>
        </p:txBody>
      </p:sp>
      <p:sp>
        <p:nvSpPr>
          <p:cNvPr id="3" name="Text 1"/>
          <p:cNvSpPr txBox="1"/>
          <p:nvPr/>
        </p:nvSpPr>
        <p:spPr>
          <a:xfrm>
            <a:off x="438912" y="841248"/>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Bench supply built by the group</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9</a:t>
            </a:r>
            <a:endParaRPr lang="en-US" sz="1100" dirty="0">
              <a:latin typeface="Times New Roman"/>
              <a:ea typeface="Times New Roman"/>
              <a:cs typeface="Times New Roman"/>
            </a:endParaRPr>
          </a:p>
        </p:txBody>
      </p:sp>
      <p:pic>
        <p:nvPicPr>
          <p:cNvPr id="9" name="Image 0" descr="/home/claude/fig/psu_schematic.jpg"/>
          <p:cNvPicPr>
            <a:picLocks noChangeAspect="1"/>
          </p:cNvPicPr>
          <p:nvPr/>
        </p:nvPicPr>
        <p:blipFill>
          <a:blip r:embed="rId3"/>
          <a:srcRect t="21000" b="25000"/>
          <a:stretch>
            <a:fillRect/>
          </a:stretch>
        </p:blipFill>
        <p:spPr>
          <a:xfrm>
            <a:off x="508000" y="1625600"/>
            <a:ext cx="6667500" cy="2635250"/>
          </a:xfrm>
          <a:prstGeom prst="rect">
            <a:avLst/>
          </a:prstGeom>
        </p:spPr>
      </p:pic>
      <p:sp>
        <p:nvSpPr>
          <p:cNvPr id="10" name="Text 7"/>
          <p:cNvSpPr txBox="1"/>
          <p:nvPr/>
        </p:nvSpPr>
        <p:spPr>
          <a:xfrm>
            <a:off x="7498080" y="1554480"/>
            <a:ext cx="4297680" cy="47548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7324F"/>
                </a:solidFill>
                <a:latin typeface="Times New Roman"/>
                <a:ea typeface="Times New Roman"/>
                <a:cs typeface="Times New Roman"/>
              </a:rPr>
              <a:t>12 V step-down transformer with a 1N4007 bridge rectifier.</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1000 µF reservoir capacitor, then an LM317 adjustable regulator.</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A fixed 7809 regulator provides the 9 V rail for the boards.</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Transmitter and receiver are powered separately — no common ground path, which removes hum from the audio.</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Measured: transmitter 8.83 V; receiver 7.96 V at 10.48 mA.</a:t>
            </a:r>
            <a:endParaRPr lang="en-US" sz="1600" dirty="0">
              <a:latin typeface="Times New Roman"/>
              <a:ea typeface="Times New Roman"/>
              <a:cs typeface="Times New Roman"/>
            </a:endParaRPr>
          </a:p>
        </p:txBody>
      </p:sp>
      <p:sp>
        <p:nvSpPr>
          <p:cNvPr id="11" name="Shape 1">
            <a:extLst>
              <a:ext uri="{FF2B5EF4-FFF2-40B4-BE49-F238E27FC236}">
                <a16:creationId xmlns:a16="http://schemas.microsoft.com/office/drawing/2014/main" id="{4DF0BD11-CAE5-B527-1B9F-FE5EFA736BC8}"/>
              </a:ext>
            </a:extLst>
          </p:cNvPr>
          <p:cNvSpPr/>
          <p:nvPr/>
        </p:nvSpPr>
        <p:spPr>
          <a:xfrm>
            <a:off x="0" y="6108192"/>
            <a:ext cx="12192000" cy="749808"/>
          </a:xfrm>
          <a:prstGeom prst="rect">
            <a:avLst/>
          </a:prstGeom>
          <a:solidFill>
            <a:srgbClr val="C00000"/>
          </a:solidFill>
          <a:ln/>
        </p:spPr>
      </p:sp>
      <p:sp>
        <p:nvSpPr>
          <p:cNvPr id="12" name="Text 2">
            <a:extLst>
              <a:ext uri="{FF2B5EF4-FFF2-40B4-BE49-F238E27FC236}">
                <a16:creationId xmlns:a16="http://schemas.microsoft.com/office/drawing/2014/main" id="{6B0DB985-CD20-F005-8438-1D36DDE5A6FC}"/>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3" name="Text 3">
            <a:extLst>
              <a:ext uri="{FF2B5EF4-FFF2-40B4-BE49-F238E27FC236}">
                <a16:creationId xmlns:a16="http://schemas.microsoft.com/office/drawing/2014/main" id="{DBA92136-F7AF-5D2E-E2CC-61C253DFCE28}"/>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4" name="Text 4">
            <a:extLst>
              <a:ext uri="{FF2B5EF4-FFF2-40B4-BE49-F238E27FC236}">
                <a16:creationId xmlns:a16="http://schemas.microsoft.com/office/drawing/2014/main" id="{1A2F74AC-C433-E1C9-5E9B-C48A72285B2E}"/>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2206119</a:t>
            </a:r>
            <a:endParaRPr lang="en-US" sz="1600" dirty="0">
              <a:latin typeface="Times New Roman"/>
              <a:ea typeface="Times New Roman"/>
              <a:cs typeface="Times New Roman"/>
            </a:endParaRPr>
          </a:p>
        </p:txBody>
      </p:sp>
      <p:sp>
        <p:nvSpPr>
          <p:cNvPr id="15" name="Text 5">
            <a:extLst>
              <a:ext uri="{FF2B5EF4-FFF2-40B4-BE49-F238E27FC236}">
                <a16:creationId xmlns:a16="http://schemas.microsoft.com/office/drawing/2014/main" id="{5EE0A0DC-7848-B9B3-6896-62A39AB84101}"/>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9</a:t>
            </a:r>
            <a:endParaRPr lang="en-US" sz="1600" dirty="0">
              <a:latin typeface="Times New Roman"/>
              <a:ea typeface="Times New Roman"/>
              <a:cs typeface="Times New Roman"/>
            </a:endParaRPr>
          </a:p>
        </p:txBody>
      </p:sp>
      <p:pic>
        <p:nvPicPr>
          <p:cNvPr id="16" name="Picture 15">
            <a:extLst>
              <a:ext uri="{FF2B5EF4-FFF2-40B4-BE49-F238E27FC236}">
                <a16:creationId xmlns:a16="http://schemas.microsoft.com/office/drawing/2014/main" id="{1B163A79-9A3D-E3BB-BEC7-680E177443B9}"/>
              </a:ext>
            </a:extLst>
          </p:cNvPr>
          <p:cNvPicPr>
            <a:picLocks noChangeAspect="1"/>
          </p:cNvPicPr>
          <p:nvPr/>
        </p:nvPicPr>
        <p:blipFill>
          <a:blip r:embed="rId4"/>
          <a:stretch>
            <a:fillRect/>
          </a:stretch>
        </p:blipFill>
        <p:spPr>
          <a:xfrm>
            <a:off x="3109" y="6159218"/>
            <a:ext cx="739389" cy="647756"/>
          </a:xfrm>
          <a:prstGeom prst="rect">
            <a:avLst/>
          </a:prstGeom>
        </p:spPr>
      </p:pic>
    </p:spTree>
    <p:extLst>
      <p:ext uri="{BB962C8B-B14F-4D97-AF65-F5344CB8AC3E}">
        <p14:creationId xmlns:p14="http://schemas.microsoft.com/office/powerpoint/2010/main" val="3044799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3.3  Design: Simulation</a:t>
            </a:r>
            <a:endParaRPr lang="en-US" sz="4400" dirty="0">
              <a:latin typeface="Times New Roman"/>
              <a:ea typeface="Times New Roman"/>
              <a:cs typeface="Times New Roman"/>
            </a:endParaRPr>
          </a:p>
        </p:txBody>
      </p:sp>
      <p:sp>
        <p:nvSpPr>
          <p:cNvPr id="3" name="Text 1"/>
          <p:cNvSpPr txBox="1"/>
          <p:nvPr/>
        </p:nvSpPr>
        <p:spPr>
          <a:xfrm>
            <a:off x="438912" y="841248"/>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Bias point analysis</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10</a:t>
            </a:r>
            <a:endParaRPr lang="en-US" sz="1100" dirty="0">
              <a:latin typeface="Times New Roman"/>
              <a:ea typeface="Times New Roman"/>
              <a:cs typeface="Times New Roman"/>
            </a:endParaRPr>
          </a:p>
        </p:txBody>
      </p:sp>
      <p:pic>
        <p:nvPicPr>
          <p:cNvPr id="9" name="Image 0" descr="/home/claude/fig/pspice_bias.jpg"/>
          <p:cNvPicPr>
            <a:picLocks noChangeAspect="1"/>
          </p:cNvPicPr>
          <p:nvPr/>
        </p:nvPicPr>
        <p:blipFill>
          <a:blip r:embed="rId3"/>
          <a:srcRect b="3000"/>
          <a:stretch>
            <a:fillRect/>
          </a:stretch>
        </p:blipFill>
        <p:spPr>
          <a:xfrm>
            <a:off x="914400" y="1282700"/>
            <a:ext cx="6769100" cy="4348607"/>
          </a:xfrm>
          <a:prstGeom prst="rect">
            <a:avLst/>
          </a:prstGeom>
        </p:spPr>
      </p:pic>
      <p:sp>
        <p:nvSpPr>
          <p:cNvPr id="10" name="Text 7"/>
          <p:cNvSpPr txBox="1"/>
          <p:nvPr/>
        </p:nvSpPr>
        <p:spPr>
          <a:xfrm>
            <a:off x="8412480" y="1554480"/>
            <a:ext cx="3429000" cy="47548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7324F"/>
                </a:solidFill>
                <a:latin typeface="Times New Roman"/>
                <a:ea typeface="Times New Roman"/>
                <a:cs typeface="Times New Roman"/>
              </a:rPr>
              <a:t>Mid-rail reference sits at 4.500 V, as designed.</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U2 pin 3 at 1.154 V and Q1 emitter at 1.155 V — the current feedback loop is closing correctly.</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Simulated laser current: 1.155 V / 38 Ω ≈ 30 mA, above threshold and below the 40 mA rating.</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Q1 stays in the active region with adequate collector-emitter headroom.</a:t>
            </a:r>
            <a:endParaRPr lang="en-US" sz="1600" dirty="0">
              <a:latin typeface="Times New Roman"/>
              <a:ea typeface="Times New Roman"/>
              <a:cs typeface="Times New Roman"/>
            </a:endParaRPr>
          </a:p>
        </p:txBody>
      </p:sp>
      <p:sp>
        <p:nvSpPr>
          <p:cNvPr id="11" name="Shape 1">
            <a:extLst>
              <a:ext uri="{FF2B5EF4-FFF2-40B4-BE49-F238E27FC236}">
                <a16:creationId xmlns:a16="http://schemas.microsoft.com/office/drawing/2014/main" id="{6FA529CA-1227-F858-24D8-B78B33AC0F3C}"/>
              </a:ext>
            </a:extLst>
          </p:cNvPr>
          <p:cNvSpPr/>
          <p:nvPr/>
        </p:nvSpPr>
        <p:spPr>
          <a:xfrm>
            <a:off x="0" y="6108192"/>
            <a:ext cx="12192000" cy="749808"/>
          </a:xfrm>
          <a:prstGeom prst="rect">
            <a:avLst/>
          </a:prstGeom>
          <a:solidFill>
            <a:srgbClr val="C00000"/>
          </a:solidFill>
          <a:ln/>
        </p:spPr>
      </p:sp>
      <p:sp>
        <p:nvSpPr>
          <p:cNvPr id="12" name="Text 2">
            <a:extLst>
              <a:ext uri="{FF2B5EF4-FFF2-40B4-BE49-F238E27FC236}">
                <a16:creationId xmlns:a16="http://schemas.microsoft.com/office/drawing/2014/main" id="{2A7A83F0-2A3B-3E6B-EFF1-04886A24ED2F}"/>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3" name="Text 3">
            <a:extLst>
              <a:ext uri="{FF2B5EF4-FFF2-40B4-BE49-F238E27FC236}">
                <a16:creationId xmlns:a16="http://schemas.microsoft.com/office/drawing/2014/main" id="{4B8C0C74-B724-A178-BE87-31D7B644C6A0}"/>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4" name="Text 4">
            <a:extLst>
              <a:ext uri="{FF2B5EF4-FFF2-40B4-BE49-F238E27FC236}">
                <a16:creationId xmlns:a16="http://schemas.microsoft.com/office/drawing/2014/main" id="{CB94B6E2-5263-0C43-E1AE-335EB4D7F711}"/>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2206119</a:t>
            </a:r>
            <a:endParaRPr lang="en-US" sz="1600" dirty="0">
              <a:latin typeface="Times New Roman"/>
              <a:ea typeface="Times New Roman"/>
              <a:cs typeface="Times New Roman"/>
            </a:endParaRPr>
          </a:p>
        </p:txBody>
      </p:sp>
      <p:sp>
        <p:nvSpPr>
          <p:cNvPr id="15" name="Text 5">
            <a:extLst>
              <a:ext uri="{FF2B5EF4-FFF2-40B4-BE49-F238E27FC236}">
                <a16:creationId xmlns:a16="http://schemas.microsoft.com/office/drawing/2014/main" id="{15506A53-C41A-0657-6485-F3A8D88328F5}"/>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10</a:t>
            </a:r>
            <a:endParaRPr lang="en-US" sz="1600" dirty="0">
              <a:latin typeface="Times New Roman"/>
              <a:ea typeface="Times New Roman"/>
              <a:cs typeface="Times New Roman"/>
            </a:endParaRPr>
          </a:p>
        </p:txBody>
      </p:sp>
      <p:pic>
        <p:nvPicPr>
          <p:cNvPr id="16" name="Picture 15">
            <a:extLst>
              <a:ext uri="{FF2B5EF4-FFF2-40B4-BE49-F238E27FC236}">
                <a16:creationId xmlns:a16="http://schemas.microsoft.com/office/drawing/2014/main" id="{ED238D7F-7EEF-6E37-6AAC-BFB4327E0111}"/>
              </a:ext>
            </a:extLst>
          </p:cNvPr>
          <p:cNvPicPr>
            <a:picLocks noChangeAspect="1"/>
          </p:cNvPicPr>
          <p:nvPr/>
        </p:nvPicPr>
        <p:blipFill>
          <a:blip r:embed="rId4"/>
          <a:stretch>
            <a:fillRect/>
          </a:stretch>
        </p:blipFill>
        <p:spPr>
          <a:xfrm>
            <a:off x="3109" y="6159218"/>
            <a:ext cx="739389" cy="647756"/>
          </a:xfrm>
          <a:prstGeom prst="rect">
            <a:avLst/>
          </a:prstGeom>
        </p:spPr>
      </p:pic>
    </p:spTree>
    <p:extLst>
      <p:ext uri="{BB962C8B-B14F-4D97-AF65-F5344CB8AC3E}">
        <p14:creationId xmlns:p14="http://schemas.microsoft.com/office/powerpoint/2010/main" val="334526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3.3  Design: Simulation</a:t>
            </a:r>
            <a:endParaRPr lang="en-US" sz="4400" dirty="0">
              <a:latin typeface="Times New Roman"/>
              <a:ea typeface="Times New Roman"/>
              <a:cs typeface="Times New Roman"/>
            </a:endParaRPr>
          </a:p>
        </p:txBody>
      </p:sp>
      <p:sp>
        <p:nvSpPr>
          <p:cNvPr id="3" name="Text 1"/>
          <p:cNvSpPr txBox="1"/>
          <p:nvPr/>
        </p:nvSpPr>
        <p:spPr>
          <a:xfrm>
            <a:off x="438912" y="841248"/>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Frequency and transient response</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11</a:t>
            </a:r>
            <a:endParaRPr lang="en-US" sz="1100" dirty="0">
              <a:latin typeface="Times New Roman"/>
              <a:ea typeface="Times New Roman"/>
              <a:cs typeface="Times New Roman"/>
            </a:endParaRPr>
          </a:p>
        </p:txBody>
      </p:sp>
      <p:pic>
        <p:nvPicPr>
          <p:cNvPr id="9" name="Image 0" descr="/home/claude/fig/pspice_ac.jpg"/>
          <p:cNvPicPr>
            <a:picLocks noChangeAspect="1"/>
          </p:cNvPicPr>
          <p:nvPr/>
        </p:nvPicPr>
        <p:blipFill>
          <a:blip r:embed="rId3"/>
          <a:stretch>
            <a:fillRect/>
          </a:stretch>
        </p:blipFill>
        <p:spPr>
          <a:xfrm>
            <a:off x="457200" y="1263515"/>
            <a:ext cx="5762356" cy="2264426"/>
          </a:xfrm>
          <a:prstGeom prst="rect">
            <a:avLst/>
          </a:prstGeom>
        </p:spPr>
      </p:pic>
      <p:sp>
        <p:nvSpPr>
          <p:cNvPr id="10" name="Text 7"/>
          <p:cNvSpPr txBox="1"/>
          <p:nvPr/>
        </p:nvSpPr>
        <p:spPr>
          <a:xfrm>
            <a:off x="228600" y="3527941"/>
            <a:ext cx="612648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AC sweep of the whole link</a:t>
            </a:r>
            <a:endParaRPr lang="en-US" sz="1050" dirty="0">
              <a:latin typeface="Times New Roman"/>
              <a:ea typeface="Times New Roman"/>
              <a:cs typeface="Times New Roman"/>
            </a:endParaRPr>
          </a:p>
        </p:txBody>
      </p:sp>
      <p:pic>
        <p:nvPicPr>
          <p:cNvPr id="11" name="Image 1" descr="/home/claude/fig/pspice_tran.jpg"/>
          <p:cNvPicPr>
            <a:picLocks noChangeAspect="1"/>
          </p:cNvPicPr>
          <p:nvPr/>
        </p:nvPicPr>
        <p:blipFill>
          <a:blip r:embed="rId4"/>
          <a:stretch>
            <a:fillRect/>
          </a:stretch>
        </p:blipFill>
        <p:spPr>
          <a:xfrm>
            <a:off x="6309360" y="1299448"/>
            <a:ext cx="5486400" cy="2155984"/>
          </a:xfrm>
          <a:prstGeom prst="rect">
            <a:avLst/>
          </a:prstGeom>
        </p:spPr>
      </p:pic>
      <p:sp>
        <p:nvSpPr>
          <p:cNvPr id="12" name="Text 8"/>
          <p:cNvSpPr txBox="1"/>
          <p:nvPr/>
        </p:nvSpPr>
        <p:spPr>
          <a:xfrm>
            <a:off x="6080760" y="3492008"/>
            <a:ext cx="594360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Transient: input vs recovered output</a:t>
            </a:r>
            <a:endParaRPr lang="en-US" sz="1050" dirty="0">
              <a:latin typeface="Times New Roman"/>
              <a:ea typeface="Times New Roman"/>
              <a:cs typeface="Times New Roman"/>
            </a:endParaRPr>
          </a:p>
        </p:txBody>
      </p:sp>
      <p:sp>
        <p:nvSpPr>
          <p:cNvPr id="13" name="Text 9"/>
          <p:cNvSpPr txBox="1"/>
          <p:nvPr/>
        </p:nvSpPr>
        <p:spPr>
          <a:xfrm>
            <a:off x="548640" y="4069080"/>
            <a:ext cx="11247120" cy="475488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17324F"/>
                </a:solidFill>
                <a:latin typeface="Times New Roman"/>
                <a:ea typeface="Times New Roman"/>
                <a:cs typeface="Times New Roman"/>
              </a:rPr>
              <a:t>The passband is flat through the mid-band; the receiver filter sets the upper corner near 10.7 kHz.</a:t>
            </a:r>
            <a:endParaRPr lang="en-US" sz="1600" dirty="0">
              <a:latin typeface="Times New Roman"/>
              <a:ea typeface="Times New Roman"/>
              <a:cs typeface="Times New Roman"/>
            </a:endParaRPr>
          </a:p>
          <a:p>
            <a:pPr marL="228600" indent="-228600">
              <a:spcAft>
                <a:spcPts val="600"/>
              </a:spcAft>
              <a:buSzPct val="100000"/>
              <a:buChar char="•"/>
            </a:pPr>
            <a:r>
              <a:rPr lang="en-US" sz="1600" dirty="0">
                <a:solidFill>
                  <a:srgbClr val="17324F"/>
                </a:solidFill>
                <a:latin typeface="Times New Roman"/>
                <a:ea typeface="Times New Roman"/>
                <a:cs typeface="Times New Roman"/>
              </a:rPr>
              <a:t>Below a few hundred hertz the AC-coupling networks roll the response off — this is what rejects ambient-light flicker.</a:t>
            </a:r>
            <a:endParaRPr lang="en-US" sz="1600" dirty="0">
              <a:latin typeface="Times New Roman"/>
              <a:ea typeface="Times New Roman"/>
              <a:cs typeface="Times New Roman"/>
            </a:endParaRPr>
          </a:p>
          <a:p>
            <a:pPr marL="228600" indent="-228600">
              <a:spcAft>
                <a:spcPts val="600"/>
              </a:spcAft>
              <a:buSzPct val="100000"/>
              <a:buChar char="•"/>
            </a:pPr>
            <a:r>
              <a:rPr lang="en-US" sz="1600" dirty="0">
                <a:solidFill>
                  <a:srgbClr val="17324F"/>
                </a:solidFill>
                <a:latin typeface="Times New Roman"/>
                <a:ea typeface="Times New Roman"/>
                <a:cs typeface="Times New Roman"/>
              </a:rPr>
              <a:t>The recovered transient waveform is a clean sinusoid with no flattening of either peak: the laser stays above threshold and no stage clips.</a:t>
            </a:r>
            <a:endParaRPr lang="en-US" sz="1600" dirty="0">
              <a:latin typeface="Times New Roman"/>
              <a:ea typeface="Times New Roman"/>
              <a:cs typeface="Times New Roman"/>
            </a:endParaRPr>
          </a:p>
        </p:txBody>
      </p:sp>
      <p:sp>
        <p:nvSpPr>
          <p:cNvPr id="14" name="Shape 1">
            <a:extLst>
              <a:ext uri="{FF2B5EF4-FFF2-40B4-BE49-F238E27FC236}">
                <a16:creationId xmlns:a16="http://schemas.microsoft.com/office/drawing/2014/main" id="{AD909B83-1AE2-2CC3-9E85-6202553270C5}"/>
              </a:ext>
            </a:extLst>
          </p:cNvPr>
          <p:cNvSpPr/>
          <p:nvPr/>
        </p:nvSpPr>
        <p:spPr>
          <a:xfrm>
            <a:off x="0" y="6108192"/>
            <a:ext cx="12192000" cy="749808"/>
          </a:xfrm>
          <a:prstGeom prst="rect">
            <a:avLst/>
          </a:prstGeom>
          <a:solidFill>
            <a:srgbClr val="C00000"/>
          </a:solidFill>
          <a:ln/>
        </p:spPr>
      </p:sp>
      <p:sp>
        <p:nvSpPr>
          <p:cNvPr id="15" name="Text 2">
            <a:extLst>
              <a:ext uri="{FF2B5EF4-FFF2-40B4-BE49-F238E27FC236}">
                <a16:creationId xmlns:a16="http://schemas.microsoft.com/office/drawing/2014/main" id="{ACA7C3E6-777C-83AD-2B3B-E9158AA0F2FD}"/>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6" name="Text 3">
            <a:extLst>
              <a:ext uri="{FF2B5EF4-FFF2-40B4-BE49-F238E27FC236}">
                <a16:creationId xmlns:a16="http://schemas.microsoft.com/office/drawing/2014/main" id="{23459E5C-1DD2-B55C-BBF0-FBF7F9902DC7}"/>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7" name="Text 4">
            <a:extLst>
              <a:ext uri="{FF2B5EF4-FFF2-40B4-BE49-F238E27FC236}">
                <a16:creationId xmlns:a16="http://schemas.microsoft.com/office/drawing/2014/main" id="{3781D307-B7F1-6F20-3FB0-C242AD801E68}"/>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2206119</a:t>
            </a:r>
            <a:endParaRPr lang="en-US" sz="1600" dirty="0">
              <a:latin typeface="Times New Roman"/>
              <a:ea typeface="Times New Roman"/>
              <a:cs typeface="Times New Roman"/>
            </a:endParaRPr>
          </a:p>
        </p:txBody>
      </p:sp>
      <p:sp>
        <p:nvSpPr>
          <p:cNvPr id="18" name="Text 5">
            <a:extLst>
              <a:ext uri="{FF2B5EF4-FFF2-40B4-BE49-F238E27FC236}">
                <a16:creationId xmlns:a16="http://schemas.microsoft.com/office/drawing/2014/main" id="{3047F63E-C6CA-E954-D85A-471A72755507}"/>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11</a:t>
            </a:r>
            <a:endParaRPr lang="en-US" sz="1600" dirty="0">
              <a:latin typeface="Times New Roman"/>
              <a:ea typeface="Times New Roman"/>
              <a:cs typeface="Times New Roman"/>
            </a:endParaRPr>
          </a:p>
        </p:txBody>
      </p:sp>
      <p:pic>
        <p:nvPicPr>
          <p:cNvPr id="19" name="Picture 18">
            <a:extLst>
              <a:ext uri="{FF2B5EF4-FFF2-40B4-BE49-F238E27FC236}">
                <a16:creationId xmlns:a16="http://schemas.microsoft.com/office/drawing/2014/main" id="{C8DACEA7-FB9F-8112-1CCB-04098FFB0D11}"/>
              </a:ext>
            </a:extLst>
          </p:cNvPr>
          <p:cNvPicPr>
            <a:picLocks noChangeAspect="1"/>
          </p:cNvPicPr>
          <p:nvPr/>
        </p:nvPicPr>
        <p:blipFill>
          <a:blip r:embed="rId5"/>
          <a:stretch>
            <a:fillRect/>
          </a:stretch>
        </p:blipFill>
        <p:spPr>
          <a:xfrm>
            <a:off x="3109" y="6159218"/>
            <a:ext cx="739389" cy="647756"/>
          </a:xfrm>
          <a:prstGeom prst="rect">
            <a:avLst/>
          </a:prstGeom>
        </p:spPr>
      </p:pic>
    </p:spTree>
    <p:extLst>
      <p:ext uri="{BB962C8B-B14F-4D97-AF65-F5344CB8AC3E}">
        <p14:creationId xmlns:p14="http://schemas.microsoft.com/office/powerpoint/2010/main" val="3387054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3.4  Design: Hardware Implementation</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12</a:t>
            </a:r>
            <a:endParaRPr lang="en-US" sz="1100" dirty="0">
              <a:latin typeface="Times New Roman"/>
              <a:ea typeface="Times New Roman"/>
              <a:cs typeface="Times New Roman"/>
            </a:endParaRPr>
          </a:p>
        </p:txBody>
      </p:sp>
      <p:pic>
        <p:nvPicPr>
          <p:cNvPr id="8" name="Image 0" descr="/home/claude/fig/tx_board_live.jpg"/>
          <p:cNvPicPr>
            <a:picLocks noChangeAspect="1"/>
          </p:cNvPicPr>
          <p:nvPr/>
        </p:nvPicPr>
        <p:blipFill>
          <a:blip r:embed="rId3"/>
          <a:stretch>
            <a:fillRect/>
          </a:stretch>
        </p:blipFill>
        <p:spPr>
          <a:xfrm>
            <a:off x="635971" y="1325880"/>
            <a:ext cx="5220298" cy="3566160"/>
          </a:xfrm>
          <a:prstGeom prst="rect">
            <a:avLst/>
          </a:prstGeom>
        </p:spPr>
      </p:pic>
      <p:sp>
        <p:nvSpPr>
          <p:cNvPr id="9" name="Text 6"/>
          <p:cNvSpPr txBox="1"/>
          <p:nvPr/>
        </p:nvSpPr>
        <p:spPr>
          <a:xfrm>
            <a:off x="228600" y="4852500"/>
            <a:ext cx="603504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Transmitter board — laser module under modulation</a:t>
            </a:r>
            <a:endParaRPr lang="en-US" sz="1400" dirty="0">
              <a:latin typeface="Times New Roman"/>
              <a:ea typeface="Times New Roman"/>
              <a:cs typeface="Times New Roman"/>
            </a:endParaRPr>
          </a:p>
        </p:txBody>
      </p:sp>
      <p:pic>
        <p:nvPicPr>
          <p:cNvPr id="10" name="Image 1" descr="/home/claude/fig/rx_board.jpg"/>
          <p:cNvPicPr>
            <a:picLocks noChangeAspect="1"/>
          </p:cNvPicPr>
          <p:nvPr/>
        </p:nvPicPr>
        <p:blipFill>
          <a:blip r:embed="rId4"/>
          <a:stretch>
            <a:fillRect/>
          </a:stretch>
        </p:blipFill>
        <p:spPr>
          <a:xfrm>
            <a:off x="6309360" y="1576426"/>
            <a:ext cx="5486400" cy="3065069"/>
          </a:xfrm>
          <a:prstGeom prst="rect">
            <a:avLst/>
          </a:prstGeom>
        </p:spPr>
      </p:pic>
      <p:sp>
        <p:nvSpPr>
          <p:cNvPr id="11" name="Text 7"/>
          <p:cNvSpPr txBox="1"/>
          <p:nvPr/>
        </p:nvSpPr>
        <p:spPr>
          <a:xfrm>
            <a:off x="6245290" y="4602648"/>
            <a:ext cx="594360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Receiver board — photodiode front end, filter and LM386</a:t>
            </a:r>
            <a:endParaRPr lang="en-US" sz="1400" dirty="0">
              <a:latin typeface="Times New Roman"/>
              <a:ea typeface="Times New Roman"/>
              <a:cs typeface="Times New Roman"/>
            </a:endParaRPr>
          </a:p>
        </p:txBody>
      </p:sp>
      <p:sp>
        <p:nvSpPr>
          <p:cNvPr id="12" name="Text 8"/>
          <p:cNvSpPr txBox="1"/>
          <p:nvPr/>
        </p:nvSpPr>
        <p:spPr>
          <a:xfrm>
            <a:off x="548639" y="5257800"/>
            <a:ext cx="11640251" cy="475488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17324F"/>
                </a:solidFill>
                <a:latin typeface="Times New Roman"/>
                <a:ea typeface="Times New Roman"/>
                <a:cs typeface="Times New Roman"/>
              </a:rPr>
              <a:t>Two independent breadboards, each with its own 9 V supply, ground and decoupling.</a:t>
            </a:r>
            <a:endParaRPr lang="en-US" sz="1600" dirty="0">
              <a:latin typeface="Times New Roman"/>
              <a:ea typeface="Times New Roman"/>
              <a:cs typeface="Times New Roman"/>
            </a:endParaRPr>
          </a:p>
          <a:p>
            <a:pPr marL="228600" indent="-228600">
              <a:spcAft>
                <a:spcPts val="400"/>
              </a:spcAft>
              <a:buSzPct val="100000"/>
              <a:buChar char="•"/>
            </a:pPr>
            <a:r>
              <a:rPr lang="en-US" sz="1600" dirty="0">
                <a:solidFill>
                  <a:srgbClr val="17324F"/>
                </a:solidFill>
                <a:latin typeface="Times New Roman"/>
                <a:ea typeface="Times New Roman"/>
                <a:cs typeface="Times New Roman"/>
              </a:rPr>
              <a:t>Every IC has a 100 nF ceramic at its supply pin; the photodiode stage is fed through 100 Ω + 470 µF so speaker current cannot modulate it.</a:t>
            </a:r>
            <a:endParaRPr lang="en-US" sz="1600" dirty="0">
              <a:latin typeface="Times New Roman"/>
              <a:ea typeface="Times New Roman"/>
              <a:cs typeface="Times New Roman"/>
            </a:endParaRPr>
          </a:p>
        </p:txBody>
      </p:sp>
      <p:sp>
        <p:nvSpPr>
          <p:cNvPr id="13" name="Shape 1">
            <a:extLst>
              <a:ext uri="{FF2B5EF4-FFF2-40B4-BE49-F238E27FC236}">
                <a16:creationId xmlns:a16="http://schemas.microsoft.com/office/drawing/2014/main" id="{DFF662A5-01E8-1328-2FA5-6C1109715F0B}"/>
              </a:ext>
            </a:extLst>
          </p:cNvPr>
          <p:cNvSpPr/>
          <p:nvPr/>
        </p:nvSpPr>
        <p:spPr>
          <a:xfrm>
            <a:off x="0" y="6108192"/>
            <a:ext cx="12192000" cy="749808"/>
          </a:xfrm>
          <a:prstGeom prst="rect">
            <a:avLst/>
          </a:prstGeom>
          <a:solidFill>
            <a:srgbClr val="C00000"/>
          </a:solidFill>
          <a:ln/>
        </p:spPr>
      </p:sp>
      <p:sp>
        <p:nvSpPr>
          <p:cNvPr id="14" name="Text 2">
            <a:extLst>
              <a:ext uri="{FF2B5EF4-FFF2-40B4-BE49-F238E27FC236}">
                <a16:creationId xmlns:a16="http://schemas.microsoft.com/office/drawing/2014/main" id="{E6B3BD18-5406-8B34-3BE4-CC99F614944F}"/>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5" name="Text 3">
            <a:extLst>
              <a:ext uri="{FF2B5EF4-FFF2-40B4-BE49-F238E27FC236}">
                <a16:creationId xmlns:a16="http://schemas.microsoft.com/office/drawing/2014/main" id="{F4CA0949-B061-252B-E2A0-249C24CCEDC3}"/>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6" name="Text 4">
            <a:extLst>
              <a:ext uri="{FF2B5EF4-FFF2-40B4-BE49-F238E27FC236}">
                <a16:creationId xmlns:a16="http://schemas.microsoft.com/office/drawing/2014/main" id="{7F9E37B9-0BAB-53C0-0B0F-2FD4F5BEC179}"/>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2206119</a:t>
            </a:r>
            <a:endParaRPr lang="en-US" sz="1600" dirty="0">
              <a:latin typeface="Times New Roman"/>
              <a:ea typeface="Times New Roman"/>
              <a:cs typeface="Times New Roman"/>
            </a:endParaRPr>
          </a:p>
        </p:txBody>
      </p:sp>
      <p:sp>
        <p:nvSpPr>
          <p:cNvPr id="17" name="Text 5">
            <a:extLst>
              <a:ext uri="{FF2B5EF4-FFF2-40B4-BE49-F238E27FC236}">
                <a16:creationId xmlns:a16="http://schemas.microsoft.com/office/drawing/2014/main" id="{44B1A833-E5A9-98E5-E7AE-13FE086CAC26}"/>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12</a:t>
            </a:r>
            <a:endParaRPr lang="en-US" sz="1600" dirty="0">
              <a:latin typeface="Times New Roman"/>
              <a:ea typeface="Times New Roman"/>
              <a:cs typeface="Times New Roman"/>
            </a:endParaRPr>
          </a:p>
        </p:txBody>
      </p:sp>
      <p:pic>
        <p:nvPicPr>
          <p:cNvPr id="18" name="Picture 17">
            <a:extLst>
              <a:ext uri="{FF2B5EF4-FFF2-40B4-BE49-F238E27FC236}">
                <a16:creationId xmlns:a16="http://schemas.microsoft.com/office/drawing/2014/main" id="{5CD67E9B-6236-AF48-55AB-ED2D859CC21B}"/>
              </a:ext>
            </a:extLst>
          </p:cNvPr>
          <p:cNvPicPr>
            <a:picLocks noChangeAspect="1"/>
          </p:cNvPicPr>
          <p:nvPr/>
        </p:nvPicPr>
        <p:blipFill>
          <a:blip r:embed="rId5"/>
          <a:stretch>
            <a:fillRect/>
          </a:stretch>
        </p:blipFill>
        <p:spPr>
          <a:xfrm>
            <a:off x="3109" y="6159218"/>
            <a:ext cx="739389" cy="647756"/>
          </a:xfrm>
          <a:prstGeom prst="rect">
            <a:avLst/>
          </a:prstGeom>
        </p:spPr>
      </p:pic>
    </p:spTree>
    <p:extLst>
      <p:ext uri="{BB962C8B-B14F-4D97-AF65-F5344CB8AC3E}">
        <p14:creationId xmlns:p14="http://schemas.microsoft.com/office/powerpoint/2010/main" val="4251476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4.  Implementation: Demonstration</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13</a:t>
            </a:r>
            <a:endParaRPr lang="en-US" sz="1100" dirty="0">
              <a:latin typeface="Times New Roman"/>
              <a:ea typeface="Times New Roman"/>
              <a:cs typeface="Times New Roman"/>
            </a:endParaRPr>
          </a:p>
        </p:txBody>
      </p:sp>
      <p:pic>
        <p:nvPicPr>
          <p:cNvPr id="8" name="Image 0" descr="/home/claude/fig/setup_bench.jpg"/>
          <p:cNvPicPr>
            <a:picLocks noChangeAspect="1"/>
          </p:cNvPicPr>
          <p:nvPr/>
        </p:nvPicPr>
        <p:blipFill>
          <a:blip r:embed="rId3"/>
          <a:srcRect t="5000" b="6000"/>
          <a:stretch>
            <a:fillRect/>
          </a:stretch>
        </p:blipFill>
        <p:spPr>
          <a:xfrm>
            <a:off x="2382520" y="1024128"/>
            <a:ext cx="7426960" cy="4127500"/>
          </a:xfrm>
          <a:prstGeom prst="rect">
            <a:avLst/>
          </a:prstGeom>
        </p:spPr>
      </p:pic>
      <p:sp>
        <p:nvSpPr>
          <p:cNvPr id="9" name="Text 6"/>
          <p:cNvSpPr txBox="1"/>
          <p:nvPr/>
        </p:nvSpPr>
        <p:spPr>
          <a:xfrm>
            <a:off x="1691640" y="5179877"/>
            <a:ext cx="877824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Audio source, transmitter, optical path, receiver, loudspeaker and instrumentation</a:t>
            </a:r>
            <a:endParaRPr lang="en-US" sz="1400" dirty="0">
              <a:latin typeface="Times New Roman"/>
              <a:ea typeface="Times New Roman"/>
              <a:cs typeface="Times New Roman"/>
            </a:endParaRPr>
          </a:p>
        </p:txBody>
      </p:sp>
      <p:sp>
        <p:nvSpPr>
          <p:cNvPr id="10" name="Text 7"/>
          <p:cNvSpPr txBox="1"/>
          <p:nvPr/>
        </p:nvSpPr>
        <p:spPr>
          <a:xfrm>
            <a:off x="242138" y="5551796"/>
            <a:ext cx="11819197" cy="548453"/>
          </a:xfrm>
          <a:prstGeom prst="rect">
            <a:avLst/>
          </a:prstGeom>
          <a:noFill/>
          <a:ln/>
        </p:spPr>
        <p:txBody>
          <a:bodyPr wrap="square" lIns="0" tIns="0" rIns="0" bIns="0" rtlCol="0" anchor="t"/>
          <a:lstStyle/>
          <a:p>
            <a:pPr marL="0" indent="0" algn="ctr">
              <a:buNone/>
            </a:pPr>
            <a:r>
              <a:rPr lang="en-US" sz="1600" i="1" dirty="0">
                <a:solidFill>
                  <a:srgbClr val="4A5A6B"/>
                </a:solidFill>
                <a:latin typeface="Times New Roman"/>
                <a:ea typeface="Times New Roman"/>
                <a:cs typeface="Times New Roman"/>
              </a:rPr>
              <a:t>Audio plays from a laptop or phone (or the on-board microphone), travels the bench as a modulated beam, and is reproduced by the loudspeaker at the far end.</a:t>
            </a:r>
            <a:endParaRPr lang="en-US" sz="1600" dirty="0">
              <a:latin typeface="Times New Roman"/>
              <a:ea typeface="Times New Roman"/>
              <a:cs typeface="Times New Roman"/>
            </a:endParaRPr>
          </a:p>
        </p:txBody>
      </p:sp>
      <p:sp>
        <p:nvSpPr>
          <p:cNvPr id="11" name="Shape 1">
            <a:extLst>
              <a:ext uri="{FF2B5EF4-FFF2-40B4-BE49-F238E27FC236}">
                <a16:creationId xmlns:a16="http://schemas.microsoft.com/office/drawing/2014/main" id="{5D8B0ED7-7C17-51A2-6A08-808E48184243}"/>
              </a:ext>
            </a:extLst>
          </p:cNvPr>
          <p:cNvSpPr/>
          <p:nvPr/>
        </p:nvSpPr>
        <p:spPr>
          <a:xfrm>
            <a:off x="0" y="6108192"/>
            <a:ext cx="12192000" cy="749808"/>
          </a:xfrm>
          <a:prstGeom prst="rect">
            <a:avLst/>
          </a:prstGeom>
          <a:solidFill>
            <a:srgbClr val="C00000"/>
          </a:solidFill>
          <a:ln/>
        </p:spPr>
      </p:sp>
      <p:sp>
        <p:nvSpPr>
          <p:cNvPr id="12" name="Text 2">
            <a:extLst>
              <a:ext uri="{FF2B5EF4-FFF2-40B4-BE49-F238E27FC236}">
                <a16:creationId xmlns:a16="http://schemas.microsoft.com/office/drawing/2014/main" id="{B5FDC81D-02E9-18B8-54A6-797C81055D25}"/>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3" name="Text 3">
            <a:extLst>
              <a:ext uri="{FF2B5EF4-FFF2-40B4-BE49-F238E27FC236}">
                <a16:creationId xmlns:a16="http://schemas.microsoft.com/office/drawing/2014/main" id="{C4CAEB39-6AE2-6C11-BEB5-4407DF136508}"/>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4" name="Text 4">
            <a:extLst>
              <a:ext uri="{FF2B5EF4-FFF2-40B4-BE49-F238E27FC236}">
                <a16:creationId xmlns:a16="http://schemas.microsoft.com/office/drawing/2014/main" id="{299ED2D6-ED82-E5F0-305D-B274C0CF0C77}"/>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2206119</a:t>
            </a:r>
            <a:endParaRPr lang="en-US" sz="1600" dirty="0">
              <a:latin typeface="Times New Roman"/>
              <a:ea typeface="Times New Roman"/>
              <a:cs typeface="Times New Roman"/>
            </a:endParaRPr>
          </a:p>
        </p:txBody>
      </p:sp>
      <p:sp>
        <p:nvSpPr>
          <p:cNvPr id="15" name="Text 5">
            <a:extLst>
              <a:ext uri="{FF2B5EF4-FFF2-40B4-BE49-F238E27FC236}">
                <a16:creationId xmlns:a16="http://schemas.microsoft.com/office/drawing/2014/main" id="{C66AB736-723E-6B96-BECB-D2390FFEE8D8}"/>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13</a:t>
            </a:r>
            <a:endParaRPr lang="en-US" sz="1600" dirty="0">
              <a:latin typeface="Times New Roman"/>
              <a:ea typeface="Times New Roman"/>
              <a:cs typeface="Times New Roman"/>
            </a:endParaRPr>
          </a:p>
        </p:txBody>
      </p:sp>
      <p:pic>
        <p:nvPicPr>
          <p:cNvPr id="16" name="Picture 15">
            <a:extLst>
              <a:ext uri="{FF2B5EF4-FFF2-40B4-BE49-F238E27FC236}">
                <a16:creationId xmlns:a16="http://schemas.microsoft.com/office/drawing/2014/main" id="{71F4F72F-7A42-7B14-C181-DCE7BCBD232E}"/>
              </a:ext>
            </a:extLst>
          </p:cNvPr>
          <p:cNvPicPr>
            <a:picLocks noChangeAspect="1"/>
          </p:cNvPicPr>
          <p:nvPr/>
        </p:nvPicPr>
        <p:blipFill>
          <a:blip r:embed="rId4"/>
          <a:stretch>
            <a:fillRect/>
          </a:stretch>
        </p:blipFill>
        <p:spPr>
          <a:xfrm>
            <a:off x="3109" y="6159218"/>
            <a:ext cx="739389" cy="647756"/>
          </a:xfrm>
          <a:prstGeom prst="rect">
            <a:avLst/>
          </a:prstGeom>
        </p:spPr>
      </p:pic>
    </p:spTree>
    <p:extLst>
      <p:ext uri="{BB962C8B-B14F-4D97-AF65-F5344CB8AC3E}">
        <p14:creationId xmlns:p14="http://schemas.microsoft.com/office/powerpoint/2010/main" val="865952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4.1  Implementation: Photo Gallery</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14</a:t>
            </a:r>
            <a:endParaRPr lang="en-US" sz="1100" dirty="0">
              <a:latin typeface="Times New Roman"/>
              <a:ea typeface="Times New Roman"/>
              <a:cs typeface="Times New Roman"/>
            </a:endParaRPr>
          </a:p>
        </p:txBody>
      </p:sp>
      <p:pic>
        <p:nvPicPr>
          <p:cNvPr id="8" name="Image 0" descr="/home/claude/fig/beam.jpg"/>
          <p:cNvPicPr>
            <a:picLocks noChangeAspect="1"/>
          </p:cNvPicPr>
          <p:nvPr/>
        </p:nvPicPr>
        <p:blipFill>
          <a:blip r:embed="rId3"/>
          <a:stretch>
            <a:fillRect/>
          </a:stretch>
        </p:blipFill>
        <p:spPr>
          <a:xfrm>
            <a:off x="931079" y="923731"/>
            <a:ext cx="3625202" cy="2440969"/>
          </a:xfrm>
          <a:prstGeom prst="rect">
            <a:avLst/>
          </a:prstGeom>
        </p:spPr>
      </p:pic>
      <p:sp>
        <p:nvSpPr>
          <p:cNvPr id="9" name="Text 6"/>
          <p:cNvSpPr txBox="1"/>
          <p:nvPr/>
        </p:nvSpPr>
        <p:spPr>
          <a:xfrm>
            <a:off x="-70913" y="3328416"/>
            <a:ext cx="585216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Link operating with the beam visible</a:t>
            </a:r>
            <a:endParaRPr lang="en-US" sz="1400" dirty="0">
              <a:latin typeface="Times New Roman"/>
              <a:ea typeface="Times New Roman"/>
              <a:cs typeface="Times New Roman"/>
            </a:endParaRPr>
          </a:p>
        </p:txBody>
      </p:sp>
      <p:pic>
        <p:nvPicPr>
          <p:cNvPr id="10" name="Image 1" descr="/home/claude/fig/reddot.jpg"/>
          <p:cNvPicPr>
            <a:picLocks noChangeAspect="1"/>
          </p:cNvPicPr>
          <p:nvPr/>
        </p:nvPicPr>
        <p:blipFill>
          <a:blip r:embed="rId4"/>
          <a:stretch>
            <a:fillRect/>
          </a:stretch>
        </p:blipFill>
        <p:spPr>
          <a:xfrm>
            <a:off x="4873600" y="1033085"/>
            <a:ext cx="6900773" cy="2212848"/>
          </a:xfrm>
          <a:prstGeom prst="rect">
            <a:avLst/>
          </a:prstGeom>
        </p:spPr>
      </p:pic>
      <p:sp>
        <p:nvSpPr>
          <p:cNvPr id="11" name="Text 7"/>
          <p:cNvSpPr txBox="1"/>
          <p:nvPr/>
        </p:nvSpPr>
        <p:spPr>
          <a:xfrm>
            <a:off x="5166360" y="3227645"/>
            <a:ext cx="585216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Laser spot on the photodiode active area</a:t>
            </a:r>
            <a:endParaRPr lang="en-US" sz="1400" dirty="0">
              <a:latin typeface="Times New Roman"/>
              <a:ea typeface="Times New Roman"/>
              <a:cs typeface="Times New Roman"/>
            </a:endParaRPr>
          </a:p>
        </p:txBody>
      </p:sp>
      <p:pic>
        <p:nvPicPr>
          <p:cNvPr id="12" name="Image 2" descr="/home/claude/fig/laser.jpg"/>
          <p:cNvPicPr>
            <a:picLocks noChangeAspect="1"/>
          </p:cNvPicPr>
          <p:nvPr/>
        </p:nvPicPr>
        <p:blipFill>
          <a:blip r:embed="rId5"/>
          <a:stretch>
            <a:fillRect/>
          </a:stretch>
        </p:blipFill>
        <p:spPr>
          <a:xfrm>
            <a:off x="791022" y="3642192"/>
            <a:ext cx="3460938" cy="1917360"/>
          </a:xfrm>
          <a:prstGeom prst="rect">
            <a:avLst/>
          </a:prstGeom>
        </p:spPr>
      </p:pic>
      <p:sp>
        <p:nvSpPr>
          <p:cNvPr id="13" name="Text 8"/>
          <p:cNvSpPr txBox="1"/>
          <p:nvPr/>
        </p:nvSpPr>
        <p:spPr>
          <a:xfrm>
            <a:off x="365760" y="5529029"/>
            <a:ext cx="397764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650 nm, 5 mW laser module</a:t>
            </a:r>
            <a:endParaRPr lang="en-US" sz="1400" dirty="0">
              <a:latin typeface="Times New Roman"/>
              <a:ea typeface="Times New Roman"/>
              <a:cs typeface="Times New Roman"/>
            </a:endParaRPr>
          </a:p>
        </p:txBody>
      </p:sp>
      <p:pic>
        <p:nvPicPr>
          <p:cNvPr id="14" name="Image 3" descr="/home/claude/fig/mic.jpg"/>
          <p:cNvPicPr>
            <a:picLocks noChangeAspect="1"/>
          </p:cNvPicPr>
          <p:nvPr/>
        </p:nvPicPr>
        <p:blipFill>
          <a:blip r:embed="rId6"/>
          <a:stretch>
            <a:fillRect/>
          </a:stretch>
        </p:blipFill>
        <p:spPr>
          <a:xfrm>
            <a:off x="4343400" y="4180114"/>
            <a:ext cx="4225410" cy="867618"/>
          </a:xfrm>
          <a:prstGeom prst="rect">
            <a:avLst/>
          </a:prstGeom>
        </p:spPr>
      </p:pic>
      <p:sp>
        <p:nvSpPr>
          <p:cNvPr id="15" name="Text 9"/>
          <p:cNvSpPr txBox="1"/>
          <p:nvPr/>
        </p:nvSpPr>
        <p:spPr>
          <a:xfrm>
            <a:off x="4359353" y="5025031"/>
            <a:ext cx="397764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Electret microphone input</a:t>
            </a:r>
            <a:endParaRPr lang="en-US" sz="1400" dirty="0">
              <a:latin typeface="Times New Roman"/>
              <a:ea typeface="Times New Roman"/>
              <a:cs typeface="Times New Roman"/>
            </a:endParaRPr>
          </a:p>
        </p:txBody>
      </p:sp>
      <p:pic>
        <p:nvPicPr>
          <p:cNvPr id="16" name="Image 4" descr="/home/claude/fig/tx_jack.jpg"/>
          <p:cNvPicPr>
            <a:picLocks noChangeAspect="1"/>
          </p:cNvPicPr>
          <p:nvPr/>
        </p:nvPicPr>
        <p:blipFill>
          <a:blip r:embed="rId7"/>
          <a:stretch>
            <a:fillRect/>
          </a:stretch>
        </p:blipFill>
        <p:spPr>
          <a:xfrm>
            <a:off x="8623952" y="3538541"/>
            <a:ext cx="3019692" cy="2039299"/>
          </a:xfrm>
          <a:prstGeom prst="rect">
            <a:avLst/>
          </a:prstGeom>
        </p:spPr>
      </p:pic>
      <p:sp>
        <p:nvSpPr>
          <p:cNvPr id="17" name="Text 10"/>
          <p:cNvSpPr txBox="1"/>
          <p:nvPr/>
        </p:nvSpPr>
        <p:spPr>
          <a:xfrm>
            <a:off x="8092440" y="5535211"/>
            <a:ext cx="397764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Transmitter with 3.5 mm audio socket</a:t>
            </a:r>
            <a:endParaRPr lang="en-US" sz="1400" dirty="0">
              <a:latin typeface="Times New Roman"/>
              <a:ea typeface="Times New Roman"/>
              <a:cs typeface="Times New Roman"/>
            </a:endParaRPr>
          </a:p>
        </p:txBody>
      </p:sp>
      <p:sp>
        <p:nvSpPr>
          <p:cNvPr id="18" name="Shape 1">
            <a:extLst>
              <a:ext uri="{FF2B5EF4-FFF2-40B4-BE49-F238E27FC236}">
                <a16:creationId xmlns:a16="http://schemas.microsoft.com/office/drawing/2014/main" id="{43D192A1-52B8-E012-B760-DFD1E848ACB9}"/>
              </a:ext>
            </a:extLst>
          </p:cNvPr>
          <p:cNvSpPr/>
          <p:nvPr/>
        </p:nvSpPr>
        <p:spPr>
          <a:xfrm>
            <a:off x="0" y="6108192"/>
            <a:ext cx="12192000" cy="749808"/>
          </a:xfrm>
          <a:prstGeom prst="rect">
            <a:avLst/>
          </a:prstGeom>
          <a:solidFill>
            <a:srgbClr val="C00000"/>
          </a:solidFill>
          <a:ln/>
        </p:spPr>
      </p:sp>
      <p:sp>
        <p:nvSpPr>
          <p:cNvPr id="19" name="Text 2">
            <a:extLst>
              <a:ext uri="{FF2B5EF4-FFF2-40B4-BE49-F238E27FC236}">
                <a16:creationId xmlns:a16="http://schemas.microsoft.com/office/drawing/2014/main" id="{A6AA5AA1-AD89-C893-E5E1-824FBDA8EB34}"/>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20" name="Text 3">
            <a:extLst>
              <a:ext uri="{FF2B5EF4-FFF2-40B4-BE49-F238E27FC236}">
                <a16:creationId xmlns:a16="http://schemas.microsoft.com/office/drawing/2014/main" id="{531CC507-9F38-21AC-0450-E2DF4B7AF29B}"/>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21" name="Text 4">
            <a:extLst>
              <a:ext uri="{FF2B5EF4-FFF2-40B4-BE49-F238E27FC236}">
                <a16:creationId xmlns:a16="http://schemas.microsoft.com/office/drawing/2014/main" id="{27B03D76-5109-A5C4-5E57-30371A1BAFA1}"/>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2206099</a:t>
            </a:r>
            <a:endParaRPr lang="en-US" sz="1600" dirty="0">
              <a:latin typeface="Times New Roman"/>
              <a:ea typeface="Times New Roman"/>
              <a:cs typeface="Times New Roman"/>
            </a:endParaRPr>
          </a:p>
        </p:txBody>
      </p:sp>
      <p:sp>
        <p:nvSpPr>
          <p:cNvPr id="22" name="Text 5">
            <a:extLst>
              <a:ext uri="{FF2B5EF4-FFF2-40B4-BE49-F238E27FC236}">
                <a16:creationId xmlns:a16="http://schemas.microsoft.com/office/drawing/2014/main" id="{0880440F-D6EB-CCB8-E789-B73D83E838A5}"/>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14</a:t>
            </a:r>
            <a:endParaRPr lang="en-US" sz="1600" dirty="0">
              <a:latin typeface="Times New Roman"/>
              <a:ea typeface="Times New Roman"/>
              <a:cs typeface="Times New Roman"/>
            </a:endParaRPr>
          </a:p>
        </p:txBody>
      </p:sp>
      <p:pic>
        <p:nvPicPr>
          <p:cNvPr id="23" name="Picture 22">
            <a:extLst>
              <a:ext uri="{FF2B5EF4-FFF2-40B4-BE49-F238E27FC236}">
                <a16:creationId xmlns:a16="http://schemas.microsoft.com/office/drawing/2014/main" id="{8D55F1B6-7557-6614-292C-3FF48A3C64CD}"/>
              </a:ext>
            </a:extLst>
          </p:cNvPr>
          <p:cNvPicPr>
            <a:picLocks noChangeAspect="1"/>
          </p:cNvPicPr>
          <p:nvPr/>
        </p:nvPicPr>
        <p:blipFill>
          <a:blip r:embed="rId8"/>
          <a:stretch>
            <a:fillRect/>
          </a:stretch>
        </p:blipFill>
        <p:spPr>
          <a:xfrm>
            <a:off x="3109" y="6159218"/>
            <a:ext cx="739389" cy="647756"/>
          </a:xfrm>
          <a:prstGeom prst="rect">
            <a:avLst/>
          </a:prstGeom>
        </p:spPr>
      </p:pic>
    </p:spTree>
    <p:extLst>
      <p:ext uri="{BB962C8B-B14F-4D97-AF65-F5344CB8AC3E}">
        <p14:creationId xmlns:p14="http://schemas.microsoft.com/office/powerpoint/2010/main" val="153205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525780"/>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5.  Design Analysis and Evaluation</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15</a:t>
            </a:r>
            <a:endParaRPr lang="en-US" sz="1100" dirty="0">
              <a:latin typeface="Times New Roman"/>
              <a:ea typeface="Times New Roman"/>
              <a:cs typeface="Times New Roman"/>
            </a:endParaRPr>
          </a:p>
        </p:txBody>
      </p:sp>
      <p:sp>
        <p:nvSpPr>
          <p:cNvPr id="8" name="Shape 6"/>
          <p:cNvSpPr/>
          <p:nvPr/>
        </p:nvSpPr>
        <p:spPr>
          <a:xfrm>
            <a:off x="1463040" y="1600200"/>
            <a:ext cx="9235440" cy="749808"/>
          </a:xfrm>
          <a:prstGeom prst="roundRect">
            <a:avLst>
              <a:gd name="adj" fmla="val 9756"/>
            </a:avLst>
          </a:prstGeom>
          <a:solidFill>
            <a:srgbClr val="F2F5F9"/>
          </a:solidFill>
          <a:ln w="9525">
            <a:solidFill>
              <a:srgbClr val="C3CCD6"/>
            </a:solidFill>
            <a:prstDash val="solid"/>
          </a:ln>
        </p:spPr>
      </p:sp>
      <p:sp>
        <p:nvSpPr>
          <p:cNvPr id="9" name="Text 7"/>
          <p:cNvSpPr txBox="1"/>
          <p:nvPr/>
        </p:nvSpPr>
        <p:spPr>
          <a:xfrm>
            <a:off x="1828800" y="1600200"/>
            <a:ext cx="8686800" cy="749808"/>
          </a:xfrm>
          <a:prstGeom prst="rect">
            <a:avLst/>
          </a:prstGeom>
          <a:noFill/>
          <a:ln/>
        </p:spPr>
        <p:txBody>
          <a:bodyPr wrap="square" lIns="0" tIns="0" rIns="0" bIns="0" rtlCol="0" anchor="ctr"/>
          <a:lstStyle/>
          <a:p>
            <a:pPr marL="0" indent="0">
              <a:buNone/>
            </a:pPr>
            <a:r>
              <a:rPr lang="en-US" sz="1700" b="1" dirty="0">
                <a:solidFill>
                  <a:srgbClr val="17324F"/>
                </a:solidFill>
                <a:latin typeface="Times New Roman"/>
                <a:ea typeface="Times New Roman"/>
                <a:cs typeface="Times New Roman"/>
              </a:rPr>
              <a:t>5.1  Novelty</a:t>
            </a:r>
            <a:endParaRPr lang="en-US" sz="1700" dirty="0">
              <a:latin typeface="Times New Roman"/>
              <a:ea typeface="Times New Roman"/>
              <a:cs typeface="Times New Roman"/>
            </a:endParaRPr>
          </a:p>
        </p:txBody>
      </p:sp>
      <p:sp>
        <p:nvSpPr>
          <p:cNvPr id="10" name="Shape 8"/>
          <p:cNvSpPr/>
          <p:nvPr/>
        </p:nvSpPr>
        <p:spPr>
          <a:xfrm>
            <a:off x="1463040" y="2514600"/>
            <a:ext cx="9235440" cy="749808"/>
          </a:xfrm>
          <a:prstGeom prst="roundRect">
            <a:avLst>
              <a:gd name="adj" fmla="val 9756"/>
            </a:avLst>
          </a:prstGeom>
          <a:solidFill>
            <a:srgbClr val="F2F5F9"/>
          </a:solidFill>
          <a:ln w="9525">
            <a:solidFill>
              <a:srgbClr val="C3CCD6"/>
            </a:solidFill>
            <a:prstDash val="solid"/>
          </a:ln>
        </p:spPr>
      </p:sp>
      <p:sp>
        <p:nvSpPr>
          <p:cNvPr id="11" name="Text 9"/>
          <p:cNvSpPr txBox="1"/>
          <p:nvPr/>
        </p:nvSpPr>
        <p:spPr>
          <a:xfrm>
            <a:off x="1828800" y="2514600"/>
            <a:ext cx="8686800" cy="749808"/>
          </a:xfrm>
          <a:prstGeom prst="rect">
            <a:avLst/>
          </a:prstGeom>
          <a:noFill/>
          <a:ln/>
        </p:spPr>
        <p:txBody>
          <a:bodyPr wrap="square" lIns="0" tIns="0" rIns="0" bIns="0" rtlCol="0" anchor="ctr"/>
          <a:lstStyle/>
          <a:p>
            <a:pPr marL="0" indent="0">
              <a:buNone/>
            </a:pPr>
            <a:r>
              <a:rPr lang="en-US" sz="1700" b="1" dirty="0">
                <a:solidFill>
                  <a:srgbClr val="17324F"/>
                </a:solidFill>
                <a:latin typeface="Times New Roman"/>
                <a:ea typeface="Times New Roman"/>
                <a:cs typeface="Times New Roman"/>
              </a:rPr>
              <a:t>5.2  Design Considerations (PO(c))</a:t>
            </a:r>
            <a:endParaRPr lang="en-US" sz="1700" dirty="0">
              <a:latin typeface="Times New Roman"/>
              <a:ea typeface="Times New Roman"/>
              <a:cs typeface="Times New Roman"/>
            </a:endParaRPr>
          </a:p>
        </p:txBody>
      </p:sp>
      <p:sp>
        <p:nvSpPr>
          <p:cNvPr id="12" name="Shape 10"/>
          <p:cNvSpPr/>
          <p:nvPr/>
        </p:nvSpPr>
        <p:spPr>
          <a:xfrm>
            <a:off x="1463040" y="3429000"/>
            <a:ext cx="9235440" cy="749808"/>
          </a:xfrm>
          <a:prstGeom prst="roundRect">
            <a:avLst>
              <a:gd name="adj" fmla="val 9756"/>
            </a:avLst>
          </a:prstGeom>
          <a:solidFill>
            <a:srgbClr val="F2F5F9"/>
          </a:solidFill>
          <a:ln w="9525">
            <a:solidFill>
              <a:srgbClr val="C3CCD6"/>
            </a:solidFill>
            <a:prstDash val="solid"/>
          </a:ln>
        </p:spPr>
      </p:sp>
      <p:sp>
        <p:nvSpPr>
          <p:cNvPr id="13" name="Text 11"/>
          <p:cNvSpPr txBox="1"/>
          <p:nvPr/>
        </p:nvSpPr>
        <p:spPr>
          <a:xfrm>
            <a:off x="1828800" y="3429000"/>
            <a:ext cx="8686800" cy="749808"/>
          </a:xfrm>
          <a:prstGeom prst="rect">
            <a:avLst/>
          </a:prstGeom>
          <a:noFill/>
          <a:ln/>
        </p:spPr>
        <p:txBody>
          <a:bodyPr wrap="square" lIns="0" tIns="0" rIns="0" bIns="0" rtlCol="0" anchor="ctr"/>
          <a:lstStyle/>
          <a:p>
            <a:pPr marL="0" indent="0">
              <a:buNone/>
            </a:pPr>
            <a:r>
              <a:rPr lang="en-US" sz="1700" b="1" dirty="0">
                <a:solidFill>
                  <a:srgbClr val="17324F"/>
                </a:solidFill>
                <a:latin typeface="Times New Roman"/>
                <a:ea typeface="Times New Roman"/>
                <a:cs typeface="Times New Roman"/>
              </a:rPr>
              <a:t>5.3  Investigations (PO(d))</a:t>
            </a:r>
            <a:endParaRPr lang="en-US" sz="1700" dirty="0">
              <a:latin typeface="Times New Roman"/>
              <a:ea typeface="Times New Roman"/>
              <a:cs typeface="Times New Roman"/>
            </a:endParaRPr>
          </a:p>
        </p:txBody>
      </p:sp>
      <p:sp>
        <p:nvSpPr>
          <p:cNvPr id="14" name="Shape 12"/>
          <p:cNvSpPr/>
          <p:nvPr/>
        </p:nvSpPr>
        <p:spPr>
          <a:xfrm>
            <a:off x="1463040" y="4343400"/>
            <a:ext cx="9235440" cy="749808"/>
          </a:xfrm>
          <a:prstGeom prst="roundRect">
            <a:avLst>
              <a:gd name="adj" fmla="val 9756"/>
            </a:avLst>
          </a:prstGeom>
          <a:solidFill>
            <a:srgbClr val="F2F5F9"/>
          </a:solidFill>
          <a:ln w="9525">
            <a:solidFill>
              <a:srgbClr val="C3CCD6"/>
            </a:solidFill>
            <a:prstDash val="solid"/>
          </a:ln>
        </p:spPr>
      </p:sp>
      <p:sp>
        <p:nvSpPr>
          <p:cNvPr id="15" name="Text 13"/>
          <p:cNvSpPr txBox="1"/>
          <p:nvPr/>
        </p:nvSpPr>
        <p:spPr>
          <a:xfrm>
            <a:off x="1828800" y="4343400"/>
            <a:ext cx="8686800" cy="749808"/>
          </a:xfrm>
          <a:prstGeom prst="rect">
            <a:avLst/>
          </a:prstGeom>
          <a:noFill/>
          <a:ln/>
        </p:spPr>
        <p:txBody>
          <a:bodyPr wrap="square" lIns="0" tIns="0" rIns="0" bIns="0" rtlCol="0" anchor="ctr"/>
          <a:lstStyle/>
          <a:p>
            <a:pPr marL="0" indent="0">
              <a:buNone/>
            </a:pPr>
            <a:r>
              <a:rPr lang="en-US" sz="1700" b="1" dirty="0">
                <a:solidFill>
                  <a:srgbClr val="17324F"/>
                </a:solidFill>
                <a:latin typeface="Times New Roman"/>
                <a:ea typeface="Times New Roman"/>
                <a:cs typeface="Times New Roman"/>
              </a:rPr>
              <a:t>5.4  Impact Assessment (PO(f))</a:t>
            </a:r>
            <a:endParaRPr lang="en-US" sz="1700" dirty="0">
              <a:latin typeface="Times New Roman"/>
              <a:ea typeface="Times New Roman"/>
              <a:cs typeface="Times New Roman"/>
            </a:endParaRPr>
          </a:p>
        </p:txBody>
      </p:sp>
      <p:sp>
        <p:nvSpPr>
          <p:cNvPr id="16" name="Shape 14"/>
          <p:cNvSpPr/>
          <p:nvPr/>
        </p:nvSpPr>
        <p:spPr>
          <a:xfrm>
            <a:off x="1463040" y="5257800"/>
            <a:ext cx="9235440" cy="749808"/>
          </a:xfrm>
          <a:prstGeom prst="roundRect">
            <a:avLst>
              <a:gd name="adj" fmla="val 9756"/>
            </a:avLst>
          </a:prstGeom>
          <a:solidFill>
            <a:srgbClr val="F2F5F9"/>
          </a:solidFill>
          <a:ln w="9525">
            <a:solidFill>
              <a:srgbClr val="C3CCD6"/>
            </a:solidFill>
            <a:prstDash val="solid"/>
          </a:ln>
        </p:spPr>
      </p:sp>
      <p:sp>
        <p:nvSpPr>
          <p:cNvPr id="17" name="Text 15"/>
          <p:cNvSpPr txBox="1"/>
          <p:nvPr/>
        </p:nvSpPr>
        <p:spPr>
          <a:xfrm>
            <a:off x="1828800" y="5257800"/>
            <a:ext cx="8686800" cy="749808"/>
          </a:xfrm>
          <a:prstGeom prst="rect">
            <a:avLst/>
          </a:prstGeom>
          <a:noFill/>
          <a:ln/>
        </p:spPr>
        <p:txBody>
          <a:bodyPr wrap="square" lIns="0" tIns="0" rIns="0" bIns="0" rtlCol="0" anchor="ctr"/>
          <a:lstStyle/>
          <a:p>
            <a:pPr marL="0" indent="0">
              <a:buNone/>
            </a:pPr>
            <a:r>
              <a:rPr lang="en-US" sz="1700" b="1" dirty="0">
                <a:solidFill>
                  <a:srgbClr val="17324F"/>
                </a:solidFill>
                <a:latin typeface="Times New Roman"/>
                <a:ea typeface="Times New Roman"/>
                <a:cs typeface="Times New Roman"/>
              </a:rPr>
              <a:t>5.5  Sustainability and Environmental Impact Evaluation (PO(g))</a:t>
            </a:r>
            <a:endParaRPr lang="en-US" sz="1700" dirty="0">
              <a:latin typeface="Times New Roman"/>
              <a:ea typeface="Times New Roman"/>
              <a:cs typeface="Times New Roman"/>
            </a:endParaRPr>
          </a:p>
        </p:txBody>
      </p:sp>
      <p:sp>
        <p:nvSpPr>
          <p:cNvPr id="18" name="Shape 1">
            <a:extLst>
              <a:ext uri="{FF2B5EF4-FFF2-40B4-BE49-F238E27FC236}">
                <a16:creationId xmlns:a16="http://schemas.microsoft.com/office/drawing/2014/main" id="{AF7C9AF2-2000-7CB7-8CFB-146882E4189F}"/>
              </a:ext>
            </a:extLst>
          </p:cNvPr>
          <p:cNvSpPr/>
          <p:nvPr/>
        </p:nvSpPr>
        <p:spPr>
          <a:xfrm>
            <a:off x="0" y="6108192"/>
            <a:ext cx="12192000" cy="749808"/>
          </a:xfrm>
          <a:prstGeom prst="rect">
            <a:avLst/>
          </a:prstGeom>
          <a:solidFill>
            <a:srgbClr val="C00000"/>
          </a:solidFill>
          <a:ln/>
        </p:spPr>
      </p:sp>
      <p:sp>
        <p:nvSpPr>
          <p:cNvPr id="19" name="Text 2">
            <a:extLst>
              <a:ext uri="{FF2B5EF4-FFF2-40B4-BE49-F238E27FC236}">
                <a16:creationId xmlns:a16="http://schemas.microsoft.com/office/drawing/2014/main" id="{DFDDA215-E90A-3B84-BD35-DD9A9DFD92D6}"/>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20" name="Text 3">
            <a:extLst>
              <a:ext uri="{FF2B5EF4-FFF2-40B4-BE49-F238E27FC236}">
                <a16:creationId xmlns:a16="http://schemas.microsoft.com/office/drawing/2014/main" id="{2C537253-2781-F0A0-8871-21A6E1440C95}"/>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21" name="Text 4">
            <a:extLst>
              <a:ext uri="{FF2B5EF4-FFF2-40B4-BE49-F238E27FC236}">
                <a16:creationId xmlns:a16="http://schemas.microsoft.com/office/drawing/2014/main" id="{9C5F660D-9ACD-3AE3-CB74-7E9062415A68}"/>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2206099</a:t>
            </a:r>
            <a:endParaRPr lang="en-US" sz="1600" dirty="0">
              <a:latin typeface="Times New Roman"/>
              <a:ea typeface="Times New Roman"/>
              <a:cs typeface="Times New Roman"/>
            </a:endParaRPr>
          </a:p>
        </p:txBody>
      </p:sp>
      <p:sp>
        <p:nvSpPr>
          <p:cNvPr id="22" name="Text 5">
            <a:extLst>
              <a:ext uri="{FF2B5EF4-FFF2-40B4-BE49-F238E27FC236}">
                <a16:creationId xmlns:a16="http://schemas.microsoft.com/office/drawing/2014/main" id="{8E2646D5-DEEB-6E17-3BD7-59757BE8D7D2}"/>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15</a:t>
            </a:r>
          </a:p>
        </p:txBody>
      </p:sp>
      <p:pic>
        <p:nvPicPr>
          <p:cNvPr id="23" name="Picture 22">
            <a:extLst>
              <a:ext uri="{FF2B5EF4-FFF2-40B4-BE49-F238E27FC236}">
                <a16:creationId xmlns:a16="http://schemas.microsoft.com/office/drawing/2014/main" id="{A5214BBE-54BD-448D-C396-04A06FAC3C8A}"/>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1969918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5.1  Novelty</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16</a:t>
            </a:r>
            <a:endParaRPr lang="en-US" sz="1100" dirty="0">
              <a:latin typeface="Times New Roman"/>
              <a:ea typeface="Times New Roman"/>
              <a:cs typeface="Times New Roman"/>
            </a:endParaRPr>
          </a:p>
        </p:txBody>
      </p:sp>
      <p:sp>
        <p:nvSpPr>
          <p:cNvPr id="8" name="Text 6"/>
          <p:cNvSpPr txBox="1"/>
          <p:nvPr/>
        </p:nvSpPr>
        <p:spPr>
          <a:xfrm>
            <a:off x="548640" y="1325880"/>
            <a:ext cx="11155680" cy="475488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rgbClr val="17324F"/>
                </a:solidFill>
                <a:latin typeface="Times New Roman"/>
                <a:ea typeface="Times New Roman"/>
                <a:cs typeface="Times New Roman"/>
              </a:rPr>
              <a:t>The laser is treated as a current-controlled device inside a feedback loop, not as a lamp switched by a voltage.</a:t>
            </a:r>
            <a:endParaRPr lang="en-US" sz="1600" dirty="0">
              <a:latin typeface="Times New Roman"/>
              <a:ea typeface="Times New Roman"/>
              <a:cs typeface="Times New Roman"/>
            </a:endParaRPr>
          </a:p>
          <a:p>
            <a:pPr marL="457200" lvl="1" indent="-228600">
              <a:spcAft>
                <a:spcPts val="800"/>
              </a:spcAft>
              <a:buSzPct val="100000"/>
              <a:buChar char="•"/>
            </a:pPr>
            <a:r>
              <a:rPr lang="en-US" sz="1600" dirty="0">
                <a:solidFill>
                  <a:srgbClr val="17324F"/>
                </a:solidFill>
                <a:latin typeface="Times New Roman"/>
                <a:ea typeface="Times New Roman"/>
                <a:cs typeface="Times New Roman"/>
              </a:rPr>
              <a:t>Most student Li-Fi demonstrations drive the optical source straight from an audio amplifier; the source then switches off on negative half-cycles and the sound is audibly distorted.</a:t>
            </a:r>
            <a:endParaRPr lang="en-US" sz="1600" dirty="0">
              <a:latin typeface="Times New Roman"/>
              <a:ea typeface="Times New Roman"/>
              <a:cs typeface="Times New Roman"/>
            </a:endParaRPr>
          </a:p>
          <a:p>
            <a:pPr marL="457200" lvl="1" indent="-228600">
              <a:spcAft>
                <a:spcPts val="800"/>
              </a:spcAft>
              <a:buSzPct val="100000"/>
              <a:buChar char="•"/>
            </a:pPr>
            <a:r>
              <a:rPr lang="en-US" sz="1600" dirty="0">
                <a:solidFill>
                  <a:srgbClr val="17324F"/>
                </a:solidFill>
                <a:latin typeface="Times New Roman"/>
                <a:ea typeface="Times New Roman"/>
                <a:cs typeface="Times New Roman"/>
              </a:rPr>
              <a:t>Here an op-amp servo-controls the laser current, so optical power follows the message linearly over the whole cycle.</a:t>
            </a:r>
            <a:endParaRPr lang="en-US" sz="1600" dirty="0">
              <a:latin typeface="Times New Roman"/>
              <a:ea typeface="Times New Roman"/>
              <a:cs typeface="Times New Roman"/>
            </a:endParaRPr>
          </a:p>
          <a:p>
            <a:pPr marL="228600" indent="-228600">
              <a:spcAft>
                <a:spcPts val="800"/>
              </a:spcAft>
              <a:buSzPct val="100000"/>
              <a:buChar char="•"/>
            </a:pPr>
            <a:r>
              <a:rPr lang="en-US" sz="1600" b="1" dirty="0">
                <a:solidFill>
                  <a:srgbClr val="17324F"/>
                </a:solidFill>
                <a:latin typeface="Times New Roman"/>
                <a:ea typeface="Times New Roman"/>
                <a:cs typeface="Times New Roman"/>
              </a:rPr>
              <a:t>Filters are staggered between the two units rather than duplicated - noise is removed where it is generated, without narrowing the useful band.</a:t>
            </a:r>
            <a:endParaRPr lang="en-US" sz="1600" dirty="0">
              <a:latin typeface="Times New Roman"/>
              <a:ea typeface="Times New Roman"/>
              <a:cs typeface="Times New Roman"/>
            </a:endParaRPr>
          </a:p>
          <a:p>
            <a:pPr marL="228600" indent="-228600">
              <a:spcAft>
                <a:spcPts val="800"/>
              </a:spcAft>
              <a:buSzPct val="100000"/>
              <a:buChar char="•"/>
            </a:pPr>
            <a:r>
              <a:rPr lang="en-US" sz="1600" b="1" dirty="0">
                <a:solidFill>
                  <a:srgbClr val="17324F"/>
                </a:solidFill>
                <a:latin typeface="Times New Roman"/>
                <a:ea typeface="Times New Roman"/>
                <a:cs typeface="Times New Roman"/>
              </a:rPr>
              <a:t>Ambient-light immunity comes from a deliberate 154 Hz high-pass corner that rejects 100 Hz lamp flicker, not from shielding alone.</a:t>
            </a:r>
            <a:endParaRPr lang="en-US" sz="1600" dirty="0">
              <a:latin typeface="Times New Roman"/>
              <a:ea typeface="Times New Roman"/>
              <a:cs typeface="Times New Roman"/>
            </a:endParaRPr>
          </a:p>
          <a:p>
            <a:pPr marL="228600" indent="-228600">
              <a:spcAft>
                <a:spcPts val="800"/>
              </a:spcAft>
              <a:buSzPct val="100000"/>
              <a:buChar char="•"/>
            </a:pPr>
            <a:r>
              <a:rPr lang="en-US" sz="1600" b="1" dirty="0">
                <a:solidFill>
                  <a:srgbClr val="17324F"/>
                </a:solidFill>
                <a:latin typeface="Times New Roman"/>
                <a:ea typeface="Times New Roman"/>
                <a:cs typeface="Times New Roman"/>
              </a:rPr>
              <a:t>The input level is fixed by a resistive divider instead of a potentiometer, so modulation depth — and laser safety — is independent of the user.</a:t>
            </a:r>
            <a:endParaRPr lang="en-US" sz="1600" dirty="0">
              <a:latin typeface="Times New Roman"/>
              <a:ea typeface="Times New Roman"/>
              <a:cs typeface="Times New Roman"/>
            </a:endParaRPr>
          </a:p>
          <a:p>
            <a:pPr marL="228600" indent="-228600">
              <a:spcAft>
                <a:spcPts val="800"/>
              </a:spcAft>
              <a:buSzPct val="100000"/>
              <a:buChar char="•"/>
            </a:pPr>
            <a:r>
              <a:rPr lang="en-US" sz="1600" b="1" dirty="0">
                <a:solidFill>
                  <a:srgbClr val="17324F"/>
                </a:solidFill>
                <a:latin typeface="Times New Roman"/>
                <a:ea typeface="Times New Roman"/>
                <a:cs typeface="Times New Roman"/>
              </a:rPr>
              <a:t>Fully analog: no microcontroller, no firmware. Behaviour is predictable from circuit theory and verifiable by simulation.</a:t>
            </a:r>
            <a:endParaRPr lang="en-US" sz="1600" dirty="0">
              <a:latin typeface="Times New Roman"/>
              <a:ea typeface="Times New Roman"/>
              <a:cs typeface="Times New Roman"/>
            </a:endParaRPr>
          </a:p>
        </p:txBody>
      </p:sp>
      <p:sp>
        <p:nvSpPr>
          <p:cNvPr id="9" name="Shape 1">
            <a:extLst>
              <a:ext uri="{FF2B5EF4-FFF2-40B4-BE49-F238E27FC236}">
                <a16:creationId xmlns:a16="http://schemas.microsoft.com/office/drawing/2014/main" id="{12CED8D8-7055-21AF-16C9-F6834585D2F8}"/>
              </a:ext>
            </a:extLst>
          </p:cNvPr>
          <p:cNvSpPr/>
          <p:nvPr/>
        </p:nvSpPr>
        <p:spPr>
          <a:xfrm>
            <a:off x="0" y="6108192"/>
            <a:ext cx="12192000" cy="749808"/>
          </a:xfrm>
          <a:prstGeom prst="rect">
            <a:avLst/>
          </a:prstGeom>
          <a:solidFill>
            <a:srgbClr val="C00000"/>
          </a:solidFill>
          <a:ln/>
        </p:spPr>
      </p:sp>
      <p:sp>
        <p:nvSpPr>
          <p:cNvPr id="10" name="Text 2">
            <a:extLst>
              <a:ext uri="{FF2B5EF4-FFF2-40B4-BE49-F238E27FC236}">
                <a16:creationId xmlns:a16="http://schemas.microsoft.com/office/drawing/2014/main" id="{9F100075-F70B-E863-8CAC-1A0C13E1741F}"/>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1" name="Text 3">
            <a:extLst>
              <a:ext uri="{FF2B5EF4-FFF2-40B4-BE49-F238E27FC236}">
                <a16:creationId xmlns:a16="http://schemas.microsoft.com/office/drawing/2014/main" id="{0A7ABDC2-F147-576B-05E8-BC4D3D734CF4}"/>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2" name="Text 4">
            <a:extLst>
              <a:ext uri="{FF2B5EF4-FFF2-40B4-BE49-F238E27FC236}">
                <a16:creationId xmlns:a16="http://schemas.microsoft.com/office/drawing/2014/main" id="{29A10763-F71B-8FB3-AE61-0C42A82BB543}"/>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2206099</a:t>
            </a:r>
            <a:endParaRPr lang="en-US" sz="1600" dirty="0">
              <a:latin typeface="Times New Roman"/>
              <a:ea typeface="Times New Roman"/>
              <a:cs typeface="Times New Roman"/>
            </a:endParaRPr>
          </a:p>
        </p:txBody>
      </p:sp>
      <p:sp>
        <p:nvSpPr>
          <p:cNvPr id="13" name="Text 5">
            <a:extLst>
              <a:ext uri="{FF2B5EF4-FFF2-40B4-BE49-F238E27FC236}">
                <a16:creationId xmlns:a16="http://schemas.microsoft.com/office/drawing/2014/main" id="{B697BF43-DF99-BC88-CA3D-DCAF7FBBFA71}"/>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16</a:t>
            </a:r>
            <a:endParaRPr lang="en-US" sz="1600" dirty="0">
              <a:latin typeface="Times New Roman"/>
              <a:ea typeface="Times New Roman"/>
              <a:cs typeface="Times New Roman"/>
            </a:endParaRPr>
          </a:p>
        </p:txBody>
      </p:sp>
      <p:pic>
        <p:nvPicPr>
          <p:cNvPr id="14" name="Picture 13">
            <a:extLst>
              <a:ext uri="{FF2B5EF4-FFF2-40B4-BE49-F238E27FC236}">
                <a16:creationId xmlns:a16="http://schemas.microsoft.com/office/drawing/2014/main" id="{36FFF2CB-257C-F973-66E4-C60239C28EE6}"/>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2045761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5.2  Design Considerations (PO(c))</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17</a:t>
            </a:r>
            <a:endParaRPr lang="en-US" sz="1100" dirty="0">
              <a:latin typeface="Times New Roman"/>
              <a:ea typeface="Times New Roman"/>
              <a:cs typeface="Times New Roman"/>
            </a:endParaRPr>
          </a:p>
        </p:txBody>
      </p:sp>
      <p:sp>
        <p:nvSpPr>
          <p:cNvPr id="8" name="Shape 6"/>
          <p:cNvSpPr/>
          <p:nvPr/>
        </p:nvSpPr>
        <p:spPr>
          <a:xfrm>
            <a:off x="502920" y="1371600"/>
            <a:ext cx="3611880" cy="4617720"/>
          </a:xfrm>
          <a:prstGeom prst="roundRect">
            <a:avLst>
              <a:gd name="adj" fmla="val 1266"/>
            </a:avLst>
          </a:prstGeom>
          <a:solidFill>
            <a:srgbClr val="F2F5F9"/>
          </a:solidFill>
          <a:ln w="9525">
            <a:solidFill>
              <a:srgbClr val="C3CCD6"/>
            </a:solidFill>
            <a:prstDash val="solid"/>
          </a:ln>
        </p:spPr>
      </p:sp>
      <p:sp>
        <p:nvSpPr>
          <p:cNvPr id="9" name="Text 7"/>
          <p:cNvSpPr txBox="1"/>
          <p:nvPr/>
        </p:nvSpPr>
        <p:spPr>
          <a:xfrm>
            <a:off x="685800" y="1508760"/>
            <a:ext cx="3246120" cy="502920"/>
          </a:xfrm>
          <a:prstGeom prst="rect">
            <a:avLst/>
          </a:prstGeom>
          <a:noFill/>
          <a:ln/>
        </p:spPr>
        <p:txBody>
          <a:bodyPr wrap="square" lIns="0" tIns="0" rIns="0" bIns="0" rtlCol="0" anchor="ctr"/>
          <a:lstStyle/>
          <a:p>
            <a:pPr marL="0" indent="0">
              <a:buNone/>
            </a:pPr>
            <a:r>
              <a:rPr lang="en-US" sz="2000" b="1" dirty="0">
                <a:solidFill>
                  <a:srgbClr val="1F3B63"/>
                </a:solidFill>
                <a:latin typeface="Times New Roman"/>
                <a:ea typeface="Times New Roman"/>
                <a:cs typeface="Times New Roman"/>
              </a:rPr>
              <a:t>Public health and safety</a:t>
            </a:r>
            <a:endParaRPr lang="en-US" sz="2000" dirty="0">
              <a:latin typeface="Times New Roman"/>
              <a:ea typeface="Times New Roman"/>
              <a:cs typeface="Times New Roman"/>
            </a:endParaRPr>
          </a:p>
        </p:txBody>
      </p:sp>
      <p:sp>
        <p:nvSpPr>
          <p:cNvPr id="10" name="Text 8"/>
          <p:cNvSpPr txBox="1"/>
          <p:nvPr/>
        </p:nvSpPr>
        <p:spPr>
          <a:xfrm>
            <a:off x="685800" y="2011680"/>
            <a:ext cx="3246120" cy="3840480"/>
          </a:xfrm>
          <a:prstGeom prst="rect">
            <a:avLst/>
          </a:prstGeom>
          <a:noFill/>
          <a:ln/>
        </p:spPr>
        <p:txBody>
          <a:bodyPr wrap="square" lIns="0" tIns="0" rIns="0" bIns="0" rtlCol="0" anchor="t"/>
          <a:lstStyle/>
          <a:p>
            <a:pPr marL="177800" indent="-177800">
              <a:spcAft>
                <a:spcPts val="700"/>
              </a:spcAft>
              <a:buSzPct val="100000"/>
              <a:buChar char="•"/>
            </a:pPr>
            <a:r>
              <a:rPr lang="en-US" sz="1600" dirty="0">
                <a:solidFill>
                  <a:srgbClr val="17324F"/>
                </a:solidFill>
                <a:latin typeface="Times New Roman"/>
                <a:ea typeface="Times New Roman"/>
                <a:cs typeface="Times New Roman"/>
              </a:rPr>
              <a:t>5 mW, 650 nm laser is Class 3R - direct viewing can injure the retina.</a:t>
            </a:r>
            <a:endParaRPr lang="en-US" sz="1600" dirty="0">
              <a:latin typeface="Times New Roman"/>
              <a:ea typeface="Times New Roman"/>
              <a:cs typeface="Times New Roman"/>
            </a:endParaRPr>
          </a:p>
          <a:p>
            <a:pPr marL="177800" indent="-177800">
              <a:spcAft>
                <a:spcPts val="700"/>
              </a:spcAft>
              <a:buSzPct val="100000"/>
              <a:buChar char="•"/>
            </a:pPr>
            <a:r>
              <a:rPr lang="en-US" sz="1600" dirty="0">
                <a:solidFill>
                  <a:srgbClr val="17324F"/>
                </a:solidFill>
                <a:latin typeface="Times New Roman"/>
                <a:ea typeface="Times New Roman"/>
                <a:cs typeface="Times New Roman"/>
              </a:rPr>
              <a:t>Beam kept below eye level, terminated at the detector, never aimed at a person.</a:t>
            </a:r>
            <a:endParaRPr lang="en-US" sz="1600" dirty="0">
              <a:latin typeface="Times New Roman"/>
              <a:ea typeface="Times New Roman"/>
              <a:cs typeface="Times New Roman"/>
            </a:endParaRPr>
          </a:p>
          <a:p>
            <a:pPr marL="177800" indent="-177800">
              <a:spcAft>
                <a:spcPts val="700"/>
              </a:spcAft>
              <a:buSzPct val="100000"/>
              <a:buChar char="•"/>
            </a:pPr>
            <a:r>
              <a:rPr lang="en-US" sz="1600" dirty="0">
                <a:solidFill>
                  <a:srgbClr val="17324F"/>
                </a:solidFill>
                <a:latin typeface="Times New Roman"/>
                <a:ea typeface="Times New Roman"/>
                <a:cs typeface="Times New Roman"/>
              </a:rPr>
              <a:t>Reflective objects kept out of the beam path.</a:t>
            </a:r>
            <a:endParaRPr lang="en-US" sz="1600" dirty="0">
              <a:latin typeface="Times New Roman"/>
              <a:ea typeface="Times New Roman"/>
              <a:cs typeface="Times New Roman"/>
            </a:endParaRPr>
          </a:p>
          <a:p>
            <a:pPr marL="177800" indent="-177800">
              <a:spcAft>
                <a:spcPts val="700"/>
              </a:spcAft>
              <a:buSzPct val="100000"/>
              <a:buChar char="•"/>
            </a:pPr>
            <a:r>
              <a:rPr lang="en-US" sz="1600" dirty="0">
                <a:solidFill>
                  <a:srgbClr val="17324F"/>
                </a:solidFill>
                <a:latin typeface="Times New Roman"/>
                <a:ea typeface="Times New Roman"/>
                <a:cs typeface="Times New Roman"/>
              </a:rPr>
              <a:t>The current driver limits the laser to below its 40 mA rating under all signal conditions.</a:t>
            </a:r>
            <a:endParaRPr lang="en-US" sz="1600" dirty="0">
              <a:latin typeface="Times New Roman"/>
              <a:ea typeface="Times New Roman"/>
              <a:cs typeface="Times New Roman"/>
            </a:endParaRPr>
          </a:p>
          <a:p>
            <a:pPr marL="177800" indent="-177800">
              <a:spcAft>
                <a:spcPts val="700"/>
              </a:spcAft>
              <a:buSzPct val="100000"/>
              <a:buChar char="•"/>
            </a:pPr>
            <a:r>
              <a:rPr lang="en-US" sz="1600" dirty="0">
                <a:solidFill>
                  <a:srgbClr val="17324F"/>
                </a:solidFill>
                <a:latin typeface="Times New Roman"/>
                <a:ea typeface="Times New Roman"/>
                <a:cs typeface="Times New Roman"/>
              </a:rPr>
              <a:t>Boards run at 9 V; the mains-connected bench supply is isolated by a transformer.</a:t>
            </a:r>
            <a:endParaRPr lang="en-US" sz="1600" dirty="0">
              <a:latin typeface="Times New Roman"/>
              <a:ea typeface="Times New Roman"/>
              <a:cs typeface="Times New Roman"/>
            </a:endParaRPr>
          </a:p>
        </p:txBody>
      </p:sp>
      <p:sp>
        <p:nvSpPr>
          <p:cNvPr id="11" name="Shape 9"/>
          <p:cNvSpPr/>
          <p:nvPr/>
        </p:nvSpPr>
        <p:spPr>
          <a:xfrm>
            <a:off x="4297680" y="1371600"/>
            <a:ext cx="3611880" cy="4617720"/>
          </a:xfrm>
          <a:prstGeom prst="roundRect">
            <a:avLst>
              <a:gd name="adj" fmla="val 1266"/>
            </a:avLst>
          </a:prstGeom>
          <a:solidFill>
            <a:srgbClr val="F2F5F9"/>
          </a:solidFill>
          <a:ln w="9525">
            <a:solidFill>
              <a:srgbClr val="C3CCD6"/>
            </a:solidFill>
            <a:prstDash val="solid"/>
          </a:ln>
        </p:spPr>
      </p:sp>
      <p:sp>
        <p:nvSpPr>
          <p:cNvPr id="12" name="Text 10"/>
          <p:cNvSpPr txBox="1"/>
          <p:nvPr/>
        </p:nvSpPr>
        <p:spPr>
          <a:xfrm>
            <a:off x="4480560" y="1508760"/>
            <a:ext cx="3246120" cy="502920"/>
          </a:xfrm>
          <a:prstGeom prst="rect">
            <a:avLst/>
          </a:prstGeom>
          <a:noFill/>
          <a:ln/>
        </p:spPr>
        <p:txBody>
          <a:bodyPr wrap="square" lIns="0" tIns="0" rIns="0" bIns="0" rtlCol="0" anchor="ctr"/>
          <a:lstStyle/>
          <a:p>
            <a:pPr marL="0" indent="0">
              <a:buNone/>
            </a:pPr>
            <a:r>
              <a:rPr lang="en-US" sz="2000" b="1" dirty="0">
                <a:solidFill>
                  <a:srgbClr val="1F3B63"/>
                </a:solidFill>
                <a:latin typeface="Times New Roman"/>
                <a:ea typeface="Times New Roman"/>
                <a:cs typeface="Times New Roman"/>
              </a:rPr>
              <a:t>Environment</a:t>
            </a:r>
            <a:endParaRPr lang="en-US" sz="2000" dirty="0">
              <a:latin typeface="Times New Roman"/>
              <a:ea typeface="Times New Roman"/>
              <a:cs typeface="Times New Roman"/>
            </a:endParaRPr>
          </a:p>
        </p:txBody>
      </p:sp>
      <p:sp>
        <p:nvSpPr>
          <p:cNvPr id="13" name="Text 11"/>
          <p:cNvSpPr txBox="1"/>
          <p:nvPr/>
        </p:nvSpPr>
        <p:spPr>
          <a:xfrm>
            <a:off x="4480560" y="2011680"/>
            <a:ext cx="3246120" cy="3840480"/>
          </a:xfrm>
          <a:prstGeom prst="rect">
            <a:avLst/>
          </a:prstGeom>
          <a:noFill/>
          <a:ln/>
        </p:spPr>
        <p:txBody>
          <a:bodyPr wrap="square" lIns="0" tIns="0" rIns="0" bIns="0" rtlCol="0" anchor="t"/>
          <a:lstStyle/>
          <a:p>
            <a:pPr marL="177800" indent="-177800">
              <a:spcAft>
                <a:spcPts val="700"/>
              </a:spcAft>
              <a:buSzPct val="100000"/>
              <a:buChar char="•"/>
            </a:pPr>
            <a:r>
              <a:rPr lang="en-US" sz="1600" dirty="0">
                <a:solidFill>
                  <a:srgbClr val="17324F"/>
                </a:solidFill>
                <a:latin typeface="Times New Roman"/>
                <a:ea typeface="Times New Roman"/>
                <a:cs typeface="Times New Roman"/>
              </a:rPr>
              <a:t>Reusable breadboards and through-hole parts - no PCB etching chemicals, no permanent e-waste.</a:t>
            </a:r>
            <a:endParaRPr lang="en-US" sz="1600" dirty="0">
              <a:latin typeface="Times New Roman"/>
              <a:ea typeface="Times New Roman"/>
              <a:cs typeface="Times New Roman"/>
            </a:endParaRPr>
          </a:p>
          <a:p>
            <a:pPr marL="177800" indent="-177800">
              <a:spcAft>
                <a:spcPts val="700"/>
              </a:spcAft>
              <a:buSzPct val="100000"/>
              <a:buChar char="•"/>
            </a:pPr>
            <a:r>
              <a:rPr lang="en-US" sz="1600" dirty="0">
                <a:solidFill>
                  <a:srgbClr val="17324F"/>
                </a:solidFill>
                <a:latin typeface="Times New Roman"/>
                <a:ea typeface="Times New Roman"/>
                <a:cs typeface="Times New Roman"/>
              </a:rPr>
              <a:t>Receiver draws 10.48 mA at 7.96 V ≈ 83 mW; the whole link runs on under a quarter of a watt.</a:t>
            </a:r>
            <a:endParaRPr lang="en-US" sz="1600" dirty="0">
              <a:latin typeface="Times New Roman"/>
              <a:ea typeface="Times New Roman"/>
              <a:cs typeface="Times New Roman"/>
            </a:endParaRPr>
          </a:p>
          <a:p>
            <a:pPr marL="177800" indent="-177800">
              <a:spcAft>
                <a:spcPts val="700"/>
              </a:spcAft>
              <a:buSzPct val="100000"/>
              <a:buChar char="•"/>
            </a:pPr>
            <a:r>
              <a:rPr lang="en-US" sz="1600" dirty="0">
                <a:solidFill>
                  <a:srgbClr val="17324F"/>
                </a:solidFill>
                <a:latin typeface="Times New Roman"/>
                <a:ea typeface="Times New Roman"/>
                <a:cs typeface="Times New Roman"/>
              </a:rPr>
              <a:t>Laser module rated for over 2000 hours, which limits the replacement rate.</a:t>
            </a:r>
            <a:endParaRPr lang="en-US" sz="1600" dirty="0">
              <a:latin typeface="Times New Roman"/>
              <a:ea typeface="Times New Roman"/>
              <a:cs typeface="Times New Roman"/>
            </a:endParaRPr>
          </a:p>
        </p:txBody>
      </p:sp>
      <p:sp>
        <p:nvSpPr>
          <p:cNvPr id="14" name="Shape 12"/>
          <p:cNvSpPr/>
          <p:nvPr/>
        </p:nvSpPr>
        <p:spPr>
          <a:xfrm>
            <a:off x="8092440" y="1371600"/>
            <a:ext cx="3611880" cy="4617720"/>
          </a:xfrm>
          <a:prstGeom prst="roundRect">
            <a:avLst>
              <a:gd name="adj" fmla="val 1266"/>
            </a:avLst>
          </a:prstGeom>
          <a:solidFill>
            <a:srgbClr val="F2F5F9"/>
          </a:solidFill>
          <a:ln w="9525">
            <a:solidFill>
              <a:srgbClr val="C3CCD6"/>
            </a:solidFill>
            <a:prstDash val="solid"/>
          </a:ln>
        </p:spPr>
      </p:sp>
      <p:sp>
        <p:nvSpPr>
          <p:cNvPr id="15" name="Text 13"/>
          <p:cNvSpPr txBox="1"/>
          <p:nvPr/>
        </p:nvSpPr>
        <p:spPr>
          <a:xfrm>
            <a:off x="8275320" y="1508760"/>
            <a:ext cx="3246120" cy="502920"/>
          </a:xfrm>
          <a:prstGeom prst="rect">
            <a:avLst/>
          </a:prstGeom>
          <a:noFill/>
          <a:ln/>
        </p:spPr>
        <p:txBody>
          <a:bodyPr wrap="square" lIns="0" tIns="0" rIns="0" bIns="0" rtlCol="0" anchor="ctr"/>
          <a:lstStyle/>
          <a:p>
            <a:pPr marL="0" indent="0">
              <a:buNone/>
            </a:pPr>
            <a:r>
              <a:rPr lang="en-US" sz="2000" b="1" dirty="0">
                <a:solidFill>
                  <a:srgbClr val="1F3B63"/>
                </a:solidFill>
                <a:latin typeface="Times New Roman"/>
                <a:ea typeface="Times New Roman"/>
                <a:cs typeface="Times New Roman"/>
              </a:rPr>
              <a:t>Cultural and societal needs</a:t>
            </a:r>
            <a:endParaRPr lang="en-US" sz="2000" dirty="0">
              <a:latin typeface="Times New Roman"/>
              <a:ea typeface="Times New Roman"/>
              <a:cs typeface="Times New Roman"/>
            </a:endParaRPr>
          </a:p>
        </p:txBody>
      </p:sp>
      <p:sp>
        <p:nvSpPr>
          <p:cNvPr id="16" name="Text 14"/>
          <p:cNvSpPr txBox="1"/>
          <p:nvPr/>
        </p:nvSpPr>
        <p:spPr>
          <a:xfrm>
            <a:off x="8275320" y="2011680"/>
            <a:ext cx="3246120" cy="3840480"/>
          </a:xfrm>
          <a:prstGeom prst="rect">
            <a:avLst/>
          </a:prstGeom>
          <a:noFill/>
          <a:ln/>
        </p:spPr>
        <p:txBody>
          <a:bodyPr wrap="square" lIns="0" tIns="0" rIns="0" bIns="0" rtlCol="0" anchor="t"/>
          <a:lstStyle/>
          <a:p>
            <a:pPr marL="177800" indent="-177800">
              <a:spcAft>
                <a:spcPts val="700"/>
              </a:spcAft>
              <a:buSzPct val="100000"/>
              <a:buChar char="•"/>
            </a:pPr>
            <a:r>
              <a:rPr lang="en-US" sz="1600" dirty="0">
                <a:solidFill>
                  <a:srgbClr val="17324F"/>
                </a:solidFill>
                <a:latin typeface="Times New Roman"/>
                <a:ea typeface="Times New Roman"/>
                <a:cs typeface="Times New Roman"/>
              </a:rPr>
              <a:t>Every component is available in local Dhaka markets for a few hundred taka.</a:t>
            </a:r>
            <a:endParaRPr lang="en-US" sz="1600" dirty="0">
              <a:latin typeface="Times New Roman"/>
              <a:ea typeface="Times New Roman"/>
              <a:cs typeface="Times New Roman"/>
            </a:endParaRPr>
          </a:p>
          <a:p>
            <a:pPr marL="177800" indent="-177800">
              <a:spcAft>
                <a:spcPts val="700"/>
              </a:spcAft>
              <a:buSzPct val="100000"/>
              <a:buChar char="•"/>
            </a:pPr>
            <a:r>
              <a:rPr lang="en-US" sz="1600" dirty="0">
                <a:solidFill>
                  <a:srgbClr val="17324F"/>
                </a:solidFill>
                <a:latin typeface="Times New Roman"/>
                <a:ea typeface="Times New Roman"/>
                <a:cs typeface="Times New Roman"/>
              </a:rPr>
              <a:t>Reproducible by any undergraduate group - suitable as a low-cost teaching demonstrator.</a:t>
            </a:r>
            <a:endParaRPr lang="en-US" sz="1600" dirty="0">
              <a:latin typeface="Times New Roman"/>
              <a:ea typeface="Times New Roman"/>
              <a:cs typeface="Times New Roman"/>
            </a:endParaRPr>
          </a:p>
          <a:p>
            <a:pPr marL="177800" indent="-177800">
              <a:spcAft>
                <a:spcPts val="700"/>
              </a:spcAft>
              <a:buSzPct val="100000"/>
              <a:buChar char="•"/>
            </a:pPr>
            <a:r>
              <a:rPr lang="en-US" sz="1600" dirty="0">
                <a:solidFill>
                  <a:srgbClr val="17324F"/>
                </a:solidFill>
                <a:latin typeface="Times New Roman"/>
                <a:ea typeface="Times New Roman"/>
                <a:cs typeface="Times New Roman"/>
              </a:rPr>
              <a:t>Serves places where radio is restricted: hospitals, industrial areas, secure rooms.</a:t>
            </a:r>
            <a:endParaRPr lang="en-US" sz="1600" dirty="0">
              <a:latin typeface="Times New Roman"/>
              <a:ea typeface="Times New Roman"/>
              <a:cs typeface="Times New Roman"/>
            </a:endParaRPr>
          </a:p>
        </p:txBody>
      </p:sp>
      <p:sp>
        <p:nvSpPr>
          <p:cNvPr id="17" name="Shape 1">
            <a:extLst>
              <a:ext uri="{FF2B5EF4-FFF2-40B4-BE49-F238E27FC236}">
                <a16:creationId xmlns:a16="http://schemas.microsoft.com/office/drawing/2014/main" id="{4DD0AD27-AC54-53EF-759A-F8036592688E}"/>
              </a:ext>
            </a:extLst>
          </p:cNvPr>
          <p:cNvSpPr/>
          <p:nvPr/>
        </p:nvSpPr>
        <p:spPr>
          <a:xfrm>
            <a:off x="0" y="6108192"/>
            <a:ext cx="12192000" cy="749808"/>
          </a:xfrm>
          <a:prstGeom prst="rect">
            <a:avLst/>
          </a:prstGeom>
          <a:solidFill>
            <a:srgbClr val="C00000"/>
          </a:solidFill>
          <a:ln/>
        </p:spPr>
      </p:sp>
      <p:sp>
        <p:nvSpPr>
          <p:cNvPr id="18" name="Text 2">
            <a:extLst>
              <a:ext uri="{FF2B5EF4-FFF2-40B4-BE49-F238E27FC236}">
                <a16:creationId xmlns:a16="http://schemas.microsoft.com/office/drawing/2014/main" id="{6B497064-BDD8-C4E7-01D9-914010A752DD}"/>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9" name="Text 3">
            <a:extLst>
              <a:ext uri="{FF2B5EF4-FFF2-40B4-BE49-F238E27FC236}">
                <a16:creationId xmlns:a16="http://schemas.microsoft.com/office/drawing/2014/main" id="{3C509F4E-FFE2-1717-8ADA-CC07B9EC958D}"/>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20" name="Text 4">
            <a:extLst>
              <a:ext uri="{FF2B5EF4-FFF2-40B4-BE49-F238E27FC236}">
                <a16:creationId xmlns:a16="http://schemas.microsoft.com/office/drawing/2014/main" id="{74F60373-86EA-D64D-50F4-590808ADB3DA}"/>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22060999</a:t>
            </a:r>
            <a:endParaRPr lang="en-US" sz="1600" dirty="0">
              <a:latin typeface="Times New Roman"/>
              <a:ea typeface="Times New Roman"/>
              <a:cs typeface="Times New Roman"/>
            </a:endParaRPr>
          </a:p>
        </p:txBody>
      </p:sp>
      <p:sp>
        <p:nvSpPr>
          <p:cNvPr id="21" name="Text 5">
            <a:extLst>
              <a:ext uri="{FF2B5EF4-FFF2-40B4-BE49-F238E27FC236}">
                <a16:creationId xmlns:a16="http://schemas.microsoft.com/office/drawing/2014/main" id="{2F000153-6437-F2C3-2DD1-7C8AE84D7D20}"/>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17</a:t>
            </a:r>
            <a:endParaRPr lang="en-US" sz="1600" dirty="0">
              <a:latin typeface="Times New Roman"/>
              <a:ea typeface="Times New Roman"/>
              <a:cs typeface="Times New Roman"/>
            </a:endParaRPr>
          </a:p>
        </p:txBody>
      </p:sp>
      <p:pic>
        <p:nvPicPr>
          <p:cNvPr id="22" name="Picture 21">
            <a:extLst>
              <a:ext uri="{FF2B5EF4-FFF2-40B4-BE49-F238E27FC236}">
                <a16:creationId xmlns:a16="http://schemas.microsoft.com/office/drawing/2014/main" id="{57D31ED3-89F0-B969-F2CA-4E8F7D280546}"/>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1125126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26720" y="405385"/>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5.3  Investigations (PO(d))</a:t>
            </a:r>
            <a:endParaRPr lang="en-US" sz="4400" dirty="0">
              <a:latin typeface="Times New Roman"/>
              <a:ea typeface="Times New Roman"/>
              <a:cs typeface="Times New Roman"/>
            </a:endParaRPr>
          </a:p>
        </p:txBody>
      </p:sp>
      <p:sp>
        <p:nvSpPr>
          <p:cNvPr id="3" name="Text 1"/>
          <p:cNvSpPr txBox="1"/>
          <p:nvPr/>
        </p:nvSpPr>
        <p:spPr>
          <a:xfrm>
            <a:off x="454152" y="990601"/>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Design of experiment and DC measurements</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18</a:t>
            </a:r>
            <a:endParaRPr lang="en-US" sz="1100" dirty="0">
              <a:latin typeface="Times New Roman"/>
              <a:ea typeface="Times New Roman"/>
              <a:cs typeface="Times New Roman"/>
            </a:endParaRPr>
          </a:p>
        </p:txBody>
      </p:sp>
      <p:sp>
        <p:nvSpPr>
          <p:cNvPr id="9" name="Text 7"/>
          <p:cNvSpPr txBox="1"/>
          <p:nvPr/>
        </p:nvSpPr>
        <p:spPr>
          <a:xfrm>
            <a:off x="548640" y="1686665"/>
            <a:ext cx="5943600" cy="47548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7324F"/>
                </a:solidFill>
                <a:latin typeface="Times New Roman"/>
                <a:ea typeface="Times New Roman"/>
                <a:cs typeface="Times New Roman"/>
              </a:rPr>
              <a:t>Signal-chain tracing — waveform observed at four successive points to confirm each stage works without clipping.</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Frequency response — constant-amplitude tone swept from 40 Hz to 13 kHz, output amplitude recorded.</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Ambient-light sensitivity — recovered waveform compared with room lights dim and with a lamp beside the receiver.</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Detector comparison and range — phototransistor vs bare photodiode vs shrouded photodiode; maximum usable distance found by listening.</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4A5A6B"/>
                </a:solidFill>
                <a:latin typeface="Times New Roman"/>
                <a:ea typeface="Times New Roman"/>
                <a:cs typeface="Times New Roman"/>
              </a:rPr>
              <a:t>Instrument: GW Instek GDS-2104A 100 MHz DSO; source: MacBook headphone output measured at 0.5 V RMS.</a:t>
            </a:r>
            <a:endParaRPr lang="en-US" sz="1600" dirty="0">
              <a:latin typeface="Times New Roman"/>
              <a:ea typeface="Times New Roman"/>
              <a:cs typeface="Times New Roman"/>
            </a:endParaRPr>
          </a:p>
        </p:txBody>
      </p:sp>
      <p:graphicFrame>
        <p:nvGraphicFramePr>
          <p:cNvPr id="19" name="Table 0"/>
          <p:cNvGraphicFramePr>
            <a:graphicFrameLocks noGrp="1"/>
          </p:cNvGraphicFramePr>
          <p:nvPr>
            <p:extLst>
              <p:ext uri="{D42A27DB-BD31-4B8C-83A1-F6EECF244321}">
                <p14:modId xmlns:p14="http://schemas.microsoft.com/office/powerpoint/2010/main" val="854029103"/>
              </p:ext>
            </p:extLst>
          </p:nvPr>
        </p:nvGraphicFramePr>
        <p:xfrm>
          <a:off x="6781800" y="1612393"/>
          <a:ext cx="5074920" cy="3210560"/>
        </p:xfrm>
        <a:graphic>
          <a:graphicData uri="http://schemas.openxmlformats.org/drawingml/2006/table">
            <a:tbl>
              <a:tblPr/>
              <a:tblGrid>
                <a:gridCol w="320040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tblGrid>
              <a:tr h="0">
                <a:tc>
                  <a:txBody>
                    <a:bodyPr/>
                    <a:lstStyle/>
                    <a:p>
                      <a:pPr marL="0" indent="0" algn="ctr">
                        <a:buNone/>
                      </a:pPr>
                      <a:r>
                        <a:rPr lang="en-US" sz="1800" b="1" dirty="0">
                          <a:solidFill>
                            <a:srgbClr val="FFFFFF"/>
                          </a:solidFill>
                          <a:latin typeface="Times New Roman"/>
                          <a:ea typeface="Times New Roman"/>
                          <a:cs typeface="Times New Roman"/>
                        </a:rPr>
                        <a:t>Quantity</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Times New Roman"/>
                          <a:ea typeface="Times New Roman"/>
                          <a:cs typeface="Times New Roman"/>
                        </a:rPr>
                        <a:t>Measured</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0">
                <a:tc>
                  <a:txBody>
                    <a:bodyPr/>
                    <a:lstStyle/>
                    <a:p>
                      <a:pPr marL="0" indent="0" algn="l">
                        <a:buNone/>
                      </a:pPr>
                      <a:r>
                        <a:rPr lang="en-US" sz="1800" dirty="0">
                          <a:solidFill>
                            <a:srgbClr val="17324F"/>
                          </a:solidFill>
                          <a:latin typeface="Times New Roman"/>
                          <a:ea typeface="Times New Roman"/>
                          <a:cs typeface="Times New Roman"/>
                        </a:rPr>
                        <a:t>Transmitter supply voltage</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7324F"/>
                          </a:solidFill>
                          <a:latin typeface="Times New Roman"/>
                          <a:ea typeface="Times New Roman"/>
                          <a:cs typeface="Times New Roman"/>
                        </a:rPr>
                        <a:t>8.83 V</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800" dirty="0">
                          <a:solidFill>
                            <a:srgbClr val="17324F"/>
                          </a:solidFill>
                          <a:latin typeface="Times New Roman"/>
                          <a:ea typeface="Times New Roman"/>
                          <a:cs typeface="Times New Roman"/>
                        </a:rPr>
                        <a:t>Receiver supply voltage</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800" dirty="0">
                          <a:solidFill>
                            <a:srgbClr val="17324F"/>
                          </a:solidFill>
                          <a:latin typeface="Times New Roman"/>
                          <a:ea typeface="Times New Roman"/>
                          <a:cs typeface="Times New Roman"/>
                        </a:rPr>
                        <a:t>7.96 V</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2"/>
                  </a:ext>
                </a:extLst>
              </a:tr>
              <a:tr h="0">
                <a:tc>
                  <a:txBody>
                    <a:bodyPr/>
                    <a:lstStyle/>
                    <a:p>
                      <a:pPr marL="0" indent="0" algn="l">
                        <a:buNone/>
                      </a:pPr>
                      <a:r>
                        <a:rPr lang="en-US" sz="1800" dirty="0">
                          <a:solidFill>
                            <a:srgbClr val="17324F"/>
                          </a:solidFill>
                          <a:latin typeface="Times New Roman"/>
                          <a:ea typeface="Times New Roman"/>
                          <a:cs typeface="Times New Roman"/>
                        </a:rPr>
                        <a:t>Receiver supply current</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7324F"/>
                          </a:solidFill>
                          <a:latin typeface="Times New Roman"/>
                          <a:ea typeface="Times New Roman"/>
                          <a:cs typeface="Times New Roman"/>
                        </a:rPr>
                        <a:t>10.48 mA</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800" dirty="0">
                          <a:solidFill>
                            <a:srgbClr val="17324F"/>
                          </a:solidFill>
                          <a:latin typeface="Times New Roman"/>
                          <a:ea typeface="Times New Roman"/>
                          <a:cs typeface="Times New Roman"/>
                        </a:rPr>
                        <a:t>Laser bias current</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800" dirty="0">
                          <a:solidFill>
                            <a:srgbClr val="17324F"/>
                          </a:solidFill>
                          <a:latin typeface="Times New Roman"/>
                          <a:ea typeface="Times New Roman"/>
                          <a:cs typeface="Times New Roman"/>
                        </a:rPr>
                        <a:t>7.75 mA</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4"/>
                  </a:ext>
                </a:extLst>
              </a:tr>
              <a:tr h="0">
                <a:tc>
                  <a:txBody>
                    <a:bodyPr/>
                    <a:lstStyle/>
                    <a:p>
                      <a:pPr marL="0" indent="0" algn="l">
                        <a:buNone/>
                      </a:pPr>
                      <a:r>
                        <a:rPr lang="en-US" sz="1800" dirty="0">
                          <a:solidFill>
                            <a:srgbClr val="17324F"/>
                          </a:solidFill>
                          <a:latin typeface="Times New Roman"/>
                          <a:ea typeface="Times New Roman"/>
                          <a:cs typeface="Times New Roman"/>
                        </a:rPr>
                        <a:t>Laser peak current</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7324F"/>
                          </a:solidFill>
                          <a:latin typeface="Times New Roman"/>
                          <a:ea typeface="Times New Roman"/>
                          <a:cs typeface="Times New Roman"/>
                        </a:rPr>
                        <a:t>≈ 10 mA</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800" dirty="0">
                          <a:solidFill>
                            <a:srgbClr val="17324F"/>
                          </a:solidFill>
                          <a:latin typeface="Times New Roman"/>
                          <a:ea typeface="Times New Roman"/>
                          <a:cs typeface="Times New Roman"/>
                        </a:rPr>
                        <a:t>Laser forward voltage</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800" dirty="0">
                          <a:solidFill>
                            <a:srgbClr val="17324F"/>
                          </a:solidFill>
                          <a:latin typeface="Times New Roman"/>
                          <a:ea typeface="Times New Roman"/>
                          <a:cs typeface="Times New Roman"/>
                        </a:rPr>
                        <a:t>2.06 V</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6"/>
                  </a:ext>
                </a:extLst>
              </a:tr>
              <a:tr h="0">
                <a:tc>
                  <a:txBody>
                    <a:bodyPr/>
                    <a:lstStyle/>
                    <a:p>
                      <a:pPr marL="0" indent="0" algn="l">
                        <a:buNone/>
                      </a:pPr>
                      <a:r>
                        <a:rPr lang="en-US" sz="1800" dirty="0">
                          <a:solidFill>
                            <a:srgbClr val="17324F"/>
                          </a:solidFill>
                          <a:latin typeface="Times New Roman"/>
                          <a:ea typeface="Times New Roman"/>
                          <a:cs typeface="Times New Roman"/>
                        </a:rPr>
                        <a:t>Range (indoors)</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7324F"/>
                          </a:solidFill>
                          <a:latin typeface="Times New Roman"/>
                          <a:ea typeface="Times New Roman"/>
                          <a:cs typeface="Times New Roman"/>
                        </a:rPr>
                        <a:t>≈ 10 m verified</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0" name="Shape 1">
            <a:extLst>
              <a:ext uri="{FF2B5EF4-FFF2-40B4-BE49-F238E27FC236}">
                <a16:creationId xmlns:a16="http://schemas.microsoft.com/office/drawing/2014/main" id="{BEE8545F-B42E-D0E6-1A46-AF8EEF10FFD0}"/>
              </a:ext>
            </a:extLst>
          </p:cNvPr>
          <p:cNvSpPr/>
          <p:nvPr/>
        </p:nvSpPr>
        <p:spPr>
          <a:xfrm>
            <a:off x="0" y="6108192"/>
            <a:ext cx="12192000" cy="749808"/>
          </a:xfrm>
          <a:prstGeom prst="rect">
            <a:avLst/>
          </a:prstGeom>
          <a:solidFill>
            <a:srgbClr val="C00000"/>
          </a:solidFill>
          <a:ln/>
        </p:spPr>
      </p:sp>
      <p:sp>
        <p:nvSpPr>
          <p:cNvPr id="11" name="Text 2">
            <a:extLst>
              <a:ext uri="{FF2B5EF4-FFF2-40B4-BE49-F238E27FC236}">
                <a16:creationId xmlns:a16="http://schemas.microsoft.com/office/drawing/2014/main" id="{6DC8F24D-8A53-B5D3-BEF2-154C001F9DFE}"/>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2" name="Text 3">
            <a:extLst>
              <a:ext uri="{FF2B5EF4-FFF2-40B4-BE49-F238E27FC236}">
                <a16:creationId xmlns:a16="http://schemas.microsoft.com/office/drawing/2014/main" id="{1F365A5F-9AC6-9428-8A57-ACB5A713D09B}"/>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3" name="Text 4">
            <a:extLst>
              <a:ext uri="{FF2B5EF4-FFF2-40B4-BE49-F238E27FC236}">
                <a16:creationId xmlns:a16="http://schemas.microsoft.com/office/drawing/2014/main" id="{312D157A-AE49-14D2-A846-878BDC21BD65}"/>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2206104</a:t>
            </a:r>
            <a:endParaRPr lang="en-US" sz="1600" dirty="0">
              <a:latin typeface="Times New Roman"/>
              <a:ea typeface="Times New Roman"/>
              <a:cs typeface="Times New Roman"/>
            </a:endParaRPr>
          </a:p>
        </p:txBody>
      </p:sp>
      <p:sp>
        <p:nvSpPr>
          <p:cNvPr id="14" name="Text 5">
            <a:extLst>
              <a:ext uri="{FF2B5EF4-FFF2-40B4-BE49-F238E27FC236}">
                <a16:creationId xmlns:a16="http://schemas.microsoft.com/office/drawing/2014/main" id="{B467E942-005E-A80D-E0F0-F2DF39E31070}"/>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18</a:t>
            </a:r>
            <a:endParaRPr lang="en-US" sz="1600" dirty="0">
              <a:latin typeface="Times New Roman"/>
              <a:ea typeface="Times New Roman"/>
              <a:cs typeface="Times New Roman"/>
            </a:endParaRPr>
          </a:p>
        </p:txBody>
      </p:sp>
      <p:pic>
        <p:nvPicPr>
          <p:cNvPr id="15" name="Picture 14">
            <a:extLst>
              <a:ext uri="{FF2B5EF4-FFF2-40B4-BE49-F238E27FC236}">
                <a16:creationId xmlns:a16="http://schemas.microsoft.com/office/drawing/2014/main" id="{4402111D-53AF-0C7A-ECFE-3A98578EAA4F}"/>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1436313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5.3  Investigations (PO(d))</a:t>
            </a:r>
            <a:endParaRPr lang="en-US" sz="4400" dirty="0">
              <a:latin typeface="Times New Roman"/>
              <a:ea typeface="Times New Roman"/>
              <a:cs typeface="Times New Roman"/>
            </a:endParaRPr>
          </a:p>
        </p:txBody>
      </p:sp>
      <p:sp>
        <p:nvSpPr>
          <p:cNvPr id="3" name="Text 1"/>
          <p:cNvSpPr txBox="1"/>
          <p:nvPr/>
        </p:nvSpPr>
        <p:spPr>
          <a:xfrm>
            <a:off x="438912" y="841248"/>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Signal traced through the link</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19</a:t>
            </a:r>
            <a:endParaRPr lang="en-US" sz="1100" dirty="0">
              <a:latin typeface="Times New Roman"/>
              <a:ea typeface="Times New Roman"/>
              <a:cs typeface="Times New Roman"/>
            </a:endParaRPr>
          </a:p>
        </p:txBody>
      </p:sp>
      <p:pic>
        <p:nvPicPr>
          <p:cNvPr id="9" name="Image 0" descr="/home/claude/fig/scope_input.jpg"/>
          <p:cNvPicPr>
            <a:picLocks noChangeAspect="1"/>
          </p:cNvPicPr>
          <p:nvPr/>
        </p:nvPicPr>
        <p:blipFill>
          <a:blip r:embed="rId3"/>
          <a:stretch>
            <a:fillRect/>
          </a:stretch>
        </p:blipFill>
        <p:spPr>
          <a:xfrm>
            <a:off x="419100" y="1325880"/>
            <a:ext cx="2682240" cy="2011680"/>
          </a:xfrm>
          <a:prstGeom prst="rect">
            <a:avLst/>
          </a:prstGeom>
        </p:spPr>
      </p:pic>
      <p:sp>
        <p:nvSpPr>
          <p:cNvPr id="10" name="Text 7"/>
          <p:cNvSpPr txBox="1"/>
          <p:nvPr/>
        </p:nvSpPr>
        <p:spPr>
          <a:xfrm>
            <a:off x="137160" y="3374136"/>
            <a:ext cx="324612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Audio in at U1A pin 3</a:t>
            </a:r>
            <a:endParaRPr lang="en-US" sz="1400" dirty="0">
              <a:latin typeface="Times New Roman"/>
              <a:ea typeface="Times New Roman"/>
              <a:cs typeface="Times New Roman"/>
            </a:endParaRPr>
          </a:p>
        </p:txBody>
      </p:sp>
      <p:pic>
        <p:nvPicPr>
          <p:cNvPr id="11" name="Image 1" descr="/home/claude/fig/scope_filtered.jpg"/>
          <p:cNvPicPr>
            <a:picLocks noChangeAspect="1"/>
          </p:cNvPicPr>
          <p:nvPr/>
        </p:nvPicPr>
        <p:blipFill>
          <a:blip r:embed="rId4"/>
          <a:stretch>
            <a:fillRect/>
          </a:stretch>
        </p:blipFill>
        <p:spPr>
          <a:xfrm>
            <a:off x="3345180" y="1325880"/>
            <a:ext cx="2682240" cy="2011680"/>
          </a:xfrm>
          <a:prstGeom prst="rect">
            <a:avLst/>
          </a:prstGeom>
        </p:spPr>
      </p:pic>
      <p:sp>
        <p:nvSpPr>
          <p:cNvPr id="12" name="Text 8"/>
          <p:cNvSpPr txBox="1"/>
          <p:nvPr/>
        </p:nvSpPr>
        <p:spPr>
          <a:xfrm>
            <a:off x="3063240" y="3374136"/>
            <a:ext cx="324612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Filtered audio at U1B pin 7</a:t>
            </a:r>
            <a:endParaRPr lang="en-US" sz="1400" dirty="0">
              <a:latin typeface="Times New Roman"/>
              <a:ea typeface="Times New Roman"/>
              <a:cs typeface="Times New Roman"/>
            </a:endParaRPr>
          </a:p>
        </p:txBody>
      </p:sp>
      <p:pic>
        <p:nvPicPr>
          <p:cNvPr id="13" name="Image 2" descr="/home/claude/fig/scope_r11.jpg"/>
          <p:cNvPicPr>
            <a:picLocks noChangeAspect="1"/>
          </p:cNvPicPr>
          <p:nvPr/>
        </p:nvPicPr>
        <p:blipFill>
          <a:blip r:embed="rId5"/>
          <a:stretch>
            <a:fillRect/>
          </a:stretch>
        </p:blipFill>
        <p:spPr>
          <a:xfrm>
            <a:off x="6271260" y="1325880"/>
            <a:ext cx="2682240" cy="2011680"/>
          </a:xfrm>
          <a:prstGeom prst="rect">
            <a:avLst/>
          </a:prstGeom>
        </p:spPr>
      </p:pic>
      <p:sp>
        <p:nvSpPr>
          <p:cNvPr id="14" name="Text 9"/>
          <p:cNvSpPr txBox="1"/>
          <p:nvPr/>
        </p:nvSpPr>
        <p:spPr>
          <a:xfrm>
            <a:off x="5989320" y="3374136"/>
            <a:ext cx="324612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Voltage across R11 = laser current</a:t>
            </a:r>
            <a:endParaRPr lang="en-US" sz="1400" dirty="0">
              <a:latin typeface="Times New Roman"/>
              <a:ea typeface="Times New Roman"/>
              <a:cs typeface="Times New Roman"/>
            </a:endParaRPr>
          </a:p>
        </p:txBody>
      </p:sp>
      <p:pic>
        <p:nvPicPr>
          <p:cNvPr id="15" name="Image 3" descr="/home/claude/fig/scope_pd.jpg"/>
          <p:cNvPicPr>
            <a:picLocks noChangeAspect="1"/>
          </p:cNvPicPr>
          <p:nvPr/>
        </p:nvPicPr>
        <p:blipFill>
          <a:blip r:embed="rId6"/>
          <a:stretch>
            <a:fillRect/>
          </a:stretch>
        </p:blipFill>
        <p:spPr>
          <a:xfrm>
            <a:off x="9197340" y="1325880"/>
            <a:ext cx="2682240" cy="2011680"/>
          </a:xfrm>
          <a:prstGeom prst="rect">
            <a:avLst/>
          </a:prstGeom>
        </p:spPr>
      </p:pic>
      <p:sp>
        <p:nvSpPr>
          <p:cNvPr id="16" name="Text 10"/>
          <p:cNvSpPr txBox="1"/>
          <p:nvPr/>
        </p:nvSpPr>
        <p:spPr>
          <a:xfrm>
            <a:off x="8915400" y="3374136"/>
            <a:ext cx="324612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Recovered signal at the photodiode</a:t>
            </a:r>
            <a:endParaRPr lang="en-US" sz="1400" dirty="0">
              <a:latin typeface="Times New Roman"/>
              <a:ea typeface="Times New Roman"/>
              <a:cs typeface="Times New Roman"/>
            </a:endParaRPr>
          </a:p>
        </p:txBody>
      </p:sp>
      <p:pic>
        <p:nvPicPr>
          <p:cNvPr id="17" name="Image 4" descr="/home/claude/fig/scope_in_out.jpg"/>
          <p:cNvPicPr>
            <a:picLocks noChangeAspect="1"/>
          </p:cNvPicPr>
          <p:nvPr/>
        </p:nvPicPr>
        <p:blipFill>
          <a:blip r:embed="rId7"/>
          <a:stretch>
            <a:fillRect/>
          </a:stretch>
        </p:blipFill>
        <p:spPr>
          <a:xfrm>
            <a:off x="4861560" y="3794760"/>
            <a:ext cx="2438400" cy="1828800"/>
          </a:xfrm>
          <a:prstGeom prst="rect">
            <a:avLst/>
          </a:prstGeom>
        </p:spPr>
      </p:pic>
      <p:sp>
        <p:nvSpPr>
          <p:cNvPr id="18" name="Text 11"/>
          <p:cNvSpPr txBox="1"/>
          <p:nvPr/>
        </p:nvSpPr>
        <p:spPr>
          <a:xfrm>
            <a:off x="3063240" y="5660136"/>
            <a:ext cx="603504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Transmitted (yellow) and recovered (magenta) waveforms on one screen</a:t>
            </a:r>
            <a:endParaRPr lang="en-US" sz="1400" dirty="0">
              <a:latin typeface="Times New Roman"/>
              <a:ea typeface="Times New Roman"/>
              <a:cs typeface="Times New Roman"/>
            </a:endParaRPr>
          </a:p>
        </p:txBody>
      </p:sp>
      <p:sp>
        <p:nvSpPr>
          <p:cNvPr id="19" name="Shape 1">
            <a:extLst>
              <a:ext uri="{FF2B5EF4-FFF2-40B4-BE49-F238E27FC236}">
                <a16:creationId xmlns:a16="http://schemas.microsoft.com/office/drawing/2014/main" id="{0E7EDD8F-749B-90F5-1E74-28AA12790D4F}"/>
              </a:ext>
            </a:extLst>
          </p:cNvPr>
          <p:cNvSpPr/>
          <p:nvPr/>
        </p:nvSpPr>
        <p:spPr>
          <a:xfrm>
            <a:off x="0" y="6108192"/>
            <a:ext cx="12192000" cy="749808"/>
          </a:xfrm>
          <a:prstGeom prst="rect">
            <a:avLst/>
          </a:prstGeom>
          <a:solidFill>
            <a:srgbClr val="C00000"/>
          </a:solidFill>
          <a:ln/>
        </p:spPr>
      </p:sp>
      <p:sp>
        <p:nvSpPr>
          <p:cNvPr id="20" name="Text 2">
            <a:extLst>
              <a:ext uri="{FF2B5EF4-FFF2-40B4-BE49-F238E27FC236}">
                <a16:creationId xmlns:a16="http://schemas.microsoft.com/office/drawing/2014/main" id="{EDAF227F-C601-499D-1CE9-9A0349B283ED}"/>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21" name="Text 3">
            <a:extLst>
              <a:ext uri="{FF2B5EF4-FFF2-40B4-BE49-F238E27FC236}">
                <a16:creationId xmlns:a16="http://schemas.microsoft.com/office/drawing/2014/main" id="{B46EC949-617C-6279-6CC9-87C6B7849073}"/>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22" name="Text 4">
            <a:extLst>
              <a:ext uri="{FF2B5EF4-FFF2-40B4-BE49-F238E27FC236}">
                <a16:creationId xmlns:a16="http://schemas.microsoft.com/office/drawing/2014/main" id="{1C40E374-98F7-51C6-D703-38D7D44C92F5}"/>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2206104</a:t>
            </a:r>
            <a:endParaRPr lang="en-US" sz="1600" dirty="0">
              <a:latin typeface="Times New Roman"/>
              <a:ea typeface="Times New Roman"/>
              <a:cs typeface="Times New Roman"/>
            </a:endParaRPr>
          </a:p>
        </p:txBody>
      </p:sp>
      <p:sp>
        <p:nvSpPr>
          <p:cNvPr id="23" name="Text 5">
            <a:extLst>
              <a:ext uri="{FF2B5EF4-FFF2-40B4-BE49-F238E27FC236}">
                <a16:creationId xmlns:a16="http://schemas.microsoft.com/office/drawing/2014/main" id="{6C7FFE5A-4A45-0B33-CA2F-6383968E066B}"/>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19</a:t>
            </a:r>
            <a:endParaRPr lang="en-US" sz="1600" dirty="0">
              <a:latin typeface="Times New Roman"/>
              <a:ea typeface="Times New Roman"/>
              <a:cs typeface="Times New Roman"/>
            </a:endParaRPr>
          </a:p>
        </p:txBody>
      </p:sp>
      <p:pic>
        <p:nvPicPr>
          <p:cNvPr id="24" name="Picture 23">
            <a:extLst>
              <a:ext uri="{FF2B5EF4-FFF2-40B4-BE49-F238E27FC236}">
                <a16:creationId xmlns:a16="http://schemas.microsoft.com/office/drawing/2014/main" id="{B907A7FE-6055-90CD-1F0B-F77330FE5CAC}"/>
              </a:ext>
            </a:extLst>
          </p:cNvPr>
          <p:cNvPicPr>
            <a:picLocks noChangeAspect="1"/>
          </p:cNvPicPr>
          <p:nvPr/>
        </p:nvPicPr>
        <p:blipFill>
          <a:blip r:embed="rId8"/>
          <a:stretch>
            <a:fillRect/>
          </a:stretch>
        </p:blipFill>
        <p:spPr>
          <a:xfrm>
            <a:off x="3109" y="6159218"/>
            <a:ext cx="739389" cy="647756"/>
          </a:xfrm>
          <a:prstGeom prst="rect">
            <a:avLst/>
          </a:prstGeom>
        </p:spPr>
      </p:pic>
    </p:spTree>
    <p:extLst>
      <p:ext uri="{BB962C8B-B14F-4D97-AF65-F5344CB8AC3E}">
        <p14:creationId xmlns:p14="http://schemas.microsoft.com/office/powerpoint/2010/main" val="3166848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5.3  Investigations (PO(d))</a:t>
            </a:r>
            <a:endParaRPr lang="en-US" sz="4400" dirty="0">
              <a:latin typeface="Times New Roman"/>
              <a:ea typeface="Times New Roman"/>
              <a:cs typeface="Times New Roman"/>
            </a:endParaRPr>
          </a:p>
        </p:txBody>
      </p:sp>
      <p:sp>
        <p:nvSpPr>
          <p:cNvPr id="3" name="Text 1"/>
          <p:cNvSpPr txBox="1"/>
          <p:nvPr/>
        </p:nvSpPr>
        <p:spPr>
          <a:xfrm>
            <a:off x="438912" y="841248"/>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Measured frequency response: 40 Hz to 13 kHz</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20</a:t>
            </a:r>
            <a:endParaRPr lang="en-US" sz="1100" dirty="0">
              <a:latin typeface="Times New Roman"/>
              <a:ea typeface="Times New Roman"/>
              <a:cs typeface="Times New Roman"/>
            </a:endParaRPr>
          </a:p>
        </p:txBody>
      </p:sp>
      <p:pic>
        <p:nvPicPr>
          <p:cNvPr id="9" name="Image 0" descr="/home/claude/fig/scope_40.jpg"/>
          <p:cNvPicPr>
            <a:picLocks noChangeAspect="1"/>
          </p:cNvPicPr>
          <p:nvPr/>
        </p:nvPicPr>
        <p:blipFill>
          <a:blip r:embed="rId3"/>
          <a:stretch>
            <a:fillRect/>
          </a:stretch>
        </p:blipFill>
        <p:spPr>
          <a:xfrm>
            <a:off x="876300" y="1325880"/>
            <a:ext cx="2682240" cy="2011680"/>
          </a:xfrm>
          <a:prstGeom prst="rect">
            <a:avLst/>
          </a:prstGeom>
        </p:spPr>
      </p:pic>
      <p:sp>
        <p:nvSpPr>
          <p:cNvPr id="10" name="Text 7"/>
          <p:cNvSpPr txBox="1"/>
          <p:nvPr/>
        </p:nvSpPr>
        <p:spPr>
          <a:xfrm>
            <a:off x="182880" y="3374136"/>
            <a:ext cx="406908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40 Hz — lower band edge</a:t>
            </a:r>
            <a:endParaRPr lang="en-US" sz="1050" dirty="0">
              <a:latin typeface="Times New Roman"/>
              <a:ea typeface="Times New Roman"/>
              <a:cs typeface="Times New Roman"/>
            </a:endParaRPr>
          </a:p>
        </p:txBody>
      </p:sp>
      <p:pic>
        <p:nvPicPr>
          <p:cNvPr id="11" name="Image 1" descr="/home/claude/fig/scope_150.jpg"/>
          <p:cNvPicPr>
            <a:picLocks noChangeAspect="1"/>
          </p:cNvPicPr>
          <p:nvPr/>
        </p:nvPicPr>
        <p:blipFill>
          <a:blip r:embed="rId4"/>
          <a:stretch>
            <a:fillRect/>
          </a:stretch>
        </p:blipFill>
        <p:spPr>
          <a:xfrm>
            <a:off x="4716780" y="1325880"/>
            <a:ext cx="2682240" cy="2011680"/>
          </a:xfrm>
          <a:prstGeom prst="rect">
            <a:avLst/>
          </a:prstGeom>
        </p:spPr>
      </p:pic>
      <p:sp>
        <p:nvSpPr>
          <p:cNvPr id="12" name="Text 8"/>
          <p:cNvSpPr txBox="1"/>
          <p:nvPr/>
        </p:nvSpPr>
        <p:spPr>
          <a:xfrm>
            <a:off x="4023360" y="3374136"/>
            <a:ext cx="406908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150 Hz</a:t>
            </a:r>
            <a:endParaRPr lang="en-US" sz="1050" dirty="0">
              <a:latin typeface="Times New Roman"/>
              <a:ea typeface="Times New Roman"/>
              <a:cs typeface="Times New Roman"/>
            </a:endParaRPr>
          </a:p>
        </p:txBody>
      </p:sp>
      <p:pic>
        <p:nvPicPr>
          <p:cNvPr id="13" name="Image 2" descr="/home/claude/fig/scope_2k25.jpg"/>
          <p:cNvPicPr>
            <a:picLocks noChangeAspect="1"/>
          </p:cNvPicPr>
          <p:nvPr/>
        </p:nvPicPr>
        <p:blipFill>
          <a:blip r:embed="rId5"/>
          <a:srcRect l="6000" t="8000" r="3000" b="1000"/>
          <a:stretch>
            <a:fillRect/>
          </a:stretch>
        </p:blipFill>
        <p:spPr>
          <a:xfrm>
            <a:off x="8557260" y="1325880"/>
            <a:ext cx="2682240" cy="2011680"/>
          </a:xfrm>
          <a:prstGeom prst="rect">
            <a:avLst/>
          </a:prstGeom>
        </p:spPr>
      </p:pic>
      <p:sp>
        <p:nvSpPr>
          <p:cNvPr id="14" name="Text 9"/>
          <p:cNvSpPr txBox="1"/>
          <p:nvPr/>
        </p:nvSpPr>
        <p:spPr>
          <a:xfrm>
            <a:off x="7863840" y="3374136"/>
            <a:ext cx="406908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2.25 kHz — flat mid-band</a:t>
            </a:r>
            <a:endParaRPr lang="en-US" sz="1050" dirty="0">
              <a:latin typeface="Times New Roman"/>
              <a:ea typeface="Times New Roman"/>
              <a:cs typeface="Times New Roman"/>
            </a:endParaRPr>
          </a:p>
        </p:txBody>
      </p:sp>
      <p:pic>
        <p:nvPicPr>
          <p:cNvPr id="15" name="Image 3" descr="/home/claude/fig/scope_12k.jpg"/>
          <p:cNvPicPr>
            <a:picLocks noChangeAspect="1"/>
          </p:cNvPicPr>
          <p:nvPr/>
        </p:nvPicPr>
        <p:blipFill>
          <a:blip r:embed="rId6"/>
          <a:stretch>
            <a:fillRect/>
          </a:stretch>
        </p:blipFill>
        <p:spPr>
          <a:xfrm>
            <a:off x="2857500" y="3840480"/>
            <a:ext cx="2560320" cy="1920240"/>
          </a:xfrm>
          <a:prstGeom prst="rect">
            <a:avLst/>
          </a:prstGeom>
        </p:spPr>
      </p:pic>
      <p:sp>
        <p:nvSpPr>
          <p:cNvPr id="16" name="Text 10"/>
          <p:cNvSpPr txBox="1"/>
          <p:nvPr/>
        </p:nvSpPr>
        <p:spPr>
          <a:xfrm>
            <a:off x="2103120" y="5797296"/>
            <a:ext cx="406908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12 kHz — upper band edge</a:t>
            </a:r>
            <a:endParaRPr lang="en-US" sz="1050" dirty="0">
              <a:latin typeface="Times New Roman"/>
              <a:ea typeface="Times New Roman"/>
              <a:cs typeface="Times New Roman"/>
            </a:endParaRPr>
          </a:p>
        </p:txBody>
      </p:sp>
      <p:pic>
        <p:nvPicPr>
          <p:cNvPr id="17" name="Image 4" descr="/home/claude/fig/scope_13k.jpg"/>
          <p:cNvPicPr>
            <a:picLocks noChangeAspect="1"/>
          </p:cNvPicPr>
          <p:nvPr/>
        </p:nvPicPr>
        <p:blipFill>
          <a:blip r:embed="rId7"/>
          <a:stretch>
            <a:fillRect/>
          </a:stretch>
        </p:blipFill>
        <p:spPr>
          <a:xfrm>
            <a:off x="6409419" y="3840480"/>
            <a:ext cx="3137441" cy="1920240"/>
          </a:xfrm>
          <a:prstGeom prst="rect">
            <a:avLst/>
          </a:prstGeom>
        </p:spPr>
      </p:pic>
      <p:sp>
        <p:nvSpPr>
          <p:cNvPr id="18" name="Text 11"/>
          <p:cNvSpPr txBox="1"/>
          <p:nvPr/>
        </p:nvSpPr>
        <p:spPr>
          <a:xfrm>
            <a:off x="5943600" y="5797296"/>
            <a:ext cx="406908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13 kHz — beyond cut-off, noise dominates</a:t>
            </a:r>
            <a:endParaRPr lang="en-US" sz="1050" dirty="0">
              <a:latin typeface="Times New Roman"/>
              <a:ea typeface="Times New Roman"/>
              <a:cs typeface="Times New Roman"/>
            </a:endParaRPr>
          </a:p>
        </p:txBody>
      </p:sp>
      <p:sp>
        <p:nvSpPr>
          <p:cNvPr id="19" name="Shape 1">
            <a:extLst>
              <a:ext uri="{FF2B5EF4-FFF2-40B4-BE49-F238E27FC236}">
                <a16:creationId xmlns:a16="http://schemas.microsoft.com/office/drawing/2014/main" id="{4A9DB6DB-56A9-B401-CE68-1D3D5E49440F}"/>
              </a:ext>
            </a:extLst>
          </p:cNvPr>
          <p:cNvSpPr/>
          <p:nvPr/>
        </p:nvSpPr>
        <p:spPr>
          <a:xfrm>
            <a:off x="0" y="6108192"/>
            <a:ext cx="12192000" cy="749808"/>
          </a:xfrm>
          <a:prstGeom prst="rect">
            <a:avLst/>
          </a:prstGeom>
          <a:solidFill>
            <a:srgbClr val="C00000"/>
          </a:solidFill>
          <a:ln/>
        </p:spPr>
      </p:sp>
      <p:sp>
        <p:nvSpPr>
          <p:cNvPr id="20" name="Text 2">
            <a:extLst>
              <a:ext uri="{FF2B5EF4-FFF2-40B4-BE49-F238E27FC236}">
                <a16:creationId xmlns:a16="http://schemas.microsoft.com/office/drawing/2014/main" id="{626C5725-018A-A6D8-99A3-810E553C4D28}"/>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21" name="Text 3">
            <a:extLst>
              <a:ext uri="{FF2B5EF4-FFF2-40B4-BE49-F238E27FC236}">
                <a16:creationId xmlns:a16="http://schemas.microsoft.com/office/drawing/2014/main" id="{D7CE9FAC-84B9-20A5-4626-AEE8D8AFD8A2}"/>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22" name="Text 4">
            <a:extLst>
              <a:ext uri="{FF2B5EF4-FFF2-40B4-BE49-F238E27FC236}">
                <a16:creationId xmlns:a16="http://schemas.microsoft.com/office/drawing/2014/main" id="{2EF3B330-F909-D543-7FD3-D5781025B9E4}"/>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2206104</a:t>
            </a:r>
            <a:endParaRPr lang="en-US" sz="1600" dirty="0">
              <a:latin typeface="Times New Roman"/>
              <a:ea typeface="Times New Roman"/>
              <a:cs typeface="Times New Roman"/>
            </a:endParaRPr>
          </a:p>
        </p:txBody>
      </p:sp>
      <p:sp>
        <p:nvSpPr>
          <p:cNvPr id="23" name="Text 5">
            <a:extLst>
              <a:ext uri="{FF2B5EF4-FFF2-40B4-BE49-F238E27FC236}">
                <a16:creationId xmlns:a16="http://schemas.microsoft.com/office/drawing/2014/main" id="{694DD64F-639B-F533-5A90-A3E58C3B37CA}"/>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20</a:t>
            </a:r>
            <a:endParaRPr lang="en-US" sz="1600" dirty="0">
              <a:latin typeface="Times New Roman"/>
              <a:ea typeface="Times New Roman"/>
              <a:cs typeface="Times New Roman"/>
            </a:endParaRPr>
          </a:p>
        </p:txBody>
      </p:sp>
      <p:pic>
        <p:nvPicPr>
          <p:cNvPr id="24" name="Picture 23">
            <a:extLst>
              <a:ext uri="{FF2B5EF4-FFF2-40B4-BE49-F238E27FC236}">
                <a16:creationId xmlns:a16="http://schemas.microsoft.com/office/drawing/2014/main" id="{A92E7DF7-70AF-302C-D9F9-F8C756396A82}"/>
              </a:ext>
            </a:extLst>
          </p:cNvPr>
          <p:cNvPicPr>
            <a:picLocks noChangeAspect="1"/>
          </p:cNvPicPr>
          <p:nvPr/>
        </p:nvPicPr>
        <p:blipFill>
          <a:blip r:embed="rId8"/>
          <a:stretch>
            <a:fillRect/>
          </a:stretch>
        </p:blipFill>
        <p:spPr>
          <a:xfrm>
            <a:off x="3109" y="6159218"/>
            <a:ext cx="739389" cy="647756"/>
          </a:xfrm>
          <a:prstGeom prst="rect">
            <a:avLst/>
          </a:prstGeom>
        </p:spPr>
      </p:pic>
    </p:spTree>
    <p:extLst>
      <p:ext uri="{BB962C8B-B14F-4D97-AF65-F5344CB8AC3E}">
        <p14:creationId xmlns:p14="http://schemas.microsoft.com/office/powerpoint/2010/main" val="3497309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5.3  Investigations (PO(d))</a:t>
            </a:r>
            <a:endParaRPr lang="en-US" sz="4400" dirty="0">
              <a:latin typeface="Times New Roman"/>
              <a:ea typeface="Times New Roman"/>
              <a:cs typeface="Times New Roman"/>
            </a:endParaRPr>
          </a:p>
        </p:txBody>
      </p:sp>
      <p:sp>
        <p:nvSpPr>
          <p:cNvPr id="3" name="Text 1"/>
          <p:cNvSpPr txBox="1"/>
          <p:nvPr/>
        </p:nvSpPr>
        <p:spPr>
          <a:xfrm>
            <a:off x="438912" y="841248"/>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Ambient light and detector comparison</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21</a:t>
            </a:r>
            <a:endParaRPr lang="en-US" sz="1100" dirty="0">
              <a:latin typeface="Times New Roman"/>
              <a:ea typeface="Times New Roman"/>
              <a:cs typeface="Times New Roman"/>
            </a:endParaRPr>
          </a:p>
        </p:txBody>
      </p:sp>
      <p:pic>
        <p:nvPicPr>
          <p:cNvPr id="9" name="Image 0" descr="/home/claude/fig/scope_roomlight.jpg"/>
          <p:cNvPicPr>
            <a:picLocks noChangeAspect="1"/>
          </p:cNvPicPr>
          <p:nvPr/>
        </p:nvPicPr>
        <p:blipFill>
          <a:blip r:embed="rId3"/>
          <a:stretch>
            <a:fillRect/>
          </a:stretch>
        </p:blipFill>
        <p:spPr>
          <a:xfrm>
            <a:off x="960120" y="1371600"/>
            <a:ext cx="3657600" cy="2743200"/>
          </a:xfrm>
          <a:prstGeom prst="rect">
            <a:avLst/>
          </a:prstGeom>
        </p:spPr>
      </p:pic>
      <p:sp>
        <p:nvSpPr>
          <p:cNvPr id="10" name="Text 7"/>
          <p:cNvSpPr txBox="1"/>
          <p:nvPr/>
        </p:nvSpPr>
        <p:spPr>
          <a:xfrm>
            <a:off x="182880" y="4095579"/>
            <a:ext cx="5212080" cy="310896"/>
          </a:xfrm>
          <a:prstGeom prst="rect">
            <a:avLst/>
          </a:prstGeom>
          <a:noFill/>
          <a:ln/>
        </p:spPr>
        <p:txBody>
          <a:bodyPr wrap="square" lIns="0" tIns="0" rIns="0" bIns="0" rtlCol="0" anchor="ctr"/>
          <a:lstStyle/>
          <a:p>
            <a:pPr marL="0" indent="0" algn="ctr">
              <a:buNone/>
            </a:pPr>
            <a:r>
              <a:rPr lang="en-US" sz="1400" i="1" dirty="0">
                <a:solidFill>
                  <a:srgbClr val="4A5A6B"/>
                </a:solidFill>
                <a:latin typeface="Times New Roman"/>
                <a:ea typeface="Times New Roman"/>
                <a:cs typeface="Times New Roman"/>
              </a:rPr>
              <a:t>Recovered waveform with a lamp switched on beside the receiver</a:t>
            </a:r>
            <a:endParaRPr lang="en-US" sz="1400" dirty="0">
              <a:latin typeface="Times New Roman"/>
              <a:ea typeface="Times New Roman"/>
              <a:cs typeface="Times New Roman"/>
            </a:endParaRPr>
          </a:p>
        </p:txBody>
      </p:sp>
      <p:sp>
        <p:nvSpPr>
          <p:cNvPr id="11" name="Text 8"/>
          <p:cNvSpPr txBox="1"/>
          <p:nvPr/>
        </p:nvSpPr>
        <p:spPr>
          <a:xfrm>
            <a:off x="411480" y="4434840"/>
            <a:ext cx="4937760" cy="475488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rgbClr val="17324F"/>
                </a:solidFill>
                <a:latin typeface="Times New Roman"/>
                <a:ea typeface="Times New Roman"/>
                <a:cs typeface="Times New Roman"/>
              </a:rPr>
              <a:t>With the room light dimmed the waveform is clean; with a lamp close by, a low-frequency ripple and visible noise appear and the sound is hazy with an audible hum.</a:t>
            </a:r>
            <a:endParaRPr lang="en-US" sz="1400" dirty="0">
              <a:latin typeface="Times New Roman"/>
              <a:ea typeface="Times New Roman"/>
              <a:cs typeface="Times New Roman"/>
            </a:endParaRPr>
          </a:p>
          <a:p>
            <a:pPr marL="228600" indent="-228600">
              <a:spcAft>
                <a:spcPts val="600"/>
              </a:spcAft>
              <a:buSzPct val="100000"/>
              <a:buChar char="•"/>
            </a:pPr>
            <a:r>
              <a:rPr lang="en-US" sz="1400" dirty="0">
                <a:solidFill>
                  <a:srgbClr val="17324F"/>
                </a:solidFill>
                <a:latin typeface="Times New Roman"/>
                <a:ea typeface="Times New Roman"/>
                <a:cs typeface="Times New Roman"/>
              </a:rPr>
              <a:t>The disturbance appears as ripple rather than broadband noise - exactly what 100 Hz lamp flicker produces after partial attenuation by the 154 Hz high-pass corner.</a:t>
            </a:r>
            <a:endParaRPr lang="en-US" sz="1400" dirty="0">
              <a:latin typeface="Times New Roman"/>
              <a:ea typeface="Times New Roman"/>
              <a:cs typeface="Times New Roman"/>
            </a:endParaRPr>
          </a:p>
        </p:txBody>
      </p:sp>
      <p:graphicFrame>
        <p:nvGraphicFramePr>
          <p:cNvPr id="22" name="Table 0"/>
          <p:cNvGraphicFramePr>
            <a:graphicFrameLocks noGrp="1"/>
          </p:cNvGraphicFramePr>
          <p:nvPr>
            <p:extLst>
              <p:ext uri="{D42A27DB-BD31-4B8C-83A1-F6EECF244321}">
                <p14:modId xmlns:p14="http://schemas.microsoft.com/office/powerpoint/2010/main" val="817425918"/>
              </p:ext>
            </p:extLst>
          </p:nvPr>
        </p:nvGraphicFramePr>
        <p:xfrm>
          <a:off x="5577840" y="1463040"/>
          <a:ext cx="6309360" cy="1727200"/>
        </p:xfrm>
        <a:graphic>
          <a:graphicData uri="http://schemas.openxmlformats.org/drawingml/2006/table">
            <a:tbl>
              <a:tblPr/>
              <a:tblGrid>
                <a:gridCol w="2148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0">
                <a:tc>
                  <a:txBody>
                    <a:bodyPr/>
                    <a:lstStyle/>
                    <a:p>
                      <a:pPr marL="0" indent="0" algn="ctr">
                        <a:buNone/>
                      </a:pPr>
                      <a:r>
                        <a:rPr lang="en-US" sz="1600" b="1" dirty="0">
                          <a:solidFill>
                            <a:srgbClr val="FFFFFF"/>
                          </a:solidFill>
                          <a:latin typeface="Times New Roman"/>
                          <a:ea typeface="Times New Roman"/>
                          <a:cs typeface="Times New Roman"/>
                        </a:rPr>
                        <a:t>Detector</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600" b="1" dirty="0">
                          <a:solidFill>
                            <a:srgbClr val="FFFFFF"/>
                          </a:solidFill>
                          <a:latin typeface="Times New Roman"/>
                          <a:ea typeface="Times New Roman"/>
                          <a:cs typeface="Times New Roman"/>
                        </a:rPr>
                        <a:t>Observed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600" b="1" dirty="0">
                          <a:solidFill>
                            <a:srgbClr val="FFFFFF"/>
                          </a:solidFill>
                          <a:latin typeface="Times New Roman"/>
                          <a:ea typeface="Times New Roman"/>
                          <a:cs typeface="Times New Roman"/>
                        </a:rPr>
                        <a:t>Outcome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0">
                <a:tc>
                  <a:txBody>
                    <a:bodyPr/>
                    <a:lstStyle/>
                    <a:p>
                      <a:pPr marL="0" indent="0" algn="l">
                        <a:buNone/>
                      </a:pPr>
                      <a:r>
                        <a:rPr lang="en-US" sz="1600" dirty="0">
                          <a:solidFill>
                            <a:srgbClr val="17324F"/>
                          </a:solidFill>
                          <a:latin typeface="Times New Roman"/>
                          <a:ea typeface="Times New Roman"/>
                          <a:cs typeface="Times New Roman"/>
                        </a:rPr>
                        <a:t>L14F1 phototransistor</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Strong but dull, muffled; slow</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Rejected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600" dirty="0">
                          <a:solidFill>
                            <a:srgbClr val="17324F"/>
                          </a:solidFill>
                          <a:latin typeface="Times New Roman"/>
                          <a:ea typeface="Times New Roman"/>
                          <a:cs typeface="Times New Roman"/>
                        </a:rPr>
                        <a:t>BPW34, unshielded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solidFill>
                            <a:srgbClr val="17324F"/>
                          </a:solidFill>
                          <a:latin typeface="Times New Roman"/>
                          <a:ea typeface="Times New Roman"/>
                          <a:cs typeface="Times New Roman"/>
                        </a:rPr>
                        <a:t>Clearer treble, light-sensitive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solidFill>
                            <a:srgbClr val="17324F"/>
                          </a:solidFill>
                          <a:latin typeface="Times New Roman"/>
                          <a:ea typeface="Times New Roman"/>
                          <a:cs typeface="Times New Roman"/>
                        </a:rPr>
                        <a:t>Improved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2"/>
                  </a:ext>
                </a:extLst>
              </a:tr>
              <a:tr h="0">
                <a:tc>
                  <a:txBody>
                    <a:bodyPr/>
                    <a:lstStyle/>
                    <a:p>
                      <a:pPr marL="0" indent="0" algn="l">
                        <a:buNone/>
                      </a:pPr>
                      <a:r>
                        <a:rPr lang="en-US" sz="1600" dirty="0">
                          <a:solidFill>
                            <a:srgbClr val="17324F"/>
                          </a:solidFill>
                          <a:latin typeface="Times New Roman"/>
                          <a:ea typeface="Times New Roman"/>
                          <a:cs typeface="Times New Roman"/>
                        </a:rPr>
                        <a:t>BPW34 + black shroud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Clean audio, far less affected by lighting</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Adopted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13" name="Image 1" descr="/home/claude/fig/pd_bad.jpg"/>
          <p:cNvPicPr>
            <a:picLocks noChangeAspect="1"/>
          </p:cNvPicPr>
          <p:nvPr/>
        </p:nvPicPr>
        <p:blipFill>
          <a:blip r:embed="rId4"/>
          <a:stretch>
            <a:fillRect/>
          </a:stretch>
        </p:blipFill>
        <p:spPr>
          <a:xfrm>
            <a:off x="5577840" y="3685881"/>
            <a:ext cx="2011680" cy="857838"/>
          </a:xfrm>
          <a:prstGeom prst="rect">
            <a:avLst/>
          </a:prstGeom>
        </p:spPr>
      </p:pic>
      <p:sp>
        <p:nvSpPr>
          <p:cNvPr id="14" name="Text 9"/>
          <p:cNvSpPr txBox="1"/>
          <p:nvPr/>
        </p:nvSpPr>
        <p:spPr>
          <a:xfrm>
            <a:off x="5349240" y="4837176"/>
            <a:ext cx="246888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First detector</a:t>
            </a:r>
            <a:endParaRPr lang="en-US" sz="1050" dirty="0">
              <a:latin typeface="Times New Roman"/>
              <a:ea typeface="Times New Roman"/>
              <a:cs typeface="Times New Roman"/>
            </a:endParaRPr>
          </a:p>
        </p:txBody>
      </p:sp>
      <p:pic>
        <p:nvPicPr>
          <p:cNvPr id="15" name="Image 2" descr="/home/claude/fig/pd_cover.jpg"/>
          <p:cNvPicPr>
            <a:picLocks noChangeAspect="1"/>
          </p:cNvPicPr>
          <p:nvPr/>
        </p:nvPicPr>
        <p:blipFill>
          <a:blip r:embed="rId5"/>
          <a:stretch>
            <a:fillRect/>
          </a:stretch>
        </p:blipFill>
        <p:spPr>
          <a:xfrm>
            <a:off x="7726680" y="3562929"/>
            <a:ext cx="2011680" cy="1103742"/>
          </a:xfrm>
          <a:prstGeom prst="rect">
            <a:avLst/>
          </a:prstGeom>
        </p:spPr>
      </p:pic>
      <p:sp>
        <p:nvSpPr>
          <p:cNvPr id="16" name="Text 10"/>
          <p:cNvSpPr txBox="1"/>
          <p:nvPr/>
        </p:nvSpPr>
        <p:spPr>
          <a:xfrm>
            <a:off x="7498080" y="4837176"/>
            <a:ext cx="246888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With black cover</a:t>
            </a:r>
            <a:endParaRPr lang="en-US" sz="1050" dirty="0">
              <a:latin typeface="Times New Roman"/>
              <a:ea typeface="Times New Roman"/>
              <a:cs typeface="Times New Roman"/>
            </a:endParaRPr>
          </a:p>
        </p:txBody>
      </p:sp>
      <p:pic>
        <p:nvPicPr>
          <p:cNvPr id="17" name="Image 3" descr="/home/claude/fig/pd_final.jpg"/>
          <p:cNvPicPr>
            <a:picLocks noChangeAspect="1"/>
          </p:cNvPicPr>
          <p:nvPr/>
        </p:nvPicPr>
        <p:blipFill>
          <a:blip r:embed="rId6"/>
          <a:stretch>
            <a:fillRect/>
          </a:stretch>
        </p:blipFill>
        <p:spPr>
          <a:xfrm>
            <a:off x="9875520" y="3775688"/>
            <a:ext cx="2011680" cy="678224"/>
          </a:xfrm>
          <a:prstGeom prst="rect">
            <a:avLst/>
          </a:prstGeom>
        </p:spPr>
      </p:pic>
      <p:sp>
        <p:nvSpPr>
          <p:cNvPr id="18" name="Text 11"/>
          <p:cNvSpPr txBox="1"/>
          <p:nvPr/>
        </p:nvSpPr>
        <p:spPr>
          <a:xfrm>
            <a:off x="9646920" y="4837176"/>
            <a:ext cx="2468880" cy="310896"/>
          </a:xfrm>
          <a:prstGeom prst="rect">
            <a:avLst/>
          </a:prstGeom>
          <a:noFill/>
          <a:ln/>
        </p:spPr>
        <p:txBody>
          <a:bodyPr wrap="square" lIns="0" tIns="0" rIns="0" bIns="0" rtlCol="0" anchor="ctr"/>
          <a:lstStyle/>
          <a:p>
            <a:pPr marL="0" indent="0" algn="ctr">
              <a:buNone/>
            </a:pPr>
            <a:r>
              <a:rPr lang="en-US" sz="1050" i="1" dirty="0">
                <a:solidFill>
                  <a:srgbClr val="4A5A6B"/>
                </a:solidFill>
                <a:latin typeface="Times New Roman"/>
                <a:ea typeface="Times New Roman"/>
                <a:cs typeface="Times New Roman"/>
              </a:rPr>
              <a:t>Final detector</a:t>
            </a:r>
            <a:endParaRPr lang="en-US" sz="1050" dirty="0">
              <a:latin typeface="Times New Roman"/>
              <a:ea typeface="Times New Roman"/>
              <a:cs typeface="Times New Roman"/>
            </a:endParaRPr>
          </a:p>
        </p:txBody>
      </p:sp>
      <p:sp>
        <p:nvSpPr>
          <p:cNvPr id="12" name="Shape 1">
            <a:extLst>
              <a:ext uri="{FF2B5EF4-FFF2-40B4-BE49-F238E27FC236}">
                <a16:creationId xmlns:a16="http://schemas.microsoft.com/office/drawing/2014/main" id="{F4B1EB89-565B-A829-5279-87A5881C1991}"/>
              </a:ext>
            </a:extLst>
          </p:cNvPr>
          <p:cNvSpPr/>
          <p:nvPr/>
        </p:nvSpPr>
        <p:spPr>
          <a:xfrm>
            <a:off x="0" y="6108192"/>
            <a:ext cx="12192000" cy="749808"/>
          </a:xfrm>
          <a:prstGeom prst="rect">
            <a:avLst/>
          </a:prstGeom>
          <a:solidFill>
            <a:srgbClr val="C00000"/>
          </a:solidFill>
          <a:ln/>
        </p:spPr>
      </p:sp>
      <p:sp>
        <p:nvSpPr>
          <p:cNvPr id="19" name="Text 2">
            <a:extLst>
              <a:ext uri="{FF2B5EF4-FFF2-40B4-BE49-F238E27FC236}">
                <a16:creationId xmlns:a16="http://schemas.microsoft.com/office/drawing/2014/main" id="{8DE37F8E-8305-6FD7-CE6D-827DA3B52C8F}"/>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20" name="Text 3">
            <a:extLst>
              <a:ext uri="{FF2B5EF4-FFF2-40B4-BE49-F238E27FC236}">
                <a16:creationId xmlns:a16="http://schemas.microsoft.com/office/drawing/2014/main" id="{6F119E4E-3B03-DF16-8C8E-D4BDC8796417}"/>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21" name="Text 4">
            <a:extLst>
              <a:ext uri="{FF2B5EF4-FFF2-40B4-BE49-F238E27FC236}">
                <a16:creationId xmlns:a16="http://schemas.microsoft.com/office/drawing/2014/main" id="{400AE26C-1112-6239-2C7C-F217BB32AAAB}"/>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2206104</a:t>
            </a:r>
            <a:endParaRPr lang="en-US" sz="1600" dirty="0">
              <a:latin typeface="Times New Roman"/>
              <a:ea typeface="Times New Roman"/>
              <a:cs typeface="Times New Roman"/>
            </a:endParaRPr>
          </a:p>
        </p:txBody>
      </p:sp>
      <p:sp>
        <p:nvSpPr>
          <p:cNvPr id="23" name="Text 5">
            <a:extLst>
              <a:ext uri="{FF2B5EF4-FFF2-40B4-BE49-F238E27FC236}">
                <a16:creationId xmlns:a16="http://schemas.microsoft.com/office/drawing/2014/main" id="{A3519447-E4A4-BAE3-5978-EDDBE1EB6148}"/>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21</a:t>
            </a:r>
            <a:endParaRPr lang="en-US" sz="1600" dirty="0">
              <a:latin typeface="Times New Roman"/>
              <a:ea typeface="Times New Roman"/>
              <a:cs typeface="Times New Roman"/>
            </a:endParaRPr>
          </a:p>
        </p:txBody>
      </p:sp>
      <p:pic>
        <p:nvPicPr>
          <p:cNvPr id="24" name="Picture 23">
            <a:extLst>
              <a:ext uri="{FF2B5EF4-FFF2-40B4-BE49-F238E27FC236}">
                <a16:creationId xmlns:a16="http://schemas.microsoft.com/office/drawing/2014/main" id="{28517910-207C-2C63-39B4-24E36EB7F56E}"/>
              </a:ext>
            </a:extLst>
          </p:cNvPr>
          <p:cNvPicPr>
            <a:picLocks noChangeAspect="1"/>
          </p:cNvPicPr>
          <p:nvPr/>
        </p:nvPicPr>
        <p:blipFill>
          <a:blip r:embed="rId7"/>
          <a:stretch>
            <a:fillRect/>
          </a:stretch>
        </p:blipFill>
        <p:spPr>
          <a:xfrm>
            <a:off x="3109" y="6159218"/>
            <a:ext cx="739389" cy="647756"/>
          </a:xfrm>
          <a:prstGeom prst="rect">
            <a:avLst/>
          </a:prstGeom>
        </p:spPr>
      </p:pic>
    </p:spTree>
    <p:extLst>
      <p:ext uri="{BB962C8B-B14F-4D97-AF65-F5344CB8AC3E}">
        <p14:creationId xmlns:p14="http://schemas.microsoft.com/office/powerpoint/2010/main" val="3183443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5.3  Investigations (PO(d))</a:t>
            </a:r>
            <a:endParaRPr lang="en-US" sz="4400" dirty="0">
              <a:latin typeface="Times New Roman"/>
              <a:ea typeface="Times New Roman"/>
              <a:cs typeface="Times New Roman"/>
            </a:endParaRPr>
          </a:p>
        </p:txBody>
      </p:sp>
      <p:sp>
        <p:nvSpPr>
          <p:cNvPr id="3" name="Text 1"/>
          <p:cNvSpPr txBox="1"/>
          <p:nvPr/>
        </p:nvSpPr>
        <p:spPr>
          <a:xfrm>
            <a:off x="438912" y="841248"/>
            <a:ext cx="11338560" cy="310896"/>
          </a:xfrm>
          <a:prstGeom prst="rect">
            <a:avLst/>
          </a:prstGeom>
          <a:noFill/>
          <a:ln/>
        </p:spPr>
        <p:txBody>
          <a:bodyPr wrap="square" lIns="0" tIns="0" rIns="0" bIns="0" rtlCol="0" anchor="ctr"/>
          <a:lstStyle/>
          <a:p>
            <a:pPr marL="0" indent="0">
              <a:buNone/>
            </a:pPr>
            <a:r>
              <a:rPr lang="en-US" sz="2400" b="1" dirty="0">
                <a:solidFill>
                  <a:srgbClr val="8C1C1C"/>
                </a:solidFill>
                <a:latin typeface="Times New Roman"/>
                <a:ea typeface="Times New Roman"/>
                <a:cs typeface="Times New Roman"/>
              </a:rPr>
              <a:t>Simulated vs measured — results and interpretation</a:t>
            </a:r>
            <a:endParaRPr lang="en-US" sz="2400" dirty="0">
              <a:latin typeface="Times New Roman"/>
              <a:ea typeface="Times New Roman"/>
              <a:cs typeface="Times New Roman"/>
            </a:endParaRPr>
          </a:p>
        </p:txBody>
      </p:sp>
      <p:sp>
        <p:nvSpPr>
          <p:cNvPr id="5" name="Text 3"/>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6" name="Text 4"/>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7" name="Text 5"/>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8" name="Text 6"/>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22</a:t>
            </a:r>
            <a:endParaRPr lang="en-US" sz="1100" dirty="0">
              <a:latin typeface="Times New Roman"/>
              <a:ea typeface="Times New Roman"/>
              <a:cs typeface="Times New Roman"/>
            </a:endParaRPr>
          </a:p>
        </p:txBody>
      </p:sp>
      <p:graphicFrame>
        <p:nvGraphicFramePr>
          <p:cNvPr id="23" name="Table 0"/>
          <p:cNvGraphicFramePr>
            <a:graphicFrameLocks noGrp="1"/>
          </p:cNvGraphicFramePr>
          <p:nvPr>
            <p:extLst>
              <p:ext uri="{D42A27DB-BD31-4B8C-83A1-F6EECF244321}">
                <p14:modId xmlns:p14="http://schemas.microsoft.com/office/powerpoint/2010/main" val="3909134038"/>
              </p:ext>
            </p:extLst>
          </p:nvPr>
        </p:nvGraphicFramePr>
        <p:xfrm>
          <a:off x="548640" y="1417320"/>
          <a:ext cx="11064240" cy="2595880"/>
        </p:xfrm>
        <a:graphic>
          <a:graphicData uri="http://schemas.openxmlformats.org/drawingml/2006/table">
            <a:tbl>
              <a:tblPr/>
              <a:tblGrid>
                <a:gridCol w="31089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0">
                <a:tc>
                  <a:txBody>
                    <a:bodyPr/>
                    <a:lstStyle/>
                    <a:p>
                      <a:pPr marL="0" indent="0" algn="ctr">
                        <a:buNone/>
                      </a:pPr>
                      <a:r>
                        <a:rPr lang="en-US" sz="1600" b="1" dirty="0">
                          <a:solidFill>
                            <a:srgbClr val="FFFFFF"/>
                          </a:solidFill>
                          <a:latin typeface="Times New Roman"/>
                          <a:ea typeface="Times New Roman"/>
                          <a:cs typeface="Times New Roman"/>
                        </a:rPr>
                        <a:t>Quantity</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600" b="1" dirty="0">
                          <a:solidFill>
                            <a:srgbClr val="FFFFFF"/>
                          </a:solidFill>
                          <a:latin typeface="Times New Roman"/>
                          <a:ea typeface="Times New Roman"/>
                          <a:cs typeface="Times New Roman"/>
                        </a:rPr>
                        <a:t>Simulated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600" b="1" dirty="0">
                          <a:solidFill>
                            <a:srgbClr val="FFFFFF"/>
                          </a:solidFill>
                          <a:latin typeface="Times New Roman"/>
                          <a:ea typeface="Times New Roman"/>
                          <a:cs typeface="Times New Roman"/>
                        </a:rPr>
                        <a:t>Measured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600" b="1" dirty="0">
                          <a:solidFill>
                            <a:srgbClr val="FFFFFF"/>
                          </a:solidFill>
                          <a:latin typeface="Times New Roman"/>
                          <a:ea typeface="Times New Roman"/>
                          <a:cs typeface="Times New Roman"/>
                        </a:rPr>
                        <a:t>Comment</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0">
                <a:tc>
                  <a:txBody>
                    <a:bodyPr/>
                    <a:lstStyle/>
                    <a:p>
                      <a:pPr marL="0" indent="0" algn="l">
                        <a:buNone/>
                      </a:pPr>
                      <a:r>
                        <a:rPr lang="en-US" sz="1600" dirty="0">
                          <a:solidFill>
                            <a:srgbClr val="17324F"/>
                          </a:solidFill>
                          <a:latin typeface="Times New Roman"/>
                          <a:ea typeface="Times New Roman"/>
                          <a:cs typeface="Times New Roman"/>
                        </a:rPr>
                        <a:t>Mid-rail reference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7324F"/>
                          </a:solidFill>
                          <a:latin typeface="Times New Roman"/>
                          <a:ea typeface="Times New Roman"/>
                          <a:cs typeface="Times New Roman"/>
                        </a:rPr>
                        <a:t>4.500 V</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7324F"/>
                          </a:solidFill>
                          <a:latin typeface="Times New Roman"/>
                          <a:ea typeface="Times New Roman"/>
                          <a:cs typeface="Times New Roman"/>
                        </a:rPr>
                        <a:t>≈ 4.4 V</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7324F"/>
                          </a:solidFill>
                          <a:latin typeface="Times New Roman"/>
                          <a:ea typeface="Times New Roman"/>
                          <a:cs typeface="Times New Roman"/>
                        </a:rPr>
                        <a:t>Agrees</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600" dirty="0">
                          <a:solidFill>
                            <a:srgbClr val="17324F"/>
                          </a:solidFill>
                          <a:latin typeface="Times New Roman"/>
                          <a:ea typeface="Times New Roman"/>
                          <a:cs typeface="Times New Roman"/>
                        </a:rPr>
                        <a:t>Driver input bias (U2 pin 3)</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600" dirty="0">
                          <a:solidFill>
                            <a:srgbClr val="17324F"/>
                          </a:solidFill>
                          <a:latin typeface="Times New Roman"/>
                          <a:ea typeface="Times New Roman"/>
                          <a:cs typeface="Times New Roman"/>
                        </a:rPr>
                        <a:t>1.154 V</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600" dirty="0">
                          <a:solidFill>
                            <a:srgbClr val="17324F"/>
                          </a:solidFill>
                          <a:latin typeface="Times New Roman"/>
                          <a:ea typeface="Times New Roman"/>
                          <a:cs typeface="Times New Roman"/>
                        </a:rPr>
                        <a:t>≈ 1.15 V</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600" dirty="0">
                          <a:solidFill>
                            <a:srgbClr val="17324F"/>
                          </a:solidFill>
                          <a:latin typeface="Times New Roman"/>
                          <a:ea typeface="Times New Roman"/>
                          <a:cs typeface="Times New Roman"/>
                        </a:rPr>
                        <a:t>Agrees</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2"/>
                  </a:ext>
                </a:extLst>
              </a:tr>
              <a:tr h="0">
                <a:tc>
                  <a:txBody>
                    <a:bodyPr/>
                    <a:lstStyle/>
                    <a:p>
                      <a:pPr marL="0" indent="0" algn="l">
                        <a:buNone/>
                      </a:pPr>
                      <a:r>
                        <a:rPr lang="en-US" sz="1600" dirty="0">
                          <a:solidFill>
                            <a:srgbClr val="17324F"/>
                          </a:solidFill>
                          <a:latin typeface="Times New Roman"/>
                          <a:ea typeface="Times New Roman"/>
                          <a:cs typeface="Times New Roman"/>
                        </a:rPr>
                        <a:t>Laser bias current</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7324F"/>
                          </a:solidFill>
                          <a:latin typeface="Times New Roman"/>
                          <a:ea typeface="Times New Roman"/>
                          <a:cs typeface="Times New Roman"/>
                        </a:rPr>
                        <a:t>30.4 mA</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7324F"/>
                          </a:solidFill>
                          <a:latin typeface="Times New Roman"/>
                          <a:ea typeface="Times New Roman"/>
                          <a:cs typeface="Times New Roman"/>
                        </a:rPr>
                        <a:t>7.75 mA</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7324F"/>
                          </a:solidFill>
                          <a:latin typeface="Times New Roman"/>
                          <a:ea typeface="Times New Roman"/>
                          <a:cs typeface="Times New Roman"/>
                        </a:rPr>
                        <a:t>Large deviation — see below</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600" dirty="0">
                          <a:solidFill>
                            <a:srgbClr val="17324F"/>
                          </a:solidFill>
                          <a:latin typeface="Times New Roman"/>
                          <a:ea typeface="Times New Roman"/>
                          <a:cs typeface="Times New Roman"/>
                        </a:rPr>
                        <a:t>Upper −3 dB frequency</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600" dirty="0">
                          <a:solidFill>
                            <a:srgbClr val="17324F"/>
                          </a:solidFill>
                          <a:latin typeface="Times New Roman"/>
                          <a:ea typeface="Times New Roman"/>
                          <a:cs typeface="Times New Roman"/>
                        </a:rPr>
                        <a:t>≈ 10.7 kHz</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600" dirty="0">
                          <a:solidFill>
                            <a:srgbClr val="17324F"/>
                          </a:solidFill>
                          <a:latin typeface="Times New Roman"/>
                          <a:ea typeface="Times New Roman"/>
                          <a:cs typeface="Times New Roman"/>
                        </a:rPr>
                        <a:t>≈ 12 kHz</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600" dirty="0">
                          <a:solidFill>
                            <a:srgbClr val="17324F"/>
                          </a:solidFill>
                          <a:latin typeface="Times New Roman"/>
                          <a:ea typeface="Times New Roman"/>
                          <a:cs typeface="Times New Roman"/>
                        </a:rPr>
                        <a:t>Within capacitor tolerance (±10 %)</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4"/>
                  </a:ext>
                </a:extLst>
              </a:tr>
              <a:tr h="0">
                <a:tc>
                  <a:txBody>
                    <a:bodyPr/>
                    <a:lstStyle/>
                    <a:p>
                      <a:pPr marL="0" indent="0" algn="l">
                        <a:buNone/>
                      </a:pPr>
                      <a:r>
                        <a:rPr lang="en-US" sz="1600" dirty="0">
                          <a:solidFill>
                            <a:srgbClr val="17324F"/>
                          </a:solidFill>
                          <a:latin typeface="Times New Roman"/>
                          <a:ea typeface="Times New Roman"/>
                          <a:cs typeface="Times New Roman"/>
                        </a:rPr>
                        <a:t>Lower −3 dB frequency</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7324F"/>
                          </a:solidFill>
                          <a:latin typeface="Times New Roman"/>
                          <a:ea typeface="Times New Roman"/>
                          <a:cs typeface="Times New Roman"/>
                        </a:rPr>
                        <a:t>≈ 154 Hz</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7324F"/>
                          </a:solidFill>
                          <a:latin typeface="Times New Roman"/>
                          <a:ea typeface="Times New Roman"/>
                          <a:cs typeface="Times New Roman"/>
                        </a:rPr>
                        <a:t>≈ 40 Hz</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7324F"/>
                          </a:solidFill>
                          <a:latin typeface="Times New Roman"/>
                          <a:ea typeface="Times New Roman"/>
                          <a:cs typeface="Times New Roman"/>
                        </a:rPr>
                        <a:t>Coarse reading + capacitor tolerance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600" dirty="0">
                          <a:solidFill>
                            <a:srgbClr val="17324F"/>
                          </a:solidFill>
                          <a:latin typeface="Times New Roman"/>
                          <a:ea typeface="Times New Roman"/>
                          <a:cs typeface="Times New Roman"/>
                        </a:rPr>
                        <a:t>Waveform fidelity at 1 kHz</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600" dirty="0">
                          <a:solidFill>
                            <a:srgbClr val="17324F"/>
                          </a:solidFill>
                          <a:latin typeface="Times New Roman"/>
                          <a:ea typeface="Times New Roman"/>
                          <a:cs typeface="Times New Roman"/>
                        </a:rPr>
                        <a:t>No clipping</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600" dirty="0">
                          <a:solidFill>
                            <a:srgbClr val="17324F"/>
                          </a:solidFill>
                          <a:latin typeface="Times New Roman"/>
                          <a:ea typeface="Times New Roman"/>
                          <a:cs typeface="Times New Roman"/>
                        </a:rPr>
                        <a:t>No clipping</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600" dirty="0">
                          <a:solidFill>
                            <a:srgbClr val="17324F"/>
                          </a:solidFill>
                          <a:latin typeface="Times New Roman"/>
                          <a:ea typeface="Times New Roman"/>
                          <a:cs typeface="Times New Roman"/>
                        </a:rPr>
                        <a:t>Agrees</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6"/>
                  </a:ext>
                </a:extLst>
              </a:tr>
            </a:tbl>
          </a:graphicData>
        </a:graphic>
      </p:graphicFrame>
      <p:sp>
        <p:nvSpPr>
          <p:cNvPr id="10" name="Text 7"/>
          <p:cNvSpPr txBox="1"/>
          <p:nvPr/>
        </p:nvSpPr>
        <p:spPr>
          <a:xfrm>
            <a:off x="548640" y="4114800"/>
            <a:ext cx="11247120" cy="47548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7324F"/>
                </a:solidFill>
                <a:latin typeface="Times New Roman"/>
                <a:ea typeface="Times New Roman"/>
                <a:cs typeface="Times New Roman"/>
              </a:rPr>
              <a:t>Why the laser current differs: in simulation the laser is an ideal 2.5 V source with 20 Ω, so the loop can always source the demanded current. The real module presented 2.06 V forward and the loop settled lower — reduced optical power, reduced modulation depth, and hence the modest SNR observed.</a:t>
            </a:r>
            <a:endParaRPr lang="en-US" sz="1600" dirty="0">
              <a:latin typeface="Times New Roman"/>
              <a:ea typeface="Times New Roman"/>
              <a:cs typeface="Times New Roman"/>
            </a:endParaRPr>
          </a:p>
          <a:p>
            <a:pPr marL="228600" indent="-228600">
              <a:spcAft>
                <a:spcPts val="800"/>
              </a:spcAft>
              <a:buSzPct val="100000"/>
              <a:buChar char="•"/>
            </a:pPr>
            <a:r>
              <a:rPr lang="en-US" sz="1600" dirty="0">
                <a:solidFill>
                  <a:srgbClr val="17324F"/>
                </a:solidFill>
                <a:latin typeface="Times New Roman"/>
                <a:ea typeface="Times New Roman"/>
                <a:cs typeface="Times New Roman"/>
              </a:rPr>
              <a:t>Conclusions: the link works over 10 m; bandwidth is set deliberately by the receiver filter; constant-current drive is the decisive choice that removed the distortion of the first prototype; and ambient light, not electronic noise, limits quality in a lit room.</a:t>
            </a:r>
            <a:endParaRPr lang="en-US" sz="1600" dirty="0">
              <a:latin typeface="Times New Roman"/>
              <a:ea typeface="Times New Roman"/>
              <a:cs typeface="Times New Roman"/>
            </a:endParaRPr>
          </a:p>
        </p:txBody>
      </p:sp>
      <p:sp>
        <p:nvSpPr>
          <p:cNvPr id="9" name="Shape 1">
            <a:extLst>
              <a:ext uri="{FF2B5EF4-FFF2-40B4-BE49-F238E27FC236}">
                <a16:creationId xmlns:a16="http://schemas.microsoft.com/office/drawing/2014/main" id="{FB772856-F959-3476-A0B9-AD7D970C9F85}"/>
              </a:ext>
            </a:extLst>
          </p:cNvPr>
          <p:cNvSpPr/>
          <p:nvPr/>
        </p:nvSpPr>
        <p:spPr>
          <a:xfrm>
            <a:off x="0" y="6108192"/>
            <a:ext cx="12192000" cy="749808"/>
          </a:xfrm>
          <a:prstGeom prst="rect">
            <a:avLst/>
          </a:prstGeom>
          <a:solidFill>
            <a:srgbClr val="C00000"/>
          </a:solidFill>
          <a:ln/>
        </p:spPr>
      </p:sp>
      <p:sp>
        <p:nvSpPr>
          <p:cNvPr id="11" name="Text 2">
            <a:extLst>
              <a:ext uri="{FF2B5EF4-FFF2-40B4-BE49-F238E27FC236}">
                <a16:creationId xmlns:a16="http://schemas.microsoft.com/office/drawing/2014/main" id="{723BD1C7-3B97-D360-2EB0-8D2ACEC10E80}"/>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2" name="Text 3">
            <a:extLst>
              <a:ext uri="{FF2B5EF4-FFF2-40B4-BE49-F238E27FC236}">
                <a16:creationId xmlns:a16="http://schemas.microsoft.com/office/drawing/2014/main" id="{7F905BEF-D8FB-AE4E-75C7-23244D258A0D}"/>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3" name="Text 4">
            <a:extLst>
              <a:ext uri="{FF2B5EF4-FFF2-40B4-BE49-F238E27FC236}">
                <a16:creationId xmlns:a16="http://schemas.microsoft.com/office/drawing/2014/main" id="{A5067324-F50F-A38A-B464-92805A516315}"/>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2206121</a:t>
            </a:r>
            <a:endParaRPr lang="en-US" sz="1600" dirty="0">
              <a:latin typeface="Times New Roman"/>
              <a:ea typeface="Times New Roman"/>
              <a:cs typeface="Times New Roman"/>
            </a:endParaRPr>
          </a:p>
        </p:txBody>
      </p:sp>
      <p:sp>
        <p:nvSpPr>
          <p:cNvPr id="14" name="Text 5">
            <a:extLst>
              <a:ext uri="{FF2B5EF4-FFF2-40B4-BE49-F238E27FC236}">
                <a16:creationId xmlns:a16="http://schemas.microsoft.com/office/drawing/2014/main" id="{0A3FAC64-4882-899E-F731-11E27757EBF5}"/>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22</a:t>
            </a:r>
            <a:endParaRPr lang="en-US" sz="1600" dirty="0">
              <a:latin typeface="Times New Roman"/>
              <a:ea typeface="Times New Roman"/>
              <a:cs typeface="Times New Roman"/>
            </a:endParaRPr>
          </a:p>
        </p:txBody>
      </p:sp>
      <p:pic>
        <p:nvPicPr>
          <p:cNvPr id="15" name="Picture 14">
            <a:extLst>
              <a:ext uri="{FF2B5EF4-FFF2-40B4-BE49-F238E27FC236}">
                <a16:creationId xmlns:a16="http://schemas.microsoft.com/office/drawing/2014/main" id="{6ED8C5D4-2B4D-F042-889E-F9EAD1B9EFD5}"/>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2398359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5.4  Impact Assessment (PO(f))</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23</a:t>
            </a:r>
            <a:endParaRPr lang="en-US" sz="1100" dirty="0">
              <a:latin typeface="Times New Roman"/>
              <a:ea typeface="Times New Roman"/>
              <a:cs typeface="Times New Roman"/>
            </a:endParaRPr>
          </a:p>
        </p:txBody>
      </p:sp>
      <p:sp>
        <p:nvSpPr>
          <p:cNvPr id="8" name="Shape 6"/>
          <p:cNvSpPr/>
          <p:nvPr/>
        </p:nvSpPr>
        <p:spPr>
          <a:xfrm>
            <a:off x="502920" y="1371600"/>
            <a:ext cx="3611880" cy="4617720"/>
          </a:xfrm>
          <a:prstGeom prst="roundRect">
            <a:avLst>
              <a:gd name="adj" fmla="val 1266"/>
            </a:avLst>
          </a:prstGeom>
          <a:solidFill>
            <a:srgbClr val="F2F5F9"/>
          </a:solidFill>
          <a:ln w="9525">
            <a:solidFill>
              <a:srgbClr val="C3CCD6"/>
            </a:solidFill>
            <a:prstDash val="solid"/>
          </a:ln>
        </p:spPr>
      </p:sp>
      <p:sp>
        <p:nvSpPr>
          <p:cNvPr id="9" name="Text 7"/>
          <p:cNvSpPr txBox="1"/>
          <p:nvPr/>
        </p:nvSpPr>
        <p:spPr>
          <a:xfrm>
            <a:off x="685800" y="1508760"/>
            <a:ext cx="3246120" cy="457200"/>
          </a:xfrm>
          <a:prstGeom prst="rect">
            <a:avLst/>
          </a:prstGeom>
          <a:noFill/>
          <a:ln/>
        </p:spPr>
        <p:txBody>
          <a:bodyPr wrap="square" lIns="0" tIns="0" rIns="0" bIns="0" rtlCol="0" anchor="ctr"/>
          <a:lstStyle/>
          <a:p>
            <a:pPr marL="0" indent="0">
              <a:buNone/>
            </a:pPr>
            <a:r>
              <a:rPr lang="en-US" sz="2000" b="1" dirty="0">
                <a:solidFill>
                  <a:srgbClr val="1F3B63"/>
                </a:solidFill>
                <a:latin typeface="Times New Roman"/>
                <a:ea typeface="Times New Roman"/>
                <a:cs typeface="Times New Roman"/>
              </a:rPr>
              <a:t>Societal and cultural</a:t>
            </a:r>
            <a:endParaRPr lang="en-US" sz="2000" dirty="0">
              <a:latin typeface="Times New Roman"/>
              <a:ea typeface="Times New Roman"/>
              <a:cs typeface="Times New Roman"/>
            </a:endParaRPr>
          </a:p>
        </p:txBody>
      </p:sp>
      <p:sp>
        <p:nvSpPr>
          <p:cNvPr id="10" name="Text 8"/>
          <p:cNvSpPr txBox="1"/>
          <p:nvPr/>
        </p:nvSpPr>
        <p:spPr>
          <a:xfrm>
            <a:off x="685800" y="1965960"/>
            <a:ext cx="3246120" cy="384048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17324F"/>
                </a:solidFill>
                <a:latin typeface="Times New Roman"/>
                <a:ea typeface="Times New Roman"/>
                <a:cs typeface="Times New Roman"/>
              </a:rPr>
              <a:t>Communication without adding to RF emissions — relevant in a dense city like Dhaka.</a:t>
            </a:r>
            <a:endParaRPr lang="en-US" sz="1600" dirty="0">
              <a:latin typeface="Times New Roman"/>
              <a:ea typeface="Times New Roman"/>
              <a:cs typeface="Times New Roman"/>
            </a:endParaRPr>
          </a:p>
          <a:p>
            <a:pPr marL="177800" indent="-177800">
              <a:spcAft>
                <a:spcPts val="800"/>
              </a:spcAft>
              <a:buSzPct val="100000"/>
              <a:buChar char="•"/>
            </a:pPr>
            <a:r>
              <a:rPr lang="en-US" sz="1600" dirty="0">
                <a:solidFill>
                  <a:srgbClr val="17324F"/>
                </a:solidFill>
                <a:latin typeface="Times New Roman"/>
                <a:ea typeface="Times New Roman"/>
                <a:cs typeface="Times New Roman"/>
              </a:rPr>
              <a:t>Confined to the room, so privacy is easy for a non-technical user to understand.</a:t>
            </a:r>
            <a:endParaRPr lang="en-US" sz="1600" dirty="0">
              <a:latin typeface="Times New Roman"/>
              <a:ea typeface="Times New Roman"/>
              <a:cs typeface="Times New Roman"/>
            </a:endParaRPr>
          </a:p>
          <a:p>
            <a:pPr marL="177800" indent="-177800">
              <a:spcAft>
                <a:spcPts val="800"/>
              </a:spcAft>
              <a:buSzPct val="100000"/>
              <a:buChar char="•"/>
            </a:pPr>
            <a:r>
              <a:rPr lang="en-US" sz="1600" dirty="0">
                <a:solidFill>
                  <a:srgbClr val="17324F"/>
                </a:solidFill>
                <a:latin typeface="Times New Roman"/>
                <a:ea typeface="Times New Roman"/>
                <a:cs typeface="Times New Roman"/>
              </a:rPr>
              <a:t>The beam is visible, which makes an abstract principle immediately intuitive for teaching.</a:t>
            </a:r>
            <a:endParaRPr lang="en-US" sz="1600" dirty="0">
              <a:latin typeface="Times New Roman"/>
              <a:ea typeface="Times New Roman"/>
              <a:cs typeface="Times New Roman"/>
            </a:endParaRPr>
          </a:p>
          <a:p>
            <a:pPr marL="177800" indent="-177800">
              <a:spcAft>
                <a:spcPts val="800"/>
              </a:spcAft>
              <a:buSzPct val="100000"/>
              <a:buChar char="•"/>
            </a:pPr>
            <a:r>
              <a:rPr lang="en-US" sz="1600" dirty="0">
                <a:solidFill>
                  <a:srgbClr val="17324F"/>
                </a:solidFill>
                <a:latin typeface="Times New Roman"/>
                <a:ea typeface="Times New Roman"/>
                <a:cs typeface="Times New Roman"/>
              </a:rPr>
              <a:t>Limitation: requires unobstructed line of sight, so it cannot replace radio for mobile users.</a:t>
            </a:r>
            <a:endParaRPr lang="en-US" sz="1600" dirty="0">
              <a:latin typeface="Times New Roman"/>
              <a:ea typeface="Times New Roman"/>
              <a:cs typeface="Times New Roman"/>
            </a:endParaRPr>
          </a:p>
        </p:txBody>
      </p:sp>
      <p:sp>
        <p:nvSpPr>
          <p:cNvPr id="11" name="Shape 9"/>
          <p:cNvSpPr/>
          <p:nvPr/>
        </p:nvSpPr>
        <p:spPr>
          <a:xfrm>
            <a:off x="4297680" y="1371600"/>
            <a:ext cx="3611880" cy="4617720"/>
          </a:xfrm>
          <a:prstGeom prst="roundRect">
            <a:avLst>
              <a:gd name="adj" fmla="val 1266"/>
            </a:avLst>
          </a:prstGeom>
          <a:solidFill>
            <a:srgbClr val="F2F5F9"/>
          </a:solidFill>
          <a:ln w="9525">
            <a:solidFill>
              <a:srgbClr val="C3CCD6"/>
            </a:solidFill>
            <a:prstDash val="solid"/>
          </a:ln>
        </p:spPr>
      </p:sp>
      <p:sp>
        <p:nvSpPr>
          <p:cNvPr id="12" name="Text 10"/>
          <p:cNvSpPr txBox="1"/>
          <p:nvPr/>
        </p:nvSpPr>
        <p:spPr>
          <a:xfrm>
            <a:off x="4480560" y="1508760"/>
            <a:ext cx="3246120" cy="457200"/>
          </a:xfrm>
          <a:prstGeom prst="rect">
            <a:avLst/>
          </a:prstGeom>
          <a:noFill/>
          <a:ln/>
        </p:spPr>
        <p:txBody>
          <a:bodyPr wrap="square" lIns="0" tIns="0" rIns="0" bIns="0" rtlCol="0" anchor="ctr"/>
          <a:lstStyle/>
          <a:p>
            <a:pPr marL="0" indent="0">
              <a:buNone/>
            </a:pPr>
            <a:r>
              <a:rPr lang="en-US" sz="2000" b="1" dirty="0">
                <a:solidFill>
                  <a:srgbClr val="1F3B63"/>
                </a:solidFill>
                <a:latin typeface="Times New Roman"/>
                <a:ea typeface="Times New Roman"/>
                <a:cs typeface="Times New Roman"/>
              </a:rPr>
              <a:t>Health and safety</a:t>
            </a:r>
            <a:endParaRPr lang="en-US" sz="2000" dirty="0">
              <a:latin typeface="Times New Roman"/>
              <a:ea typeface="Times New Roman"/>
              <a:cs typeface="Times New Roman"/>
            </a:endParaRPr>
          </a:p>
        </p:txBody>
      </p:sp>
      <p:sp>
        <p:nvSpPr>
          <p:cNvPr id="13" name="Text 11"/>
          <p:cNvSpPr txBox="1"/>
          <p:nvPr/>
        </p:nvSpPr>
        <p:spPr>
          <a:xfrm>
            <a:off x="4480560" y="1965960"/>
            <a:ext cx="3246120" cy="384048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17324F"/>
                </a:solidFill>
                <a:latin typeface="Times New Roman"/>
                <a:ea typeface="Times New Roman"/>
                <a:cs typeface="Times New Roman"/>
              </a:rPr>
              <a:t>Optical exposure is the principal hazard; bystanders are most at risk.</a:t>
            </a:r>
            <a:endParaRPr lang="en-US" sz="1600" dirty="0">
              <a:latin typeface="Times New Roman"/>
              <a:ea typeface="Times New Roman"/>
              <a:cs typeface="Times New Roman"/>
            </a:endParaRPr>
          </a:p>
          <a:p>
            <a:pPr marL="177800" indent="-177800">
              <a:spcAft>
                <a:spcPts val="800"/>
              </a:spcAft>
              <a:buSzPct val="100000"/>
              <a:buChar char="•"/>
            </a:pPr>
            <a:r>
              <a:rPr lang="en-US" sz="1600" dirty="0">
                <a:solidFill>
                  <a:srgbClr val="17324F"/>
                </a:solidFill>
                <a:latin typeface="Times New Roman"/>
                <a:ea typeface="Times New Roman"/>
                <a:cs typeface="Times New Roman"/>
              </a:rPr>
              <a:t>Mitigated by beam termination, below-eye-level axis, current limiting and the user manual.</a:t>
            </a:r>
            <a:endParaRPr lang="en-US" sz="1600" dirty="0">
              <a:latin typeface="Times New Roman"/>
              <a:ea typeface="Times New Roman"/>
              <a:cs typeface="Times New Roman"/>
            </a:endParaRPr>
          </a:p>
          <a:p>
            <a:pPr marL="177800" indent="-177800">
              <a:spcAft>
                <a:spcPts val="800"/>
              </a:spcAft>
              <a:buSzPct val="100000"/>
              <a:buChar char="•"/>
            </a:pPr>
            <a:r>
              <a:rPr lang="en-US" sz="1600" dirty="0">
                <a:solidFill>
                  <a:srgbClr val="17324F"/>
                </a:solidFill>
                <a:latin typeface="Times New Roman"/>
                <a:ea typeface="Times New Roman"/>
                <a:cs typeface="Times New Roman"/>
              </a:rPr>
              <a:t>Mains-connected bench supply isolated by a step-down transformer.</a:t>
            </a:r>
            <a:endParaRPr lang="en-US" sz="1600" dirty="0">
              <a:latin typeface="Times New Roman"/>
              <a:ea typeface="Times New Roman"/>
              <a:cs typeface="Times New Roman"/>
            </a:endParaRPr>
          </a:p>
          <a:p>
            <a:pPr marL="177800" indent="-177800">
              <a:spcAft>
                <a:spcPts val="800"/>
              </a:spcAft>
              <a:buSzPct val="100000"/>
              <a:buChar char="•"/>
            </a:pPr>
            <a:r>
              <a:rPr lang="en-US" sz="1600" dirty="0">
                <a:solidFill>
                  <a:srgbClr val="17324F"/>
                </a:solidFill>
                <a:latin typeface="Times New Roman"/>
                <a:ea typeface="Times New Roman"/>
                <a:cs typeface="Times New Roman"/>
              </a:rPr>
              <a:t>No device on either board became warm in extended operation.</a:t>
            </a:r>
            <a:endParaRPr lang="en-US" sz="1600" dirty="0">
              <a:latin typeface="Times New Roman"/>
              <a:ea typeface="Times New Roman"/>
              <a:cs typeface="Times New Roman"/>
            </a:endParaRPr>
          </a:p>
        </p:txBody>
      </p:sp>
      <p:sp>
        <p:nvSpPr>
          <p:cNvPr id="14" name="Shape 12"/>
          <p:cNvSpPr/>
          <p:nvPr/>
        </p:nvSpPr>
        <p:spPr>
          <a:xfrm>
            <a:off x="8092440" y="1371600"/>
            <a:ext cx="3611880" cy="4617720"/>
          </a:xfrm>
          <a:prstGeom prst="roundRect">
            <a:avLst>
              <a:gd name="adj" fmla="val 1266"/>
            </a:avLst>
          </a:prstGeom>
          <a:solidFill>
            <a:srgbClr val="F2F5F9"/>
          </a:solidFill>
          <a:ln w="9525">
            <a:solidFill>
              <a:srgbClr val="C3CCD6"/>
            </a:solidFill>
            <a:prstDash val="solid"/>
          </a:ln>
        </p:spPr>
      </p:sp>
      <p:sp>
        <p:nvSpPr>
          <p:cNvPr id="15" name="Text 13"/>
          <p:cNvSpPr txBox="1"/>
          <p:nvPr/>
        </p:nvSpPr>
        <p:spPr>
          <a:xfrm>
            <a:off x="8275320" y="1508760"/>
            <a:ext cx="3246120" cy="457200"/>
          </a:xfrm>
          <a:prstGeom prst="rect">
            <a:avLst/>
          </a:prstGeom>
          <a:noFill/>
          <a:ln/>
        </p:spPr>
        <p:txBody>
          <a:bodyPr wrap="square" lIns="0" tIns="0" rIns="0" bIns="0" rtlCol="0" anchor="ctr"/>
          <a:lstStyle/>
          <a:p>
            <a:pPr marL="0" indent="0">
              <a:buNone/>
            </a:pPr>
            <a:r>
              <a:rPr lang="en-US" sz="2000" b="1" dirty="0">
                <a:solidFill>
                  <a:srgbClr val="1F3B63"/>
                </a:solidFill>
                <a:latin typeface="Times New Roman"/>
                <a:ea typeface="Times New Roman"/>
                <a:cs typeface="Times New Roman"/>
              </a:rPr>
              <a:t>Legal</a:t>
            </a:r>
            <a:endParaRPr lang="en-US" sz="2000" dirty="0">
              <a:latin typeface="Times New Roman"/>
              <a:ea typeface="Times New Roman"/>
              <a:cs typeface="Times New Roman"/>
            </a:endParaRPr>
          </a:p>
        </p:txBody>
      </p:sp>
      <p:sp>
        <p:nvSpPr>
          <p:cNvPr id="16" name="Text 14"/>
          <p:cNvSpPr txBox="1"/>
          <p:nvPr/>
        </p:nvSpPr>
        <p:spPr>
          <a:xfrm>
            <a:off x="8275320" y="1965960"/>
            <a:ext cx="3246120" cy="384048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17324F"/>
                </a:solidFill>
                <a:latin typeface="Times New Roman"/>
                <a:ea typeface="Times New Roman"/>
                <a:cs typeface="Times New Roman"/>
              </a:rPr>
              <a:t>Visible-light communication needs no spectrum licence in Bangladesh.</a:t>
            </a:r>
            <a:endParaRPr lang="en-US" sz="1600" dirty="0">
              <a:latin typeface="Times New Roman"/>
              <a:ea typeface="Times New Roman"/>
              <a:cs typeface="Times New Roman"/>
            </a:endParaRPr>
          </a:p>
          <a:p>
            <a:pPr marL="177800" indent="-177800">
              <a:spcAft>
                <a:spcPts val="800"/>
              </a:spcAft>
              <a:buSzPct val="100000"/>
              <a:buChar char="•"/>
            </a:pPr>
            <a:r>
              <a:rPr lang="en-US" sz="1600" dirty="0">
                <a:solidFill>
                  <a:srgbClr val="17324F"/>
                </a:solidFill>
                <a:latin typeface="Times New Roman"/>
                <a:ea typeface="Times New Roman"/>
                <a:cs typeface="Times New Roman"/>
              </a:rPr>
              <a:t>A commercial version would need IEC 60825-1 Class 3R labelling, housing and interlock.</a:t>
            </a:r>
            <a:endParaRPr lang="en-US" sz="1600" dirty="0">
              <a:latin typeface="Times New Roman"/>
              <a:ea typeface="Times New Roman"/>
              <a:cs typeface="Times New Roman"/>
            </a:endParaRPr>
          </a:p>
          <a:p>
            <a:pPr marL="177800" indent="-177800">
              <a:spcAft>
                <a:spcPts val="800"/>
              </a:spcAft>
              <a:buSzPct val="100000"/>
              <a:buChar char="•"/>
            </a:pPr>
            <a:r>
              <a:rPr lang="en-US" sz="1600" dirty="0">
                <a:solidFill>
                  <a:srgbClr val="17324F"/>
                </a:solidFill>
                <a:latin typeface="Times New Roman"/>
                <a:ea typeface="Times New Roman"/>
                <a:cs typeface="Times New Roman"/>
              </a:rPr>
              <a:t>All parts are standard, off-the-shelf; all reference designs cited.</a:t>
            </a:r>
            <a:endParaRPr lang="en-US" sz="1600" dirty="0">
              <a:latin typeface="Times New Roman"/>
              <a:ea typeface="Times New Roman"/>
              <a:cs typeface="Times New Roman"/>
            </a:endParaRPr>
          </a:p>
        </p:txBody>
      </p:sp>
      <p:sp>
        <p:nvSpPr>
          <p:cNvPr id="17" name="Shape 1">
            <a:extLst>
              <a:ext uri="{FF2B5EF4-FFF2-40B4-BE49-F238E27FC236}">
                <a16:creationId xmlns:a16="http://schemas.microsoft.com/office/drawing/2014/main" id="{41DB4A26-B1B4-1DF7-FE54-8BA433D55F6A}"/>
              </a:ext>
            </a:extLst>
          </p:cNvPr>
          <p:cNvSpPr/>
          <p:nvPr/>
        </p:nvSpPr>
        <p:spPr>
          <a:xfrm>
            <a:off x="0" y="6108192"/>
            <a:ext cx="12192000" cy="749808"/>
          </a:xfrm>
          <a:prstGeom prst="rect">
            <a:avLst/>
          </a:prstGeom>
          <a:solidFill>
            <a:srgbClr val="C00000"/>
          </a:solidFill>
          <a:ln/>
        </p:spPr>
      </p:sp>
      <p:sp>
        <p:nvSpPr>
          <p:cNvPr id="18" name="Text 2">
            <a:extLst>
              <a:ext uri="{FF2B5EF4-FFF2-40B4-BE49-F238E27FC236}">
                <a16:creationId xmlns:a16="http://schemas.microsoft.com/office/drawing/2014/main" id="{BE12AC65-FAF5-AA24-C89E-36E3B1BB7946}"/>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9" name="Text 3">
            <a:extLst>
              <a:ext uri="{FF2B5EF4-FFF2-40B4-BE49-F238E27FC236}">
                <a16:creationId xmlns:a16="http://schemas.microsoft.com/office/drawing/2014/main" id="{12EA9DEF-9170-8442-62FE-2A4A4C123721}"/>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20" name="Text 4">
            <a:extLst>
              <a:ext uri="{FF2B5EF4-FFF2-40B4-BE49-F238E27FC236}">
                <a16:creationId xmlns:a16="http://schemas.microsoft.com/office/drawing/2014/main" id="{77A44D90-BD24-9393-C0D3-0B7D4E9B8F44}"/>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2206121</a:t>
            </a:r>
            <a:endParaRPr lang="en-US" sz="1600" dirty="0">
              <a:latin typeface="Times New Roman"/>
              <a:ea typeface="Times New Roman"/>
              <a:cs typeface="Times New Roman"/>
            </a:endParaRPr>
          </a:p>
        </p:txBody>
      </p:sp>
      <p:sp>
        <p:nvSpPr>
          <p:cNvPr id="21" name="Text 5">
            <a:extLst>
              <a:ext uri="{FF2B5EF4-FFF2-40B4-BE49-F238E27FC236}">
                <a16:creationId xmlns:a16="http://schemas.microsoft.com/office/drawing/2014/main" id="{03F945B7-9F50-4C3B-0E81-079EA52BB976}"/>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23</a:t>
            </a:r>
            <a:endParaRPr lang="en-US" sz="1600" dirty="0">
              <a:latin typeface="Times New Roman"/>
              <a:ea typeface="Times New Roman"/>
              <a:cs typeface="Times New Roman"/>
            </a:endParaRPr>
          </a:p>
        </p:txBody>
      </p:sp>
      <p:pic>
        <p:nvPicPr>
          <p:cNvPr id="22" name="Picture 21">
            <a:extLst>
              <a:ext uri="{FF2B5EF4-FFF2-40B4-BE49-F238E27FC236}">
                <a16:creationId xmlns:a16="http://schemas.microsoft.com/office/drawing/2014/main" id="{DF110CCF-7FD7-CF0D-9416-8CA3F4F602EE}"/>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652652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411480"/>
            <a:ext cx="11338560" cy="566928"/>
          </a:xfrm>
          <a:prstGeom prst="rect">
            <a:avLst/>
          </a:prstGeom>
          <a:noFill/>
          <a:ln/>
        </p:spPr>
        <p:txBody>
          <a:bodyPr wrap="square" lIns="0" tIns="0" rIns="0" bIns="0" rtlCol="0" anchor="ctr"/>
          <a:lstStyle/>
          <a:p>
            <a:pPr marL="0" indent="0">
              <a:buNone/>
            </a:pPr>
            <a:r>
              <a:rPr lang="en-US" sz="4000" b="1" dirty="0">
                <a:solidFill>
                  <a:srgbClr val="17324F"/>
                </a:solidFill>
                <a:latin typeface="Times New Roman"/>
                <a:ea typeface="Times New Roman"/>
                <a:cs typeface="Times New Roman"/>
              </a:rPr>
              <a:t>5.5  Sustainability and Environmental Impact Evaluation (PO(g))</a:t>
            </a:r>
            <a:endParaRPr lang="en-US" sz="40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24</a:t>
            </a:r>
            <a:endParaRPr lang="en-US" sz="1100" dirty="0">
              <a:latin typeface="Times New Roman"/>
              <a:ea typeface="Times New Roman"/>
              <a:cs typeface="Times New Roman"/>
            </a:endParaRPr>
          </a:p>
        </p:txBody>
      </p:sp>
      <p:sp>
        <p:nvSpPr>
          <p:cNvPr id="8" name="Shape 6"/>
          <p:cNvSpPr/>
          <p:nvPr/>
        </p:nvSpPr>
        <p:spPr>
          <a:xfrm>
            <a:off x="548640" y="1417320"/>
            <a:ext cx="11109960" cy="1417320"/>
          </a:xfrm>
          <a:prstGeom prst="roundRect">
            <a:avLst>
              <a:gd name="adj" fmla="val 3226"/>
            </a:avLst>
          </a:prstGeom>
          <a:solidFill>
            <a:srgbClr val="F2F5F9"/>
          </a:solidFill>
          <a:ln w="9525">
            <a:solidFill>
              <a:srgbClr val="C3CCD6"/>
            </a:solidFill>
            <a:prstDash val="solid"/>
          </a:ln>
        </p:spPr>
      </p:sp>
      <p:sp>
        <p:nvSpPr>
          <p:cNvPr id="9" name="Text 7"/>
          <p:cNvSpPr txBox="1"/>
          <p:nvPr/>
        </p:nvSpPr>
        <p:spPr>
          <a:xfrm>
            <a:off x="777240" y="1572768"/>
            <a:ext cx="10652760" cy="1143000"/>
          </a:xfrm>
          <a:prstGeom prst="rect">
            <a:avLst/>
          </a:prstGeom>
          <a:noFill/>
          <a:ln/>
        </p:spPr>
        <p:txBody>
          <a:bodyPr wrap="square" lIns="0" tIns="0" rIns="0" bIns="0" rtlCol="0" anchor="t"/>
          <a:lstStyle/>
          <a:p>
            <a:pPr marL="0" indent="0">
              <a:buNone/>
            </a:pPr>
            <a:r>
              <a:rPr lang="en-US" b="1" dirty="0">
                <a:solidFill>
                  <a:srgbClr val="1F3B63"/>
                </a:solidFill>
                <a:latin typeface="Times New Roman"/>
                <a:ea typeface="Times New Roman"/>
                <a:cs typeface="Times New Roman"/>
              </a:rPr>
              <a:t>Resource use and reusability   </a:t>
            </a:r>
            <a:r>
              <a:rPr lang="en-US" sz="1600" dirty="0">
                <a:solidFill>
                  <a:srgbClr val="17324F"/>
                </a:solidFill>
                <a:latin typeface="Times New Roman"/>
                <a:ea typeface="Times New Roman"/>
                <a:cs typeface="Times New Roman"/>
              </a:rPr>
              <a:t>Through-hole components on reusable breadboards. No PCB was etched, so no etching chemicals were consumed and no permanent e-waste was created. Every component — both TL072s, the LM358, the LM386, the laser and the photodiode — can be recovered and reused.</a:t>
            </a:r>
            <a:endParaRPr lang="en-US" dirty="0">
              <a:latin typeface="Times New Roman"/>
              <a:ea typeface="Times New Roman"/>
              <a:cs typeface="Times New Roman"/>
            </a:endParaRPr>
          </a:p>
        </p:txBody>
      </p:sp>
      <p:sp>
        <p:nvSpPr>
          <p:cNvPr id="10" name="Shape 8"/>
          <p:cNvSpPr/>
          <p:nvPr/>
        </p:nvSpPr>
        <p:spPr>
          <a:xfrm>
            <a:off x="548640" y="3017520"/>
            <a:ext cx="11109960" cy="1417320"/>
          </a:xfrm>
          <a:prstGeom prst="roundRect">
            <a:avLst>
              <a:gd name="adj" fmla="val 3226"/>
            </a:avLst>
          </a:prstGeom>
          <a:solidFill>
            <a:srgbClr val="F2F5F9"/>
          </a:solidFill>
          <a:ln w="9525">
            <a:solidFill>
              <a:srgbClr val="C3CCD6"/>
            </a:solidFill>
            <a:prstDash val="solid"/>
          </a:ln>
        </p:spPr>
      </p:sp>
      <p:sp>
        <p:nvSpPr>
          <p:cNvPr id="11" name="Text 9"/>
          <p:cNvSpPr txBox="1"/>
          <p:nvPr/>
        </p:nvSpPr>
        <p:spPr>
          <a:xfrm>
            <a:off x="777240" y="3172968"/>
            <a:ext cx="10652760" cy="1143000"/>
          </a:xfrm>
          <a:prstGeom prst="rect">
            <a:avLst/>
          </a:prstGeom>
          <a:noFill/>
          <a:ln/>
        </p:spPr>
        <p:txBody>
          <a:bodyPr wrap="square" lIns="0" tIns="0" rIns="0" bIns="0" rtlCol="0" anchor="t"/>
          <a:lstStyle/>
          <a:p>
            <a:pPr marL="0" indent="0">
              <a:buNone/>
            </a:pPr>
            <a:r>
              <a:rPr lang="en-US" b="1" dirty="0">
                <a:solidFill>
                  <a:srgbClr val="1F3B63"/>
                </a:solidFill>
                <a:latin typeface="Times New Roman"/>
                <a:ea typeface="Times New Roman"/>
                <a:cs typeface="Times New Roman"/>
              </a:rPr>
              <a:t>Energy consumption   </a:t>
            </a:r>
            <a:r>
              <a:rPr lang="en-US" sz="1600" dirty="0">
                <a:solidFill>
                  <a:srgbClr val="17324F"/>
                </a:solidFill>
                <a:latin typeface="Times New Roman"/>
                <a:ea typeface="Times New Roman"/>
                <a:cs typeface="Times New Roman"/>
              </a:rPr>
              <a:t>Receiver: 10.48 mA at 7.96 V ≈ 83 mW. The transmitter is comparable, dominated by the laser. The complete link runs on under a quarter of a watt, and generates no electromagnetic interference because there is no switching circuitry.</a:t>
            </a:r>
            <a:endParaRPr lang="en-US" dirty="0">
              <a:latin typeface="Times New Roman"/>
              <a:ea typeface="Times New Roman"/>
              <a:cs typeface="Times New Roman"/>
            </a:endParaRPr>
          </a:p>
        </p:txBody>
      </p:sp>
      <p:sp>
        <p:nvSpPr>
          <p:cNvPr id="12" name="Shape 10"/>
          <p:cNvSpPr/>
          <p:nvPr/>
        </p:nvSpPr>
        <p:spPr>
          <a:xfrm>
            <a:off x="548640" y="4617720"/>
            <a:ext cx="11109960" cy="1417320"/>
          </a:xfrm>
          <a:prstGeom prst="roundRect">
            <a:avLst>
              <a:gd name="adj" fmla="val 3226"/>
            </a:avLst>
          </a:prstGeom>
          <a:solidFill>
            <a:srgbClr val="F2F5F9"/>
          </a:solidFill>
          <a:ln w="9525">
            <a:solidFill>
              <a:srgbClr val="C3CCD6"/>
            </a:solidFill>
            <a:prstDash val="solid"/>
          </a:ln>
        </p:spPr>
      </p:sp>
      <p:sp>
        <p:nvSpPr>
          <p:cNvPr id="13" name="Text 11"/>
          <p:cNvSpPr txBox="1"/>
          <p:nvPr/>
        </p:nvSpPr>
        <p:spPr>
          <a:xfrm>
            <a:off x="777240" y="4773168"/>
            <a:ext cx="10652760" cy="1143000"/>
          </a:xfrm>
          <a:prstGeom prst="rect">
            <a:avLst/>
          </a:prstGeom>
          <a:noFill/>
          <a:ln/>
        </p:spPr>
        <p:txBody>
          <a:bodyPr wrap="square" lIns="0" tIns="0" rIns="0" bIns="0" rtlCol="0" anchor="t"/>
          <a:lstStyle/>
          <a:p>
            <a:pPr marL="0" indent="0">
              <a:buNone/>
            </a:pPr>
            <a:r>
              <a:rPr lang="en-US" b="1" dirty="0">
                <a:solidFill>
                  <a:srgbClr val="1F3B63"/>
                </a:solidFill>
                <a:latin typeface="Times New Roman"/>
                <a:ea typeface="Times New Roman"/>
                <a:cs typeface="Times New Roman"/>
              </a:rPr>
              <a:t>Long-term sustainability   </a:t>
            </a:r>
            <a:r>
              <a:rPr lang="en-US" sz="1600" dirty="0">
                <a:solidFill>
                  <a:srgbClr val="17324F"/>
                </a:solidFill>
                <a:latin typeface="Times New Roman"/>
                <a:ea typeface="Times New Roman"/>
                <a:cs typeface="Times New Roman"/>
              </a:rPr>
              <a:t>Purely analog: no firmware to maintain, no processor to go out of production. The laser is rated for 2000+ hours; the rest are commodity parts. At end of life the boards are disassembled by hand; only the electrolytics and semiconductors need controlled disposal.</a:t>
            </a:r>
            <a:endParaRPr lang="en-US" dirty="0">
              <a:latin typeface="Times New Roman"/>
              <a:ea typeface="Times New Roman"/>
              <a:cs typeface="Times New Roman"/>
            </a:endParaRPr>
          </a:p>
        </p:txBody>
      </p:sp>
      <p:sp>
        <p:nvSpPr>
          <p:cNvPr id="14" name="Shape 1">
            <a:extLst>
              <a:ext uri="{FF2B5EF4-FFF2-40B4-BE49-F238E27FC236}">
                <a16:creationId xmlns:a16="http://schemas.microsoft.com/office/drawing/2014/main" id="{4D6FEB92-77D0-B0D2-E8E8-C8B3AFE85205}"/>
              </a:ext>
            </a:extLst>
          </p:cNvPr>
          <p:cNvSpPr/>
          <p:nvPr/>
        </p:nvSpPr>
        <p:spPr>
          <a:xfrm>
            <a:off x="0" y="6108192"/>
            <a:ext cx="12192000" cy="749808"/>
          </a:xfrm>
          <a:prstGeom prst="rect">
            <a:avLst/>
          </a:prstGeom>
          <a:solidFill>
            <a:srgbClr val="C00000"/>
          </a:solidFill>
          <a:ln/>
        </p:spPr>
      </p:sp>
      <p:sp>
        <p:nvSpPr>
          <p:cNvPr id="15" name="Text 2">
            <a:extLst>
              <a:ext uri="{FF2B5EF4-FFF2-40B4-BE49-F238E27FC236}">
                <a16:creationId xmlns:a16="http://schemas.microsoft.com/office/drawing/2014/main" id="{C99BD1A3-2957-D793-22D4-86C9AEC77747}"/>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6" name="Text 3">
            <a:extLst>
              <a:ext uri="{FF2B5EF4-FFF2-40B4-BE49-F238E27FC236}">
                <a16:creationId xmlns:a16="http://schemas.microsoft.com/office/drawing/2014/main" id="{004E88AC-1B35-D697-ECC4-AEEAFE9BC66F}"/>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7" name="Text 4">
            <a:extLst>
              <a:ext uri="{FF2B5EF4-FFF2-40B4-BE49-F238E27FC236}">
                <a16:creationId xmlns:a16="http://schemas.microsoft.com/office/drawing/2014/main" id="{F86BF1FF-5D64-8BE5-3693-A41B268C7FAC}"/>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2206121</a:t>
            </a:r>
            <a:endParaRPr lang="en-US" sz="1600" dirty="0">
              <a:latin typeface="Times New Roman"/>
              <a:ea typeface="Times New Roman"/>
              <a:cs typeface="Times New Roman"/>
            </a:endParaRPr>
          </a:p>
        </p:txBody>
      </p:sp>
      <p:sp>
        <p:nvSpPr>
          <p:cNvPr id="18" name="Text 5">
            <a:extLst>
              <a:ext uri="{FF2B5EF4-FFF2-40B4-BE49-F238E27FC236}">
                <a16:creationId xmlns:a16="http://schemas.microsoft.com/office/drawing/2014/main" id="{F536B724-67E3-3FF1-EF18-F01988C37078}"/>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24</a:t>
            </a:r>
            <a:endParaRPr lang="en-US" sz="1600" dirty="0">
              <a:latin typeface="Times New Roman"/>
              <a:ea typeface="Times New Roman"/>
              <a:cs typeface="Times New Roman"/>
            </a:endParaRPr>
          </a:p>
        </p:txBody>
      </p:sp>
      <p:pic>
        <p:nvPicPr>
          <p:cNvPr id="19" name="Picture 18">
            <a:extLst>
              <a:ext uri="{FF2B5EF4-FFF2-40B4-BE49-F238E27FC236}">
                <a16:creationId xmlns:a16="http://schemas.microsoft.com/office/drawing/2014/main" id="{F8BD77F6-FAF3-8D6C-A0F9-AF67232DD529}"/>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1080211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451975"/>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6.1  Individual Contribution of Each Member</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25</a:t>
            </a:r>
            <a:endParaRPr lang="en-US" sz="1100" dirty="0">
              <a:latin typeface="Times New Roman"/>
              <a:ea typeface="Times New Roman"/>
              <a:cs typeface="Times New Roman"/>
            </a:endParaRPr>
          </a:p>
        </p:txBody>
      </p:sp>
      <p:graphicFrame>
        <p:nvGraphicFramePr>
          <p:cNvPr id="26" name="Table 0"/>
          <p:cNvGraphicFramePr>
            <a:graphicFrameLocks noGrp="1"/>
          </p:cNvGraphicFramePr>
          <p:nvPr>
            <p:extLst>
              <p:ext uri="{D42A27DB-BD31-4B8C-83A1-F6EECF244321}">
                <p14:modId xmlns:p14="http://schemas.microsoft.com/office/powerpoint/2010/main" val="1504726385"/>
              </p:ext>
            </p:extLst>
          </p:nvPr>
        </p:nvGraphicFramePr>
        <p:xfrm>
          <a:off x="548640" y="1463040"/>
          <a:ext cx="11155680" cy="3571240"/>
        </p:xfrm>
        <a:graphic>
          <a:graphicData uri="http://schemas.openxmlformats.org/drawingml/2006/table">
            <a:tbl>
              <a:tblPr/>
              <a:tblGrid>
                <a:gridCol w="3017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6675120">
                  <a:extLst>
                    <a:ext uri="{9D8B030D-6E8A-4147-A177-3AD203B41FA5}">
                      <a16:colId xmlns:a16="http://schemas.microsoft.com/office/drawing/2014/main" val="20002"/>
                    </a:ext>
                  </a:extLst>
                </a:gridCol>
              </a:tblGrid>
              <a:tr h="0">
                <a:tc>
                  <a:txBody>
                    <a:bodyPr/>
                    <a:lstStyle/>
                    <a:p>
                      <a:pPr marL="0" indent="0" algn="ctr">
                        <a:buNone/>
                      </a:pPr>
                      <a:r>
                        <a:rPr lang="en-US" sz="1600" b="1" dirty="0">
                          <a:solidFill>
                            <a:srgbClr val="FFFFFF"/>
                          </a:solidFill>
                          <a:latin typeface="Times New Roman"/>
                          <a:ea typeface="Times New Roman"/>
                          <a:cs typeface="Times New Roman"/>
                        </a:rPr>
                        <a:t>Member name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600" b="1" dirty="0">
                          <a:solidFill>
                            <a:srgbClr val="FFFFFF"/>
                          </a:solidFill>
                          <a:latin typeface="Times New Roman"/>
                          <a:ea typeface="Times New Roman"/>
                          <a:cs typeface="Times New Roman"/>
                        </a:rPr>
                        <a:t>Student ID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600" b="1" dirty="0">
                          <a:solidFill>
                            <a:srgbClr val="FFFFFF"/>
                          </a:solidFill>
                          <a:latin typeface="Times New Roman"/>
                          <a:ea typeface="Times New Roman"/>
                          <a:cs typeface="Times New Roman"/>
                        </a:rPr>
                        <a:t>Individual contribution</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0">
                <a:tc>
                  <a:txBody>
                    <a:bodyPr/>
                    <a:lstStyle/>
                    <a:p>
                      <a:pPr marL="0" indent="0" algn="l">
                        <a:buNone/>
                      </a:pPr>
                      <a:r>
                        <a:rPr lang="en-US" sz="1600" dirty="0">
                          <a:solidFill>
                            <a:srgbClr val="17324F"/>
                          </a:solidFill>
                          <a:latin typeface="Times New Roman"/>
                          <a:ea typeface="Times New Roman"/>
                          <a:cs typeface="Times New Roman"/>
                        </a:rPr>
                        <a:t>Md. Ahasan Habib Kawsar</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2206119</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latin typeface="Times New Roman"/>
                          <a:ea typeface="Times New Roman"/>
                          <a:cs typeface="Times New Roman"/>
                        </a:rPr>
                        <a:t>Circuit design, PSpice simulation, laser driver,</a:t>
                      </a:r>
                    </a:p>
                    <a:p>
                      <a:pPr marL="0" indent="0" algn="l">
                        <a:buNone/>
                      </a:pPr>
                      <a:r>
                        <a:rPr lang="en-US" sz="1600" dirty="0">
                          <a:latin typeface="Times New Roman"/>
                          <a:ea typeface="Times New Roman"/>
                          <a:cs typeface="Times New Roman"/>
                        </a:rPr>
                        <a:t>integration, debugging</a:t>
                      </a:r>
                      <a:r>
                        <a:rPr lang="en-US" sz="1600" b="1" dirty="0">
                          <a:latin typeface="Times New Roman"/>
                          <a:ea typeface="Times New Roman"/>
                          <a:cs typeface="Times New Roman"/>
                        </a:rPr>
                        <a:t>, </a:t>
                      </a:r>
                      <a:r>
                        <a:rPr lang="en-US" sz="1600" b="0" dirty="0">
                          <a:latin typeface="Times New Roman"/>
                          <a:ea typeface="Times New Roman"/>
                          <a:cs typeface="Times New Roman"/>
                        </a:rPr>
                        <a:t>demonstration</a:t>
                      </a:r>
                    </a:p>
                    <a:p>
                      <a:pPr marL="0" indent="0" algn="l">
                        <a:buNone/>
                      </a:pPr>
                      <a:r>
                        <a:rPr lang="en-US" sz="1600" b="1" dirty="0">
                          <a:latin typeface="Times New Roman"/>
                          <a:ea typeface="Times New Roman"/>
                          <a:cs typeface="Times New Roman"/>
                        </a:rPr>
                        <a:t>(Project Leading)</a:t>
                      </a: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600" dirty="0">
                          <a:solidFill>
                            <a:srgbClr val="17324F"/>
                          </a:solidFill>
                          <a:latin typeface="Times New Roman"/>
                          <a:ea typeface="Times New Roman"/>
                          <a:cs typeface="Times New Roman"/>
                        </a:rPr>
                        <a:t>Md. Mahedi Hasan Saikot</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solidFill>
                            <a:srgbClr val="17324F"/>
                          </a:solidFill>
                          <a:latin typeface="Times New Roman"/>
                          <a:ea typeface="Times New Roman"/>
                          <a:cs typeface="Times New Roman"/>
                        </a:rPr>
                        <a:t>2206111</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latin typeface="Times New Roman"/>
                          <a:ea typeface="Times New Roman"/>
                          <a:cs typeface="Times New Roman"/>
                        </a:rPr>
                        <a:t>Data collection, oscilloscope measurements,</a:t>
                      </a:r>
                    </a:p>
                    <a:p>
                      <a:pPr marL="0" indent="0" algn="l">
                        <a:buNone/>
                      </a:pPr>
                      <a:r>
                        <a:rPr lang="en-US" sz="1600" dirty="0">
                          <a:latin typeface="Times New Roman"/>
                          <a:ea typeface="Times New Roman"/>
                          <a:cs typeface="Times New Roman"/>
                        </a:rPr>
                        <a:t>frequency response </a:t>
                      </a:r>
                      <a:r>
                        <a:rPr lang="en-US" sz="1600" dirty="0" err="1">
                          <a:latin typeface="Times New Roman"/>
                          <a:ea typeface="Times New Roman"/>
                          <a:cs typeface="Times New Roman"/>
                        </a:rPr>
                        <a:t>testing,slides</a:t>
                      </a:r>
                      <a:r>
                        <a:rPr lang="en-US" sz="1600" dirty="0">
                          <a:latin typeface="Times New Roman"/>
                          <a:ea typeface="Times New Roman"/>
                          <a:cs typeface="Times New Roman"/>
                        </a:rPr>
                        <a:t> revision</a:t>
                      </a: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2"/>
                  </a:ext>
                </a:extLst>
              </a:tr>
              <a:tr h="0">
                <a:tc>
                  <a:txBody>
                    <a:bodyPr/>
                    <a:lstStyle/>
                    <a:p>
                      <a:pPr marL="0" indent="0" algn="l">
                        <a:buNone/>
                      </a:pPr>
                      <a:r>
                        <a:rPr lang="en-US" sz="1600" dirty="0">
                          <a:solidFill>
                            <a:srgbClr val="17324F"/>
                          </a:solidFill>
                          <a:latin typeface="Times New Roman"/>
                          <a:ea typeface="Times New Roman"/>
                          <a:cs typeface="Times New Roman"/>
                        </a:rPr>
                        <a:t>MD. Saruwer Hossan Pial</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2206099</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latin typeface="Times New Roman"/>
                          <a:ea typeface="Times New Roman"/>
                          <a:cs typeface="Times New Roman"/>
                        </a:rPr>
                        <a:t>Receiver board assembly and soldering</a:t>
                      </a: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600" dirty="0">
                          <a:solidFill>
                            <a:srgbClr val="17324F"/>
                          </a:solidFill>
                          <a:latin typeface="Times New Roman"/>
                          <a:ea typeface="Times New Roman"/>
                          <a:cs typeface="Times New Roman"/>
                        </a:rPr>
                        <a:t>Mustasin Rahman Ador</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solidFill>
                            <a:srgbClr val="17324F"/>
                          </a:solidFill>
                          <a:latin typeface="Times New Roman"/>
                          <a:ea typeface="Times New Roman"/>
                          <a:cs typeface="Times New Roman"/>
                        </a:rPr>
                        <a:t>2206104</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latin typeface="Times New Roman"/>
                          <a:ea typeface="Times New Roman"/>
                          <a:cs typeface="Times New Roman"/>
                        </a:rPr>
                        <a:t>Transmitter board assembly, optical alignment and</a:t>
                      </a:r>
                    </a:p>
                    <a:p>
                      <a:pPr marL="0" indent="0" algn="l">
                        <a:buNone/>
                      </a:pPr>
                      <a:r>
                        <a:rPr lang="en-US" sz="1600" dirty="0">
                          <a:latin typeface="Times New Roman"/>
                          <a:ea typeface="Times New Roman"/>
                          <a:cs typeface="Times New Roman"/>
                        </a:rPr>
                        <a:t>mounting</a:t>
                      </a: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4"/>
                  </a:ext>
                </a:extLst>
              </a:tr>
              <a:tr h="0">
                <a:tc>
                  <a:txBody>
                    <a:bodyPr/>
                    <a:lstStyle/>
                    <a:p>
                      <a:pPr marL="0" indent="0" algn="l">
                        <a:buNone/>
                      </a:pPr>
                      <a:r>
                        <a:rPr lang="en-US" sz="1600" dirty="0">
                          <a:solidFill>
                            <a:srgbClr val="17324F"/>
                          </a:solidFill>
                          <a:latin typeface="Times New Roman"/>
                          <a:ea typeface="Times New Roman"/>
                          <a:cs typeface="Times New Roman"/>
                        </a:rPr>
                        <a:t>Md. Imran Shajid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7324F"/>
                          </a:solidFill>
                          <a:latin typeface="Times New Roman"/>
                          <a:ea typeface="Times New Roman"/>
                          <a:cs typeface="Times New Roman"/>
                        </a:rPr>
                        <a:t>2206120</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l">
                        <a:buNone/>
                      </a:pPr>
                      <a:r>
                        <a:rPr lang="en-US" sz="1600" dirty="0">
                          <a:latin typeface="Times New Roman"/>
                          <a:ea typeface="Times New Roman"/>
                          <a:cs typeface="Times New Roman"/>
                        </a:rPr>
                        <a:t>Component procurement, BOM and cost analysis</a:t>
                      </a: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600" dirty="0">
                          <a:solidFill>
                            <a:srgbClr val="17324F"/>
                          </a:solidFill>
                          <a:latin typeface="Times New Roman"/>
                          <a:ea typeface="Times New Roman"/>
                          <a:cs typeface="Times New Roman"/>
                        </a:rPr>
                        <a:t>Afnan Bin Obaid</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solidFill>
                            <a:srgbClr val="17324F"/>
                          </a:solidFill>
                          <a:latin typeface="Times New Roman"/>
                          <a:ea typeface="Times New Roman"/>
                          <a:cs typeface="Times New Roman"/>
                        </a:rPr>
                        <a:t>2206121</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l">
                        <a:buNone/>
                      </a:pPr>
                      <a:r>
                        <a:rPr lang="en-US" sz="1600" dirty="0">
                          <a:latin typeface="Times New Roman"/>
                          <a:ea typeface="Times New Roman"/>
                          <a:cs typeface="Times New Roman"/>
                        </a:rPr>
                        <a:t>Report writing, slides, demo video</a:t>
                      </a: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6"/>
                  </a:ext>
                </a:extLst>
              </a:tr>
            </a:tbl>
          </a:graphicData>
        </a:graphic>
      </p:graphicFrame>
      <p:sp>
        <p:nvSpPr>
          <p:cNvPr id="9" name="Text 6"/>
          <p:cNvSpPr txBox="1"/>
          <p:nvPr/>
        </p:nvSpPr>
        <p:spPr>
          <a:xfrm>
            <a:off x="548640" y="5079811"/>
            <a:ext cx="11155680" cy="1097280"/>
          </a:xfrm>
          <a:prstGeom prst="rect">
            <a:avLst/>
          </a:prstGeom>
          <a:noFill/>
          <a:ln/>
        </p:spPr>
        <p:txBody>
          <a:bodyPr wrap="square" lIns="0" tIns="0" rIns="0" bIns="0" rtlCol="0" anchor="t"/>
          <a:lstStyle/>
          <a:p>
            <a:pPr marL="0" indent="0" algn="l">
              <a:buNone/>
            </a:pPr>
            <a:r>
              <a:rPr lang="en-US" sz="1300" dirty="0">
                <a:solidFill>
                  <a:srgbClr val="4A5A6B"/>
                </a:solidFill>
                <a:latin typeface="Times New Roman"/>
                <a:ea typeface="Times New Roman"/>
                <a:cs typeface="Times New Roman"/>
              </a:rPr>
              <a:t>Mode of team work: design decisions were circulated before implementation; every significant change - constant-current drive, relocation of the dominant filter, the fixed input divider - was discussed by the group. Measurement sessions were attended together and components procured jointly, with cost shared equally.</a:t>
            </a:r>
            <a:endParaRPr lang="en-US" sz="1300" dirty="0">
              <a:latin typeface="Times New Roman"/>
              <a:ea typeface="Times New Roman"/>
              <a:cs typeface="Times New Roman"/>
            </a:endParaRPr>
          </a:p>
        </p:txBody>
      </p:sp>
      <p:sp>
        <p:nvSpPr>
          <p:cNvPr id="8" name="Shape 1">
            <a:extLst>
              <a:ext uri="{FF2B5EF4-FFF2-40B4-BE49-F238E27FC236}">
                <a16:creationId xmlns:a16="http://schemas.microsoft.com/office/drawing/2014/main" id="{D92456B6-0DAC-3BFC-B05B-696CDAC855C3}"/>
              </a:ext>
            </a:extLst>
          </p:cNvPr>
          <p:cNvSpPr/>
          <p:nvPr/>
        </p:nvSpPr>
        <p:spPr>
          <a:xfrm>
            <a:off x="0" y="6108192"/>
            <a:ext cx="12192000" cy="749808"/>
          </a:xfrm>
          <a:prstGeom prst="rect">
            <a:avLst/>
          </a:prstGeom>
          <a:solidFill>
            <a:srgbClr val="C00000"/>
          </a:solidFill>
          <a:ln/>
        </p:spPr>
      </p:sp>
      <p:sp>
        <p:nvSpPr>
          <p:cNvPr id="10" name="Text 2">
            <a:extLst>
              <a:ext uri="{FF2B5EF4-FFF2-40B4-BE49-F238E27FC236}">
                <a16:creationId xmlns:a16="http://schemas.microsoft.com/office/drawing/2014/main" id="{DA1B0585-62D8-F076-A588-33A04AFB2B0B}"/>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1" name="Text 3">
            <a:extLst>
              <a:ext uri="{FF2B5EF4-FFF2-40B4-BE49-F238E27FC236}">
                <a16:creationId xmlns:a16="http://schemas.microsoft.com/office/drawing/2014/main" id="{6F867AF5-A182-11DA-2C25-A54DD0B08336}"/>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2" name="Text 4">
            <a:extLst>
              <a:ext uri="{FF2B5EF4-FFF2-40B4-BE49-F238E27FC236}">
                <a16:creationId xmlns:a16="http://schemas.microsoft.com/office/drawing/2014/main" id="{46F11201-729B-2F67-8F0F-9F57D87D2A8A}"/>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2206121</a:t>
            </a:r>
            <a:endParaRPr lang="en-US" sz="1600" dirty="0">
              <a:latin typeface="Times New Roman"/>
              <a:ea typeface="Times New Roman"/>
              <a:cs typeface="Times New Roman"/>
            </a:endParaRPr>
          </a:p>
        </p:txBody>
      </p:sp>
      <p:sp>
        <p:nvSpPr>
          <p:cNvPr id="13" name="Text 5">
            <a:extLst>
              <a:ext uri="{FF2B5EF4-FFF2-40B4-BE49-F238E27FC236}">
                <a16:creationId xmlns:a16="http://schemas.microsoft.com/office/drawing/2014/main" id="{40A5AE9F-DDCD-9D4D-DC7E-25EA9D393BDC}"/>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25</a:t>
            </a:r>
            <a:endParaRPr lang="en-US" sz="1600" dirty="0">
              <a:latin typeface="Times New Roman"/>
              <a:ea typeface="Times New Roman"/>
              <a:cs typeface="Times New Roman"/>
            </a:endParaRPr>
          </a:p>
        </p:txBody>
      </p:sp>
      <p:pic>
        <p:nvPicPr>
          <p:cNvPr id="14" name="Picture 13">
            <a:extLst>
              <a:ext uri="{FF2B5EF4-FFF2-40B4-BE49-F238E27FC236}">
                <a16:creationId xmlns:a16="http://schemas.microsoft.com/office/drawing/2014/main" id="{2CBD6E4A-044A-8949-7EFC-C921CB88CB4D}"/>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2822789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553306"/>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6.4  Log Book and Timeline of Implementation</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26</a:t>
            </a:r>
            <a:endParaRPr lang="en-US" sz="1100" dirty="0">
              <a:latin typeface="Times New Roman"/>
              <a:ea typeface="Times New Roman"/>
              <a:cs typeface="Times New Roman"/>
            </a:endParaRPr>
          </a:p>
        </p:txBody>
      </p:sp>
      <p:pic>
        <p:nvPicPr>
          <p:cNvPr id="8" name="Image 0" descr="/home/claude/fig/gantt.png"/>
          <p:cNvPicPr>
            <a:picLocks noChangeAspect="1"/>
          </p:cNvPicPr>
          <p:nvPr/>
        </p:nvPicPr>
        <p:blipFill>
          <a:blip r:embed="rId3"/>
          <a:stretch>
            <a:fillRect/>
          </a:stretch>
        </p:blipFill>
        <p:spPr>
          <a:xfrm>
            <a:off x="640080" y="2038264"/>
            <a:ext cx="7406640" cy="3055791"/>
          </a:xfrm>
          <a:prstGeom prst="rect">
            <a:avLst/>
          </a:prstGeom>
        </p:spPr>
      </p:pic>
      <p:sp>
        <p:nvSpPr>
          <p:cNvPr id="9" name="Text 6"/>
          <p:cNvSpPr txBox="1"/>
          <p:nvPr/>
        </p:nvSpPr>
        <p:spPr>
          <a:xfrm>
            <a:off x="8229600" y="1463040"/>
            <a:ext cx="3611880" cy="4754880"/>
          </a:xfrm>
          <a:prstGeom prst="rect">
            <a:avLst/>
          </a:prstGeom>
          <a:noFill/>
          <a:ln/>
        </p:spPr>
        <p:txBody>
          <a:bodyPr wrap="square" lIns="0" tIns="0" rIns="0" bIns="0" rtlCol="0" anchor="t"/>
          <a:lstStyle/>
          <a:p>
            <a:pPr marL="228600" indent="-228600">
              <a:spcAft>
                <a:spcPts val="700"/>
              </a:spcAft>
              <a:buSzPct val="100000"/>
              <a:buChar char="•"/>
            </a:pPr>
            <a:r>
              <a:rPr lang="en-US" sz="1400" dirty="0">
                <a:solidFill>
                  <a:srgbClr val="17324F"/>
                </a:solidFill>
                <a:latin typeface="Times New Roman"/>
                <a:ea typeface="Times New Roman"/>
                <a:cs typeface="Times New Roman"/>
              </a:rPr>
              <a:t>13 Jul — scope fixed, first simulation and prototype.</a:t>
            </a:r>
            <a:endParaRPr lang="en-US" sz="1400" dirty="0">
              <a:latin typeface="Times New Roman"/>
              <a:ea typeface="Times New Roman"/>
              <a:cs typeface="Times New Roman"/>
            </a:endParaRPr>
          </a:p>
          <a:p>
            <a:pPr marL="228600" indent="-228600">
              <a:spcAft>
                <a:spcPts val="700"/>
              </a:spcAft>
              <a:buSzPct val="100000"/>
              <a:buChar char="•"/>
            </a:pPr>
            <a:r>
              <a:rPr lang="en-US" sz="1400" dirty="0">
                <a:solidFill>
                  <a:srgbClr val="17324F"/>
                </a:solidFill>
                <a:latin typeface="Times New Roman"/>
                <a:ea typeface="Times New Roman"/>
                <a:cs typeface="Times New Roman"/>
              </a:rPr>
              <a:t>16 Jul — link works but sound is distorted.</a:t>
            </a:r>
            <a:endParaRPr lang="en-US" sz="1400" dirty="0">
              <a:latin typeface="Times New Roman"/>
              <a:ea typeface="Times New Roman"/>
              <a:cs typeface="Times New Roman"/>
            </a:endParaRPr>
          </a:p>
          <a:p>
            <a:pPr marL="228600" indent="-228600">
              <a:spcAft>
                <a:spcPts val="700"/>
              </a:spcAft>
              <a:buSzPct val="100000"/>
              <a:buChar char="•"/>
            </a:pPr>
            <a:r>
              <a:rPr lang="en-US" sz="1400" dirty="0">
                <a:solidFill>
                  <a:srgbClr val="17324F"/>
                </a:solidFill>
                <a:latin typeface="Times New Roman"/>
                <a:ea typeface="Times New Roman"/>
                <a:cs typeface="Times New Roman"/>
              </a:rPr>
              <a:t>20 Jul – 5 Aug — redesign: constant-current driver, corrected filter values, staggered cut-offs.</a:t>
            </a:r>
            <a:endParaRPr lang="en-US" sz="1400" dirty="0">
              <a:latin typeface="Times New Roman"/>
              <a:ea typeface="Times New Roman"/>
              <a:cs typeface="Times New Roman"/>
            </a:endParaRPr>
          </a:p>
          <a:p>
            <a:pPr marL="228600" indent="-228600">
              <a:spcAft>
                <a:spcPts val="700"/>
              </a:spcAft>
              <a:buSzPct val="100000"/>
              <a:buChar char="•"/>
            </a:pPr>
            <a:r>
              <a:rPr lang="en-US" sz="1400" dirty="0">
                <a:solidFill>
                  <a:srgbClr val="17324F"/>
                </a:solidFill>
                <a:latin typeface="Times New Roman"/>
                <a:ea typeface="Times New Roman"/>
                <a:cs typeface="Times New Roman"/>
              </a:rPr>
              <a:t>10 – 28 Aug — second build; distortion traced to excess preamp gain; laser bias raised.</a:t>
            </a:r>
            <a:endParaRPr lang="en-US" sz="1400" dirty="0">
              <a:latin typeface="Times New Roman"/>
              <a:ea typeface="Times New Roman"/>
              <a:cs typeface="Times New Roman"/>
            </a:endParaRPr>
          </a:p>
          <a:p>
            <a:pPr marL="228600" indent="-228600">
              <a:spcAft>
                <a:spcPts val="700"/>
              </a:spcAft>
              <a:buSzPct val="100000"/>
              <a:buChar char="•"/>
            </a:pPr>
            <a:r>
              <a:rPr lang="en-US" sz="1400" dirty="0">
                <a:solidFill>
                  <a:srgbClr val="17324F"/>
                </a:solidFill>
                <a:latin typeface="Times New Roman"/>
                <a:ea typeface="Times New Roman"/>
                <a:cs typeface="Times New Roman"/>
              </a:rPr>
              <a:t>31 Aug — detector comparison; shrouded BPW34 adopted.</a:t>
            </a:r>
            <a:endParaRPr lang="en-US" sz="1400" dirty="0">
              <a:latin typeface="Times New Roman"/>
              <a:ea typeface="Times New Roman"/>
              <a:cs typeface="Times New Roman"/>
            </a:endParaRPr>
          </a:p>
          <a:p>
            <a:pPr marL="228600" indent="-228600">
              <a:spcAft>
                <a:spcPts val="700"/>
              </a:spcAft>
              <a:buSzPct val="100000"/>
              <a:buChar char="•"/>
            </a:pPr>
            <a:r>
              <a:rPr lang="en-US" sz="1400" dirty="0">
                <a:solidFill>
                  <a:srgbClr val="17324F"/>
                </a:solidFill>
                <a:latin typeface="Times New Roman"/>
                <a:ea typeface="Times New Roman"/>
                <a:cs typeface="Times New Roman"/>
              </a:rPr>
              <a:t>7 – 16 Sep — fixed input divider, final integration, 10 m link.</a:t>
            </a:r>
            <a:endParaRPr lang="en-US" sz="1400" dirty="0">
              <a:latin typeface="Times New Roman"/>
              <a:ea typeface="Times New Roman"/>
              <a:cs typeface="Times New Roman"/>
            </a:endParaRPr>
          </a:p>
          <a:p>
            <a:pPr marL="228600" indent="-228600">
              <a:spcAft>
                <a:spcPts val="700"/>
              </a:spcAft>
              <a:buSzPct val="100000"/>
              <a:buChar char="•"/>
            </a:pPr>
            <a:r>
              <a:rPr lang="en-US" sz="1400" dirty="0">
                <a:solidFill>
                  <a:srgbClr val="17324F"/>
                </a:solidFill>
                <a:latin typeface="Times New Roman"/>
                <a:ea typeface="Times New Roman"/>
                <a:cs typeface="Times New Roman"/>
              </a:rPr>
              <a:t>21 – 26 Sep — final PSpice runs and full measurement session.</a:t>
            </a:r>
            <a:endParaRPr lang="en-US" sz="1400" dirty="0">
              <a:latin typeface="Times New Roman"/>
              <a:ea typeface="Times New Roman"/>
              <a:cs typeface="Times New Roman"/>
            </a:endParaRPr>
          </a:p>
          <a:p>
            <a:pPr marL="228600" indent="-228600">
              <a:spcAft>
                <a:spcPts val="700"/>
              </a:spcAft>
              <a:buSzPct val="100000"/>
              <a:buChar char="•"/>
            </a:pPr>
            <a:r>
              <a:rPr lang="en-US" sz="1400" dirty="0">
                <a:solidFill>
                  <a:srgbClr val="17324F"/>
                </a:solidFill>
                <a:latin typeface="Times New Roman"/>
                <a:ea typeface="Times New Roman"/>
                <a:cs typeface="Times New Roman"/>
              </a:rPr>
              <a:t>28 Sep — submission and demonstration.</a:t>
            </a:r>
            <a:endParaRPr lang="en-US" sz="1400" dirty="0">
              <a:latin typeface="Times New Roman"/>
              <a:ea typeface="Times New Roman"/>
              <a:cs typeface="Times New Roman"/>
            </a:endParaRPr>
          </a:p>
        </p:txBody>
      </p:sp>
      <p:sp>
        <p:nvSpPr>
          <p:cNvPr id="10" name="Shape 1">
            <a:extLst>
              <a:ext uri="{FF2B5EF4-FFF2-40B4-BE49-F238E27FC236}">
                <a16:creationId xmlns:a16="http://schemas.microsoft.com/office/drawing/2014/main" id="{56519994-2DB3-934A-2095-47AB3564B215}"/>
              </a:ext>
            </a:extLst>
          </p:cNvPr>
          <p:cNvSpPr/>
          <p:nvPr/>
        </p:nvSpPr>
        <p:spPr>
          <a:xfrm>
            <a:off x="0" y="6108192"/>
            <a:ext cx="12192000" cy="749808"/>
          </a:xfrm>
          <a:prstGeom prst="rect">
            <a:avLst/>
          </a:prstGeom>
          <a:solidFill>
            <a:srgbClr val="C00000"/>
          </a:solidFill>
          <a:ln/>
        </p:spPr>
      </p:sp>
      <p:sp>
        <p:nvSpPr>
          <p:cNvPr id="11" name="Text 2">
            <a:extLst>
              <a:ext uri="{FF2B5EF4-FFF2-40B4-BE49-F238E27FC236}">
                <a16:creationId xmlns:a16="http://schemas.microsoft.com/office/drawing/2014/main" id="{92A02026-2A09-7F7F-249A-AA97285DEE3C}"/>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2" name="Text 3">
            <a:extLst>
              <a:ext uri="{FF2B5EF4-FFF2-40B4-BE49-F238E27FC236}">
                <a16:creationId xmlns:a16="http://schemas.microsoft.com/office/drawing/2014/main" id="{8AEC903B-08B2-7054-82F7-BE74728AACF7}"/>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3" name="Text 4">
            <a:extLst>
              <a:ext uri="{FF2B5EF4-FFF2-40B4-BE49-F238E27FC236}">
                <a16:creationId xmlns:a16="http://schemas.microsoft.com/office/drawing/2014/main" id="{C2C04F5C-93A3-A24C-6399-773114FAFA29}"/>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2206120</a:t>
            </a:r>
            <a:endParaRPr lang="en-US" sz="1600" dirty="0">
              <a:latin typeface="Times New Roman"/>
              <a:ea typeface="Times New Roman"/>
              <a:cs typeface="Times New Roman"/>
            </a:endParaRPr>
          </a:p>
        </p:txBody>
      </p:sp>
      <p:sp>
        <p:nvSpPr>
          <p:cNvPr id="14" name="Text 5">
            <a:extLst>
              <a:ext uri="{FF2B5EF4-FFF2-40B4-BE49-F238E27FC236}">
                <a16:creationId xmlns:a16="http://schemas.microsoft.com/office/drawing/2014/main" id="{F7109EE6-B626-D0DA-C207-17D59E2471D5}"/>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26</a:t>
            </a:r>
            <a:endParaRPr lang="en-US" sz="1600" dirty="0">
              <a:latin typeface="Times New Roman"/>
              <a:ea typeface="Times New Roman"/>
              <a:cs typeface="Times New Roman"/>
            </a:endParaRPr>
          </a:p>
        </p:txBody>
      </p:sp>
      <p:pic>
        <p:nvPicPr>
          <p:cNvPr id="15" name="Picture 14">
            <a:extLst>
              <a:ext uri="{FF2B5EF4-FFF2-40B4-BE49-F238E27FC236}">
                <a16:creationId xmlns:a16="http://schemas.microsoft.com/office/drawing/2014/main" id="{57C17F9B-D269-7E8A-294E-8E97B7523B9E}"/>
              </a:ext>
            </a:extLst>
          </p:cNvPr>
          <p:cNvPicPr>
            <a:picLocks noChangeAspect="1"/>
          </p:cNvPicPr>
          <p:nvPr/>
        </p:nvPicPr>
        <p:blipFill>
          <a:blip r:embed="rId4"/>
          <a:stretch>
            <a:fillRect/>
          </a:stretch>
        </p:blipFill>
        <p:spPr>
          <a:xfrm>
            <a:off x="3109" y="6159218"/>
            <a:ext cx="739389" cy="647756"/>
          </a:xfrm>
          <a:prstGeom prst="rect">
            <a:avLst/>
          </a:prstGeom>
        </p:spPr>
      </p:pic>
    </p:spTree>
    <p:extLst>
      <p:ext uri="{BB962C8B-B14F-4D97-AF65-F5344CB8AC3E}">
        <p14:creationId xmlns:p14="http://schemas.microsoft.com/office/powerpoint/2010/main" val="20631435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26720" y="429769"/>
            <a:ext cx="11338560" cy="566928"/>
          </a:xfrm>
          <a:prstGeom prst="rect">
            <a:avLst/>
          </a:prstGeom>
          <a:noFill/>
          <a:ln/>
        </p:spPr>
        <p:txBody>
          <a:bodyPr wrap="square" lIns="0" tIns="0" rIns="0" bIns="0" rtlCol="0" anchor="ctr"/>
          <a:lstStyle/>
          <a:p>
            <a:pPr marL="0" indent="0">
              <a:buNone/>
            </a:pPr>
            <a:r>
              <a:rPr lang="en-US" sz="4000" b="1" dirty="0">
                <a:solidFill>
                  <a:srgbClr val="17324F"/>
                </a:solidFill>
                <a:latin typeface="Times New Roman"/>
                <a:ea typeface="Times New Roman"/>
                <a:cs typeface="Times New Roman"/>
              </a:rPr>
              <a:t>7.  Communication to External Stakeholders (PO(j))</a:t>
            </a:r>
            <a:endParaRPr lang="en-US" sz="40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27</a:t>
            </a:r>
            <a:endParaRPr lang="en-US" sz="1100" dirty="0">
              <a:latin typeface="Times New Roman"/>
              <a:ea typeface="Times New Roman"/>
              <a:cs typeface="Times New Roman"/>
            </a:endParaRPr>
          </a:p>
        </p:txBody>
      </p:sp>
      <p:sp>
        <p:nvSpPr>
          <p:cNvPr id="8" name="Shape 6"/>
          <p:cNvSpPr/>
          <p:nvPr/>
        </p:nvSpPr>
        <p:spPr>
          <a:xfrm>
            <a:off x="548640" y="1371600"/>
            <a:ext cx="11109960" cy="1691640"/>
          </a:xfrm>
          <a:prstGeom prst="roundRect">
            <a:avLst>
              <a:gd name="adj" fmla="val 2703"/>
            </a:avLst>
          </a:prstGeom>
          <a:solidFill>
            <a:srgbClr val="F2F5F9"/>
          </a:solidFill>
          <a:ln w="9525">
            <a:solidFill>
              <a:srgbClr val="C3CCD6"/>
            </a:solidFill>
            <a:prstDash val="solid"/>
          </a:ln>
        </p:spPr>
      </p:sp>
      <p:sp>
        <p:nvSpPr>
          <p:cNvPr id="9" name="Text 7"/>
          <p:cNvSpPr txBox="1"/>
          <p:nvPr/>
        </p:nvSpPr>
        <p:spPr>
          <a:xfrm>
            <a:off x="777240" y="1536192"/>
            <a:ext cx="10652760" cy="1417320"/>
          </a:xfrm>
          <a:prstGeom prst="rect">
            <a:avLst/>
          </a:prstGeom>
          <a:noFill/>
          <a:ln/>
        </p:spPr>
        <p:txBody>
          <a:bodyPr wrap="square" lIns="0" tIns="0" rIns="0" bIns="0" rtlCol="0" anchor="t"/>
          <a:lstStyle/>
          <a:p>
            <a:pPr marL="0" indent="0">
              <a:buNone/>
            </a:pPr>
            <a:r>
              <a:rPr lang="en-US" b="1" dirty="0">
                <a:solidFill>
                  <a:srgbClr val="1F3B63"/>
                </a:solidFill>
                <a:latin typeface="Times New Roman"/>
                <a:ea typeface="Times New Roman"/>
                <a:cs typeface="Times New Roman"/>
              </a:rPr>
              <a:t>Executive summary   </a:t>
            </a:r>
            <a:r>
              <a:rPr lang="en-US" sz="1600" dirty="0">
                <a:solidFill>
                  <a:srgbClr val="17324F"/>
                </a:solidFill>
                <a:latin typeface="Times New Roman"/>
                <a:ea typeface="Times New Roman"/>
                <a:cs typeface="Times New Roman"/>
              </a:rPr>
              <a:t>Students at BUET have built a working communication link that sends sound on a beam of light. Music played on a mobile phone is converted into rapid variations in the brightness of a small red laser; across the room, a light sensor picks up those variations and a loudspeaker turns them back into sound. The link carries speech and music clearly over about ten metres, uses no radio waves at all, and costs under fifteen hundred taka to build from parts available in any local electronics market. Because light does not pass through walls, the signal stays in the room it was sent in.</a:t>
            </a:r>
            <a:endParaRPr lang="en-US" dirty="0">
              <a:latin typeface="Times New Roman"/>
              <a:ea typeface="Times New Roman"/>
              <a:cs typeface="Times New Roman"/>
            </a:endParaRPr>
          </a:p>
        </p:txBody>
      </p:sp>
      <p:sp>
        <p:nvSpPr>
          <p:cNvPr id="10" name="Text 8"/>
          <p:cNvSpPr txBox="1"/>
          <p:nvPr/>
        </p:nvSpPr>
        <p:spPr>
          <a:xfrm>
            <a:off x="548640" y="3337560"/>
            <a:ext cx="5486400" cy="365760"/>
          </a:xfrm>
          <a:prstGeom prst="rect">
            <a:avLst/>
          </a:prstGeom>
          <a:noFill/>
          <a:ln/>
        </p:spPr>
        <p:txBody>
          <a:bodyPr wrap="square" lIns="0" tIns="0" rIns="0" bIns="0" rtlCol="0" anchor="ctr"/>
          <a:lstStyle/>
          <a:p>
            <a:pPr marL="0" indent="0">
              <a:buNone/>
            </a:pPr>
            <a:r>
              <a:rPr lang="en-US" b="1" dirty="0">
                <a:solidFill>
                  <a:srgbClr val="1F3B63"/>
                </a:solidFill>
                <a:latin typeface="Times New Roman"/>
                <a:ea typeface="Times New Roman"/>
                <a:cs typeface="Times New Roman"/>
              </a:rPr>
              <a:t>Demonstration video</a:t>
            </a:r>
            <a:endParaRPr lang="en-US" dirty="0">
              <a:latin typeface="Times New Roman"/>
              <a:ea typeface="Times New Roman"/>
              <a:cs typeface="Times New Roman"/>
            </a:endParaRPr>
          </a:p>
        </p:txBody>
      </p:sp>
      <p:sp>
        <p:nvSpPr>
          <p:cNvPr id="11" name="Text 9">
            <a:hlinkClick r:id="rId3"/>
          </p:cNvPr>
          <p:cNvSpPr txBox="1"/>
          <p:nvPr/>
        </p:nvSpPr>
        <p:spPr>
          <a:xfrm>
            <a:off x="548640" y="3703320"/>
            <a:ext cx="6858000" cy="365760"/>
          </a:xfrm>
          <a:prstGeom prst="rect">
            <a:avLst/>
          </a:prstGeom>
          <a:noFill/>
          <a:ln/>
        </p:spPr>
        <p:txBody>
          <a:bodyPr wrap="square" lIns="0" tIns="0" rIns="0" bIns="0" rtlCol="0" anchor="ctr"/>
          <a:lstStyle/>
          <a:p>
            <a:pPr marL="0" indent="0">
              <a:buNone/>
            </a:pPr>
            <a:r>
              <a:rPr lang="en-US" sz="1600" u="sng" dirty="0">
                <a:solidFill>
                  <a:srgbClr val="0563C1"/>
                </a:solidFill>
                <a:latin typeface="Times New Roman"/>
                <a:ea typeface="Times New Roman"/>
                <a:cs typeface="Times New Roman"/>
                <a:hlinkClick r:id="rId3">
                  <a:extLst>
                    <a:ext uri="{A12FA001-AC4F-418D-AE19-62706E023703}">
                      <ahyp:hlinkClr xmlns:ahyp="http://schemas.microsoft.com/office/drawing/2018/hyperlinkcolor" val="tx"/>
                    </a:ext>
                  </a:extLst>
                </a:hlinkClick>
              </a:rPr>
              <a:t>https://youtu.be/T3q3XpJ2jnU</a:t>
            </a:r>
            <a:endParaRPr lang="en-US" sz="1600" dirty="0">
              <a:latin typeface="Times New Roman"/>
              <a:ea typeface="Times New Roman"/>
              <a:cs typeface="Times New Roman"/>
            </a:endParaRPr>
          </a:p>
        </p:txBody>
      </p:sp>
      <p:sp>
        <p:nvSpPr>
          <p:cNvPr id="12" name="Text 10"/>
          <p:cNvSpPr txBox="1"/>
          <p:nvPr/>
        </p:nvSpPr>
        <p:spPr>
          <a:xfrm>
            <a:off x="548640" y="4160520"/>
            <a:ext cx="6858000" cy="731520"/>
          </a:xfrm>
          <a:prstGeom prst="rect">
            <a:avLst/>
          </a:prstGeom>
          <a:noFill/>
          <a:ln/>
        </p:spPr>
        <p:txBody>
          <a:bodyPr wrap="square" lIns="0" tIns="0" rIns="0" bIns="0" rtlCol="0" anchor="ctr"/>
          <a:lstStyle/>
          <a:p>
            <a:pPr marL="0" indent="0">
              <a:buNone/>
            </a:pPr>
            <a:r>
              <a:rPr lang="en-US" sz="1400" dirty="0">
                <a:solidFill>
                  <a:srgbClr val="4A5A6B"/>
                </a:solidFill>
                <a:latin typeface="Times New Roman"/>
                <a:ea typeface="Times New Roman"/>
                <a:cs typeface="Times New Roman"/>
              </a:rPr>
              <a:t>GitHub: the project is implemented entirely in hardware and contains no firmware, so no software repository is associated with it. The PSpice file and measurement data are available on request.</a:t>
            </a:r>
            <a:endParaRPr lang="en-US" sz="1400" dirty="0">
              <a:latin typeface="Times New Roman"/>
              <a:ea typeface="Times New Roman"/>
              <a:cs typeface="Times New Roman"/>
            </a:endParaRPr>
          </a:p>
        </p:txBody>
      </p:sp>
      <p:sp>
        <p:nvSpPr>
          <p:cNvPr id="13" name="Text 11"/>
          <p:cNvSpPr txBox="1"/>
          <p:nvPr/>
        </p:nvSpPr>
        <p:spPr>
          <a:xfrm>
            <a:off x="7589520" y="3337560"/>
            <a:ext cx="4114800" cy="365760"/>
          </a:xfrm>
          <a:prstGeom prst="rect">
            <a:avLst/>
          </a:prstGeom>
          <a:noFill/>
          <a:ln/>
        </p:spPr>
        <p:txBody>
          <a:bodyPr wrap="square" lIns="0" tIns="0" rIns="0" bIns="0" rtlCol="0" anchor="ctr"/>
          <a:lstStyle/>
          <a:p>
            <a:pPr marL="0" indent="0">
              <a:buNone/>
            </a:pPr>
            <a:r>
              <a:rPr lang="en-US" b="1" dirty="0">
                <a:solidFill>
                  <a:srgbClr val="1F3B63"/>
                </a:solidFill>
                <a:latin typeface="Times New Roman"/>
                <a:ea typeface="Times New Roman"/>
                <a:cs typeface="Times New Roman"/>
              </a:rPr>
              <a:t>User manual — six steps</a:t>
            </a:r>
            <a:endParaRPr lang="en-US" dirty="0">
              <a:latin typeface="Times New Roman"/>
              <a:ea typeface="Times New Roman"/>
              <a:cs typeface="Times New Roman"/>
            </a:endParaRPr>
          </a:p>
        </p:txBody>
      </p:sp>
      <p:sp>
        <p:nvSpPr>
          <p:cNvPr id="14" name="Text 12"/>
          <p:cNvSpPr txBox="1"/>
          <p:nvPr/>
        </p:nvSpPr>
        <p:spPr>
          <a:xfrm>
            <a:off x="7589520" y="3703320"/>
            <a:ext cx="4114800" cy="219456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200" dirty="0">
                <a:solidFill>
                  <a:srgbClr val="17324F"/>
                </a:solidFill>
                <a:latin typeface="Times New Roman"/>
                <a:ea typeface="Times New Roman"/>
                <a:cs typeface="Times New Roman"/>
              </a:rPr>
              <a:t>Power both boards from separate 9 V supplies.</a:t>
            </a:r>
            <a:endParaRPr lang="en-US" sz="1200" dirty="0">
              <a:latin typeface="Times New Roman"/>
              <a:ea typeface="Times New Roman"/>
              <a:cs typeface="Times New Roman"/>
            </a:endParaRPr>
          </a:p>
          <a:p>
            <a:pPr marL="342900" indent="-342900">
              <a:spcAft>
                <a:spcPts val="500"/>
              </a:spcAft>
              <a:buSzPct val="100000"/>
              <a:buFont typeface="+mj-lt"/>
              <a:buAutoNum type="arabicPeriod"/>
            </a:pPr>
            <a:r>
              <a:rPr lang="en-US" sz="1200" dirty="0">
                <a:solidFill>
                  <a:srgbClr val="17324F"/>
                </a:solidFill>
                <a:latin typeface="Times New Roman"/>
                <a:ea typeface="Times New Roman"/>
                <a:cs typeface="Times New Roman"/>
              </a:rPr>
              <a:t>Check the laser spot — never look into the beam.</a:t>
            </a:r>
            <a:endParaRPr lang="en-US" sz="1200" dirty="0">
              <a:latin typeface="Times New Roman"/>
              <a:ea typeface="Times New Roman"/>
              <a:cs typeface="Times New Roman"/>
            </a:endParaRPr>
          </a:p>
          <a:p>
            <a:pPr marL="342900" indent="-342900">
              <a:spcAft>
                <a:spcPts val="500"/>
              </a:spcAft>
              <a:buSzPct val="100000"/>
              <a:buFont typeface="+mj-lt"/>
              <a:buAutoNum type="arabicPeriod"/>
            </a:pPr>
            <a:r>
              <a:rPr lang="en-US" sz="1200" dirty="0">
                <a:solidFill>
                  <a:srgbClr val="17324F"/>
                </a:solidFill>
                <a:latin typeface="Times New Roman"/>
                <a:ea typeface="Times New Roman"/>
                <a:cs typeface="Times New Roman"/>
              </a:rPr>
              <a:t>Align the spot at the centre of the photodiode.</a:t>
            </a:r>
            <a:endParaRPr lang="en-US" sz="1200" dirty="0">
              <a:latin typeface="Times New Roman"/>
              <a:ea typeface="Times New Roman"/>
              <a:cs typeface="Times New Roman"/>
            </a:endParaRPr>
          </a:p>
          <a:p>
            <a:pPr marL="342900" indent="-342900">
              <a:spcAft>
                <a:spcPts val="500"/>
              </a:spcAft>
              <a:buSzPct val="100000"/>
              <a:buFont typeface="+mj-lt"/>
              <a:buAutoNum type="arabicPeriod"/>
            </a:pPr>
            <a:r>
              <a:rPr lang="en-US" sz="1200" dirty="0">
                <a:solidFill>
                  <a:srgbClr val="17324F"/>
                </a:solidFill>
                <a:latin typeface="Times New Roman"/>
                <a:ea typeface="Times New Roman"/>
                <a:cs typeface="Times New Roman"/>
              </a:rPr>
              <a:t>Connect the phone or laptop to the 3.5 mm socket.</a:t>
            </a:r>
            <a:endParaRPr lang="en-US" sz="1200" dirty="0">
              <a:latin typeface="Times New Roman"/>
              <a:ea typeface="Times New Roman"/>
              <a:cs typeface="Times New Roman"/>
            </a:endParaRPr>
          </a:p>
          <a:p>
            <a:pPr marL="342900" indent="-342900">
              <a:spcAft>
                <a:spcPts val="500"/>
              </a:spcAft>
              <a:buSzPct val="100000"/>
              <a:buFont typeface="+mj-lt"/>
              <a:buAutoNum type="arabicPeriod"/>
            </a:pPr>
            <a:r>
              <a:rPr lang="en-US" sz="1200" dirty="0">
                <a:solidFill>
                  <a:srgbClr val="17324F"/>
                </a:solidFill>
                <a:latin typeface="Times New Roman"/>
                <a:ea typeface="Times New Roman"/>
                <a:cs typeface="Times New Roman"/>
              </a:rPr>
              <a:t>Set the source to about one third volume and play.</a:t>
            </a:r>
            <a:endParaRPr lang="en-US" sz="1200" dirty="0">
              <a:latin typeface="Times New Roman"/>
              <a:ea typeface="Times New Roman"/>
              <a:cs typeface="Times New Roman"/>
            </a:endParaRPr>
          </a:p>
          <a:p>
            <a:pPr marL="342900" indent="-342900">
              <a:spcAft>
                <a:spcPts val="500"/>
              </a:spcAft>
              <a:buSzPct val="100000"/>
              <a:buFont typeface="+mj-lt"/>
              <a:buAutoNum type="arabicPeriod"/>
            </a:pPr>
            <a:r>
              <a:rPr lang="en-US" sz="1200" dirty="0">
                <a:solidFill>
                  <a:srgbClr val="17324F"/>
                </a:solidFill>
                <a:latin typeface="Times New Roman"/>
                <a:ea typeface="Times New Roman"/>
                <a:cs typeface="Times New Roman"/>
              </a:rPr>
              <a:t>Dim the room lights and shroud the detector for best results.</a:t>
            </a:r>
            <a:endParaRPr lang="en-US" sz="1200" dirty="0">
              <a:latin typeface="Times New Roman"/>
              <a:ea typeface="Times New Roman"/>
              <a:cs typeface="Times New Roman"/>
            </a:endParaRPr>
          </a:p>
        </p:txBody>
      </p:sp>
      <p:sp>
        <p:nvSpPr>
          <p:cNvPr id="15" name="Shape 1">
            <a:extLst>
              <a:ext uri="{FF2B5EF4-FFF2-40B4-BE49-F238E27FC236}">
                <a16:creationId xmlns:a16="http://schemas.microsoft.com/office/drawing/2014/main" id="{94F63E7E-03B7-DCE7-5651-98D108FCC05B}"/>
              </a:ext>
            </a:extLst>
          </p:cNvPr>
          <p:cNvSpPr/>
          <p:nvPr/>
        </p:nvSpPr>
        <p:spPr>
          <a:xfrm>
            <a:off x="0" y="6108192"/>
            <a:ext cx="12192000" cy="749808"/>
          </a:xfrm>
          <a:prstGeom prst="rect">
            <a:avLst/>
          </a:prstGeom>
          <a:solidFill>
            <a:srgbClr val="C00000"/>
          </a:solidFill>
          <a:ln/>
        </p:spPr>
      </p:sp>
      <p:sp>
        <p:nvSpPr>
          <p:cNvPr id="16" name="Text 2">
            <a:extLst>
              <a:ext uri="{FF2B5EF4-FFF2-40B4-BE49-F238E27FC236}">
                <a16:creationId xmlns:a16="http://schemas.microsoft.com/office/drawing/2014/main" id="{C09C528A-4CF4-0637-AB7F-5053FE4DE0E3}"/>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7" name="Text 3">
            <a:extLst>
              <a:ext uri="{FF2B5EF4-FFF2-40B4-BE49-F238E27FC236}">
                <a16:creationId xmlns:a16="http://schemas.microsoft.com/office/drawing/2014/main" id="{944C796B-D723-1EF6-FF6F-13EA2BE57D14}"/>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8" name="Text 4">
            <a:extLst>
              <a:ext uri="{FF2B5EF4-FFF2-40B4-BE49-F238E27FC236}">
                <a16:creationId xmlns:a16="http://schemas.microsoft.com/office/drawing/2014/main" id="{087ACAB2-9225-A8F5-9AC6-974C7F2CAF1D}"/>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2206120</a:t>
            </a:r>
            <a:endParaRPr lang="en-US" sz="1600" dirty="0">
              <a:latin typeface="Times New Roman"/>
              <a:ea typeface="Times New Roman"/>
              <a:cs typeface="Times New Roman"/>
            </a:endParaRPr>
          </a:p>
        </p:txBody>
      </p:sp>
      <p:sp>
        <p:nvSpPr>
          <p:cNvPr id="19" name="Text 5">
            <a:extLst>
              <a:ext uri="{FF2B5EF4-FFF2-40B4-BE49-F238E27FC236}">
                <a16:creationId xmlns:a16="http://schemas.microsoft.com/office/drawing/2014/main" id="{28225A04-0E28-BB8C-C600-D0DC29A8A941}"/>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27</a:t>
            </a:r>
            <a:endParaRPr lang="en-US" sz="1600" dirty="0">
              <a:latin typeface="Times New Roman"/>
              <a:ea typeface="Times New Roman"/>
              <a:cs typeface="Times New Roman"/>
            </a:endParaRPr>
          </a:p>
        </p:txBody>
      </p:sp>
      <p:pic>
        <p:nvPicPr>
          <p:cNvPr id="20" name="Picture 19">
            <a:extLst>
              <a:ext uri="{FF2B5EF4-FFF2-40B4-BE49-F238E27FC236}">
                <a16:creationId xmlns:a16="http://schemas.microsoft.com/office/drawing/2014/main" id="{E5D95683-2DDF-6853-2E4F-120893FC6DF1}"/>
              </a:ext>
            </a:extLst>
          </p:cNvPr>
          <p:cNvPicPr>
            <a:picLocks noChangeAspect="1"/>
          </p:cNvPicPr>
          <p:nvPr/>
        </p:nvPicPr>
        <p:blipFill>
          <a:blip r:embed="rId4"/>
          <a:stretch>
            <a:fillRect/>
          </a:stretch>
        </p:blipFill>
        <p:spPr>
          <a:xfrm>
            <a:off x="3109" y="6159218"/>
            <a:ext cx="739389" cy="647756"/>
          </a:xfrm>
          <a:prstGeom prst="rect">
            <a:avLst/>
          </a:prstGeom>
        </p:spPr>
      </p:pic>
    </p:spTree>
    <p:extLst>
      <p:ext uri="{BB962C8B-B14F-4D97-AF65-F5344CB8AC3E}">
        <p14:creationId xmlns:p14="http://schemas.microsoft.com/office/powerpoint/2010/main" val="3656135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56032"/>
            <a:ext cx="11338560" cy="566928"/>
          </a:xfrm>
          <a:prstGeom prst="rect">
            <a:avLst/>
          </a:prstGeom>
          <a:noFill/>
          <a:ln/>
        </p:spPr>
        <p:txBody>
          <a:bodyPr wrap="square" lIns="0" tIns="0" rIns="0" bIns="0" rtlCol="0" anchor="ctr"/>
          <a:lstStyle/>
          <a:p>
            <a:pPr marL="0" indent="0">
              <a:buNone/>
            </a:pPr>
            <a:r>
              <a:rPr lang="en-US" sz="4000" b="1" dirty="0">
                <a:solidFill>
                  <a:srgbClr val="17324F"/>
                </a:solidFill>
                <a:latin typeface="Times New Roman"/>
                <a:ea typeface="Times New Roman"/>
                <a:cs typeface="Times New Roman"/>
              </a:rPr>
              <a:t>8.  Project Management and Cost Analysis (PO(k))</a:t>
            </a:r>
            <a:endParaRPr lang="en-US" sz="40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28</a:t>
            </a:r>
            <a:endParaRPr lang="en-US" sz="1100" dirty="0">
              <a:latin typeface="Times New Roman"/>
              <a:ea typeface="Times New Roman"/>
              <a:cs typeface="Times New Roman"/>
            </a:endParaRPr>
          </a:p>
        </p:txBody>
      </p:sp>
      <p:graphicFrame>
        <p:nvGraphicFramePr>
          <p:cNvPr id="29" name="Table 0"/>
          <p:cNvGraphicFramePr>
            <a:graphicFrameLocks noGrp="1"/>
          </p:cNvGraphicFramePr>
          <p:nvPr>
            <p:extLst>
              <p:ext uri="{D42A27DB-BD31-4B8C-83A1-F6EECF244321}">
                <p14:modId xmlns:p14="http://schemas.microsoft.com/office/powerpoint/2010/main" val="2036673085"/>
              </p:ext>
            </p:extLst>
          </p:nvPr>
        </p:nvGraphicFramePr>
        <p:xfrm>
          <a:off x="502920" y="1206500"/>
          <a:ext cx="6400800" cy="4160520"/>
        </p:xfrm>
        <a:graphic>
          <a:graphicData uri="http://schemas.openxmlformats.org/drawingml/2006/table">
            <a:tbl>
              <a:tblPr/>
              <a:tblGrid>
                <a:gridCol w="45720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65760">
                <a:tc>
                  <a:txBody>
                    <a:bodyPr/>
                    <a:lstStyle/>
                    <a:p>
                      <a:pPr marL="0" indent="0" algn="ctr">
                        <a:buNone/>
                      </a:pPr>
                      <a:r>
                        <a:rPr lang="en-US" sz="1800" b="1" dirty="0">
                          <a:solidFill>
                            <a:srgbClr val="FFFFFF"/>
                          </a:solidFill>
                          <a:latin typeface="Times New Roman"/>
                          <a:ea typeface="Times New Roman"/>
                          <a:cs typeface="Times New Roman"/>
                        </a:rPr>
                        <a:t>Component</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r">
                        <a:buNone/>
                      </a:pPr>
                      <a:r>
                        <a:rPr lang="en-US" sz="1800" b="1" dirty="0">
                          <a:solidFill>
                            <a:srgbClr val="FFFFFF"/>
                          </a:solidFill>
                          <a:latin typeface="Times New Roman"/>
                          <a:ea typeface="Times New Roman"/>
                          <a:cs typeface="Times New Roman"/>
                        </a:rPr>
                        <a:t>Qty</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r">
                        <a:buNone/>
                      </a:pPr>
                      <a:r>
                        <a:rPr lang="en-US" sz="1800" b="1" dirty="0">
                          <a:solidFill>
                            <a:srgbClr val="FFFFFF"/>
                          </a:solidFill>
                          <a:latin typeface="Times New Roman"/>
                          <a:ea typeface="Times New Roman"/>
                          <a:cs typeface="Times New Roman"/>
                        </a:rPr>
                        <a:t>Total (BDT)</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65760">
                <a:tc>
                  <a:txBody>
                    <a:bodyPr/>
                    <a:lstStyle/>
                    <a:p>
                      <a:pPr marL="0" indent="0" algn="l">
                        <a:buNone/>
                      </a:pPr>
                      <a:r>
                        <a:rPr lang="en-US" sz="1800" dirty="0">
                          <a:solidFill>
                            <a:srgbClr val="17324F"/>
                          </a:solidFill>
                          <a:latin typeface="Times New Roman"/>
                          <a:ea typeface="Times New Roman"/>
                          <a:cs typeface="Times New Roman"/>
                        </a:rPr>
                        <a:t>TL072 / LM358 / LM386 op-amps</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800" dirty="0">
                          <a:solidFill>
                            <a:srgbClr val="17324F"/>
                          </a:solidFill>
                          <a:latin typeface="Times New Roman"/>
                          <a:ea typeface="Times New Roman"/>
                          <a:cs typeface="Times New Roman"/>
                        </a:rPr>
                        <a:t>4</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800" dirty="0">
                          <a:solidFill>
                            <a:srgbClr val="17324F"/>
                          </a:solidFill>
                          <a:latin typeface="Times New Roman"/>
                          <a:ea typeface="Times New Roman"/>
                          <a:cs typeface="Times New Roman"/>
                        </a:rPr>
                        <a:t>85</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800" dirty="0">
                          <a:solidFill>
                            <a:srgbClr val="17324F"/>
                          </a:solidFill>
                          <a:latin typeface="Times New Roman"/>
                          <a:ea typeface="Times New Roman"/>
                          <a:cs typeface="Times New Roman"/>
                        </a:rPr>
                        <a:t>BD135, BPW34, laser module</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800" dirty="0">
                          <a:solidFill>
                            <a:srgbClr val="17324F"/>
                          </a:solidFill>
                          <a:latin typeface="Times New Roman"/>
                          <a:ea typeface="Times New Roman"/>
                          <a:cs typeface="Times New Roman"/>
                        </a:rPr>
                        <a:t>3</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800" dirty="0">
                          <a:solidFill>
                            <a:srgbClr val="17324F"/>
                          </a:solidFill>
                          <a:latin typeface="Times New Roman"/>
                          <a:ea typeface="Times New Roman"/>
                          <a:cs typeface="Times New Roman"/>
                        </a:rPr>
                        <a:t>105</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2"/>
                  </a:ext>
                </a:extLst>
              </a:tr>
              <a:tr h="365760">
                <a:tc>
                  <a:txBody>
                    <a:bodyPr/>
                    <a:lstStyle/>
                    <a:p>
                      <a:pPr marL="0" indent="0" algn="l">
                        <a:buNone/>
                      </a:pPr>
                      <a:r>
                        <a:rPr lang="en-US" sz="1800" dirty="0">
                          <a:solidFill>
                            <a:srgbClr val="17324F"/>
                          </a:solidFill>
                          <a:latin typeface="Times New Roman"/>
                          <a:ea typeface="Times New Roman"/>
                          <a:cs typeface="Times New Roman"/>
                        </a:rPr>
                        <a:t>Resistors, capacitors, potentiometer</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800" dirty="0">
                          <a:solidFill>
                            <a:srgbClr val="17324F"/>
                          </a:solidFill>
                          <a:latin typeface="Times New Roman"/>
                          <a:ea typeface="Times New Roman"/>
                          <a:cs typeface="Times New Roman"/>
                        </a:rPr>
                        <a:t>64</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800" dirty="0">
                          <a:solidFill>
                            <a:srgbClr val="17324F"/>
                          </a:solidFill>
                          <a:latin typeface="Times New Roman"/>
                          <a:ea typeface="Times New Roman"/>
                          <a:cs typeface="Times New Roman"/>
                        </a:rPr>
                        <a:t>155</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800" dirty="0">
                          <a:solidFill>
                            <a:srgbClr val="17324F"/>
                          </a:solidFill>
                          <a:latin typeface="Times New Roman"/>
                          <a:ea typeface="Times New Roman"/>
                          <a:cs typeface="Times New Roman"/>
                        </a:rPr>
                        <a:t>Speaker, microphone, jack and cable</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800" dirty="0">
                          <a:solidFill>
                            <a:srgbClr val="17324F"/>
                          </a:solidFill>
                          <a:latin typeface="Times New Roman"/>
                          <a:ea typeface="Times New Roman"/>
                          <a:cs typeface="Times New Roman"/>
                        </a:rPr>
                        <a:t>4</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800" dirty="0">
                          <a:solidFill>
                            <a:srgbClr val="17324F"/>
                          </a:solidFill>
                          <a:latin typeface="Times New Roman"/>
                          <a:ea typeface="Times New Roman"/>
                          <a:cs typeface="Times New Roman"/>
                        </a:rPr>
                        <a:t>145</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4"/>
                  </a:ext>
                </a:extLst>
              </a:tr>
              <a:tr h="365760">
                <a:tc>
                  <a:txBody>
                    <a:bodyPr/>
                    <a:lstStyle/>
                    <a:p>
                      <a:pPr marL="0" indent="0" algn="l">
                        <a:buNone/>
                      </a:pPr>
                      <a:r>
                        <a:rPr lang="en-US" sz="1800" dirty="0">
                          <a:solidFill>
                            <a:srgbClr val="17324F"/>
                          </a:solidFill>
                          <a:latin typeface="Times New Roman"/>
                          <a:ea typeface="Times New Roman"/>
                          <a:cs typeface="Times New Roman"/>
                        </a:rPr>
                        <a:t>Breadboards and jumper wire</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800" dirty="0">
                          <a:solidFill>
                            <a:srgbClr val="17324F"/>
                          </a:solidFill>
                          <a:latin typeface="Times New Roman"/>
                          <a:ea typeface="Times New Roman"/>
                          <a:cs typeface="Times New Roman"/>
                        </a:rPr>
                        <a:t>3</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800" dirty="0">
                          <a:solidFill>
                            <a:srgbClr val="17324F"/>
                          </a:solidFill>
                          <a:latin typeface="Times New Roman"/>
                          <a:ea typeface="Times New Roman"/>
                          <a:cs typeface="Times New Roman"/>
                        </a:rPr>
                        <a:t>390</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800" dirty="0">
                          <a:solidFill>
                            <a:srgbClr val="17324F"/>
                          </a:solidFill>
                          <a:latin typeface="Times New Roman"/>
                          <a:ea typeface="Times New Roman"/>
                          <a:cs typeface="Times New Roman"/>
                        </a:rPr>
                        <a:t>Bench power supply (transformer, LM317, 7809, diodes, LEDs)</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800" dirty="0">
                          <a:solidFill>
                            <a:srgbClr val="17324F"/>
                          </a:solidFill>
                          <a:latin typeface="Times New Roman"/>
                          <a:ea typeface="Times New Roman"/>
                          <a:cs typeface="Times New Roman"/>
                        </a:rPr>
                        <a:t>10</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800" dirty="0">
                          <a:solidFill>
                            <a:srgbClr val="17324F"/>
                          </a:solidFill>
                          <a:latin typeface="Times New Roman"/>
                          <a:ea typeface="Times New Roman"/>
                          <a:cs typeface="Times New Roman"/>
                        </a:rPr>
                        <a:t>211</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6"/>
                  </a:ext>
                </a:extLst>
              </a:tr>
              <a:tr h="365760">
                <a:tc>
                  <a:txBody>
                    <a:bodyPr/>
                    <a:lstStyle/>
                    <a:p>
                      <a:pPr marL="0" indent="0" algn="l">
                        <a:buNone/>
                      </a:pPr>
                      <a:r>
                        <a:rPr lang="en-US" sz="1800" dirty="0">
                          <a:solidFill>
                            <a:srgbClr val="17324F"/>
                          </a:solidFill>
                          <a:latin typeface="Times New Roman"/>
                          <a:ea typeface="Times New Roman"/>
                          <a:cs typeface="Times New Roman"/>
                        </a:rPr>
                        <a:t>9 V batteries with snaps</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800" dirty="0">
                          <a:solidFill>
                            <a:srgbClr val="17324F"/>
                          </a:solidFill>
                          <a:latin typeface="Times New Roman"/>
                          <a:ea typeface="Times New Roman"/>
                          <a:cs typeface="Times New Roman"/>
                        </a:rPr>
                        <a:t>2</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800" dirty="0">
                          <a:solidFill>
                            <a:srgbClr val="17324F"/>
                          </a:solidFill>
                          <a:latin typeface="Times New Roman"/>
                          <a:ea typeface="Times New Roman"/>
                          <a:cs typeface="Times New Roman"/>
                        </a:rPr>
                        <a:t>80</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800" b="1" dirty="0">
                          <a:solidFill>
                            <a:srgbClr val="17324F"/>
                          </a:solidFill>
                          <a:latin typeface="Times New Roman"/>
                          <a:ea typeface="Times New Roman"/>
                          <a:cs typeface="Times New Roman"/>
                        </a:rPr>
                        <a:t>Total prototype cost</a:t>
                      </a:r>
                      <a:endParaRPr lang="en-US" sz="18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800" b="1" dirty="0">
                          <a:solidFill>
                            <a:srgbClr val="17324F"/>
                          </a:solidFill>
                          <a:latin typeface="Times New Roman"/>
                          <a:ea typeface="Times New Roman"/>
                          <a:cs typeface="Times New Roman"/>
                        </a:rPr>
                        <a:t>1171</a:t>
                      </a:r>
                      <a:endParaRPr lang="en-US" sz="18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8"/>
                  </a:ext>
                </a:extLst>
              </a:tr>
            </a:tbl>
          </a:graphicData>
        </a:graphic>
      </p:graphicFrame>
      <p:graphicFrame>
        <p:nvGraphicFramePr>
          <p:cNvPr id="57" name="Table 1"/>
          <p:cNvGraphicFramePr>
            <a:graphicFrameLocks noGrp="1"/>
          </p:cNvGraphicFramePr>
          <p:nvPr>
            <p:extLst>
              <p:ext uri="{D42A27DB-BD31-4B8C-83A1-F6EECF244321}">
                <p14:modId xmlns:p14="http://schemas.microsoft.com/office/powerpoint/2010/main" val="1037892927"/>
              </p:ext>
            </p:extLst>
          </p:nvPr>
        </p:nvGraphicFramePr>
        <p:xfrm>
          <a:off x="7315200" y="1206500"/>
          <a:ext cx="4389120" cy="4554220"/>
        </p:xfrm>
        <a:graphic>
          <a:graphicData uri="http://schemas.openxmlformats.org/drawingml/2006/table">
            <a:tbl>
              <a:tblPr/>
              <a:tblGrid>
                <a:gridCol w="3108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365760">
                <a:tc>
                  <a:txBody>
                    <a:bodyPr/>
                    <a:lstStyle/>
                    <a:p>
                      <a:pPr marL="0" indent="0" algn="ctr">
                        <a:buNone/>
                      </a:pPr>
                      <a:r>
                        <a:rPr lang="en-US" sz="1600" b="1" dirty="0">
                          <a:solidFill>
                            <a:srgbClr val="FFFFFF"/>
                          </a:solidFill>
                          <a:latin typeface="Times New Roman"/>
                          <a:ea typeface="Times New Roman"/>
                          <a:cs typeface="Times New Roman"/>
                        </a:rPr>
                        <a:t>Cost analysis</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r">
                        <a:buNone/>
                      </a:pPr>
                      <a:r>
                        <a:rPr lang="en-US" sz="1600" b="1" dirty="0">
                          <a:solidFill>
                            <a:srgbClr val="FFFFFF"/>
                          </a:solidFill>
                          <a:latin typeface="Times New Roman"/>
                          <a:ea typeface="Times New Roman"/>
                          <a:cs typeface="Times New Roman"/>
                        </a:rPr>
                        <a:t>BDT</a:t>
                      </a:r>
                      <a:endParaRPr lang="en-US" sz="16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65760">
                <a:tc>
                  <a:txBody>
                    <a:bodyPr/>
                    <a:lstStyle/>
                    <a:p>
                      <a:pPr marL="0" indent="0" algn="l">
                        <a:buNone/>
                      </a:pPr>
                      <a:r>
                        <a:rPr lang="en-US" sz="1600" dirty="0">
                          <a:solidFill>
                            <a:srgbClr val="17324F"/>
                          </a:solidFill>
                          <a:latin typeface="Times New Roman"/>
                          <a:ea typeface="Times New Roman"/>
                          <a:cs typeface="Times New Roman"/>
                        </a:rPr>
                        <a:t>Components in the delivered prototype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7324F"/>
                          </a:solidFill>
                          <a:latin typeface="Times New Roman"/>
                          <a:ea typeface="Times New Roman"/>
                          <a:cs typeface="Times New Roman"/>
                        </a:rPr>
                        <a:t>1171</a:t>
                      </a:r>
                      <a:endParaRPr lang="en-US" sz="16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600" dirty="0">
                          <a:solidFill>
                            <a:srgbClr val="17324F"/>
                          </a:solidFill>
                          <a:latin typeface="Times New Roman"/>
                          <a:ea typeface="Times New Roman"/>
                          <a:cs typeface="Times New Roman"/>
                        </a:rPr>
                        <a:t>Components consumed during development</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600" dirty="0">
                          <a:solidFill>
                            <a:srgbClr val="17324F"/>
                          </a:solidFill>
                          <a:latin typeface="Times New Roman"/>
                          <a:ea typeface="Times New Roman"/>
                          <a:cs typeface="Times New Roman"/>
                        </a:rPr>
                        <a:t>170</a:t>
                      </a:r>
                      <a:endParaRPr lang="en-US" sz="16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2"/>
                  </a:ext>
                </a:extLst>
              </a:tr>
              <a:tr h="365760">
                <a:tc>
                  <a:txBody>
                    <a:bodyPr/>
                    <a:lstStyle/>
                    <a:p>
                      <a:pPr marL="0" indent="0" algn="l">
                        <a:buNone/>
                      </a:pPr>
                      <a:r>
                        <a:rPr lang="en-US" sz="1600" b="1" dirty="0">
                          <a:solidFill>
                            <a:srgbClr val="17324F"/>
                          </a:solidFill>
                          <a:latin typeface="Times New Roman"/>
                          <a:ea typeface="Times New Roman"/>
                          <a:cs typeface="Times New Roman"/>
                        </a:rPr>
                        <a:t>Total project expenditure</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7324F"/>
                          </a:solidFill>
                          <a:latin typeface="Times New Roman"/>
                          <a:ea typeface="Times New Roman"/>
                          <a:cs typeface="Times New Roman"/>
                        </a:rPr>
                        <a:t>1341</a:t>
                      </a:r>
                      <a:endParaRPr lang="en-US" sz="16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4300">
                <a:tc>
                  <a:txBody>
                    <a:bodyPr/>
                    <a:lstStyle/>
                    <a:p>
                      <a:pPr marL="0" indent="0" algn="l">
                        <a:buNone/>
                      </a:pPr>
                      <a:endParaRPr lang="en-US" sz="500" dirty="0">
                        <a:latin typeface="Times New Roman"/>
                        <a:ea typeface="Times New Roman"/>
                        <a:cs typeface="Times New Roman"/>
                      </a:endParaRPr>
                    </a:p>
                  </a:txBody>
                  <a:tcPr marL="63500" marR="63500" marT="0" marB="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endParaRPr lang="en-US" sz="500" dirty="0">
                        <a:latin typeface="Times New Roman"/>
                        <a:ea typeface="Times New Roman"/>
                        <a:cs typeface="Times New Roman"/>
                      </a:endParaRPr>
                    </a:p>
                  </a:txBody>
                  <a:tcPr marL="63500" marR="114300" marT="0" marB="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4"/>
                  </a:ext>
                </a:extLst>
              </a:tr>
              <a:tr h="365760">
                <a:tc>
                  <a:txBody>
                    <a:bodyPr/>
                    <a:lstStyle/>
                    <a:p>
                      <a:pPr marL="0" indent="0" algn="l">
                        <a:buNone/>
                      </a:pPr>
                      <a:r>
                        <a:rPr lang="en-US" sz="1600" b="1" dirty="0">
                          <a:solidFill>
                            <a:srgbClr val="17324F"/>
                          </a:solidFill>
                          <a:latin typeface="Times New Roman"/>
                          <a:ea typeface="Times New Roman"/>
                          <a:cs typeface="Times New Roman"/>
                        </a:rPr>
                        <a:t>Mass-produced unit at 1000 off:</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endParaRPr lang="en-US" sz="16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600" dirty="0">
                          <a:solidFill>
                            <a:srgbClr val="17324F"/>
                          </a:solidFill>
                          <a:latin typeface="Times New Roman"/>
                          <a:ea typeface="Times New Roman"/>
                          <a:cs typeface="Times New Roman"/>
                        </a:rPr>
                        <a:t>Bulk components (≈ 45 % discount)</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600" dirty="0">
                          <a:solidFill>
                            <a:srgbClr val="17324F"/>
                          </a:solidFill>
                          <a:latin typeface="Times New Roman"/>
                          <a:ea typeface="Times New Roman"/>
                          <a:cs typeface="Times New Roman"/>
                        </a:rPr>
                        <a:t>210</a:t>
                      </a:r>
                      <a:endParaRPr lang="en-US" sz="16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6"/>
                  </a:ext>
                </a:extLst>
              </a:tr>
              <a:tr h="365760">
                <a:tc>
                  <a:txBody>
                    <a:bodyPr/>
                    <a:lstStyle/>
                    <a:p>
                      <a:pPr marL="0" indent="0" algn="l">
                        <a:buNone/>
                      </a:pPr>
                      <a:r>
                        <a:rPr lang="en-US" sz="1600" dirty="0">
                          <a:solidFill>
                            <a:srgbClr val="17324F"/>
                          </a:solidFill>
                          <a:latin typeface="Times New Roman"/>
                          <a:ea typeface="Times New Roman"/>
                          <a:cs typeface="Times New Roman"/>
                        </a:rPr>
                        <a:t>PCB, enclosure, adaptor</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7324F"/>
                          </a:solidFill>
                          <a:latin typeface="Times New Roman"/>
                          <a:ea typeface="Times New Roman"/>
                          <a:cs typeface="Times New Roman"/>
                        </a:rPr>
                        <a:t>280</a:t>
                      </a:r>
                      <a:endParaRPr lang="en-US" sz="16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600" dirty="0">
                          <a:solidFill>
                            <a:srgbClr val="17324F"/>
                          </a:solidFill>
                          <a:latin typeface="Times New Roman"/>
                          <a:ea typeface="Times New Roman"/>
                          <a:cs typeface="Times New Roman"/>
                        </a:rPr>
                        <a:t>Assembly, test, packaging</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600" dirty="0">
                          <a:solidFill>
                            <a:srgbClr val="17324F"/>
                          </a:solidFill>
                          <a:latin typeface="Times New Roman"/>
                          <a:ea typeface="Times New Roman"/>
                          <a:cs typeface="Times New Roman"/>
                        </a:rPr>
                        <a:t>150</a:t>
                      </a:r>
                      <a:endParaRPr lang="en-US" sz="16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8"/>
                  </a:ext>
                </a:extLst>
              </a:tr>
              <a:tr h="365760">
                <a:tc>
                  <a:txBody>
                    <a:bodyPr/>
                    <a:lstStyle/>
                    <a:p>
                      <a:pPr marL="0" indent="0" algn="l">
                        <a:buNone/>
                      </a:pPr>
                      <a:r>
                        <a:rPr lang="en-US" sz="1600" dirty="0">
                          <a:solidFill>
                            <a:srgbClr val="17324F"/>
                          </a:solidFill>
                          <a:latin typeface="Times New Roman"/>
                          <a:ea typeface="Times New Roman"/>
                          <a:cs typeface="Times New Roman"/>
                        </a:rPr>
                        <a:t>Estimated factory cost per unit</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7324F"/>
                          </a:solidFill>
                          <a:latin typeface="Times New Roman"/>
                          <a:ea typeface="Times New Roman"/>
                          <a:cs typeface="Times New Roman"/>
                        </a:rPr>
                        <a:t>640</a:t>
                      </a:r>
                      <a:endParaRPr lang="en-US" sz="16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lgn="l">
                        <a:buNone/>
                      </a:pPr>
                      <a:r>
                        <a:rPr lang="en-US" sz="1600" b="1" dirty="0">
                          <a:solidFill>
                            <a:srgbClr val="17324F"/>
                          </a:solidFill>
                          <a:latin typeface="Times New Roman"/>
                          <a:ea typeface="Times New Roman"/>
                          <a:cs typeface="Times New Roman"/>
                        </a:rPr>
                        <a:t>Indicative selling price (25 % margin)</a:t>
                      </a:r>
                      <a:endParaRPr lang="en-US" sz="160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r">
                        <a:buNone/>
                      </a:pPr>
                      <a:r>
                        <a:rPr lang="en-US" sz="1600" b="1" dirty="0">
                          <a:solidFill>
                            <a:srgbClr val="17324F"/>
                          </a:solidFill>
                          <a:latin typeface="Times New Roman"/>
                          <a:ea typeface="Times New Roman"/>
                          <a:cs typeface="Times New Roman"/>
                        </a:rPr>
                        <a:t>800</a:t>
                      </a:r>
                      <a:endParaRPr lang="en-US" sz="1600" dirty="0">
                        <a:latin typeface="Times New Roman"/>
                        <a:ea typeface="Times New Roman"/>
                        <a:cs typeface="Times New Roman"/>
                      </a:endParaRPr>
                    </a:p>
                  </a:txBody>
                  <a:tcPr marL="63500" marR="1143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10"/>
                  </a:ext>
                </a:extLst>
              </a:tr>
            </a:tbl>
          </a:graphicData>
        </a:graphic>
      </p:graphicFrame>
      <p:sp>
        <p:nvSpPr>
          <p:cNvPr id="10" name="Text 6"/>
          <p:cNvSpPr txBox="1"/>
          <p:nvPr/>
        </p:nvSpPr>
        <p:spPr>
          <a:xfrm>
            <a:off x="487680" y="5570702"/>
            <a:ext cx="11155680" cy="698500"/>
          </a:xfrm>
          <a:prstGeom prst="rect">
            <a:avLst/>
          </a:prstGeom>
          <a:noFill/>
          <a:ln/>
        </p:spPr>
        <p:txBody>
          <a:bodyPr wrap="square" lIns="0" tIns="0" rIns="0" bIns="0" rtlCol="0" anchor="t"/>
          <a:lstStyle/>
          <a:p>
            <a:pPr marL="0" indent="0" algn="l">
              <a:buNone/>
            </a:pPr>
            <a:r>
              <a:rPr lang="en-US" sz="1400" i="1" dirty="0">
                <a:solidFill>
                  <a:srgbClr val="4A5A6B"/>
                </a:solidFill>
                <a:latin typeface="Times New Roman"/>
                <a:ea typeface="Times New Roman"/>
                <a:cs typeface="Times New Roman"/>
              </a:rPr>
              <a:t>Volume production removes the breadboards and individually bought passives </a:t>
            </a:r>
          </a:p>
          <a:p>
            <a:pPr marL="0" indent="0" algn="l">
              <a:buNone/>
            </a:pPr>
            <a:r>
              <a:rPr lang="en-US" sz="1400" i="1" dirty="0">
                <a:solidFill>
                  <a:srgbClr val="4A5A6B"/>
                </a:solidFill>
                <a:latin typeface="Times New Roman"/>
                <a:ea typeface="Times New Roman"/>
                <a:cs typeface="Times New Roman"/>
              </a:rPr>
              <a:t> a 45 % reduction. The laser module and photodiode are finished optical parts and do not fall in price as steeply.</a:t>
            </a:r>
            <a:endParaRPr lang="en-US" sz="1400" dirty="0">
              <a:latin typeface="Times New Roman"/>
              <a:ea typeface="Times New Roman"/>
              <a:cs typeface="Times New Roman"/>
            </a:endParaRPr>
          </a:p>
        </p:txBody>
      </p:sp>
      <p:sp>
        <p:nvSpPr>
          <p:cNvPr id="8" name="Shape 1">
            <a:extLst>
              <a:ext uri="{FF2B5EF4-FFF2-40B4-BE49-F238E27FC236}">
                <a16:creationId xmlns:a16="http://schemas.microsoft.com/office/drawing/2014/main" id="{9CB7FCE9-6802-7FD3-AE9A-74207EA9560F}"/>
              </a:ext>
            </a:extLst>
          </p:cNvPr>
          <p:cNvSpPr/>
          <p:nvPr/>
        </p:nvSpPr>
        <p:spPr>
          <a:xfrm>
            <a:off x="0" y="6108192"/>
            <a:ext cx="12192000" cy="749808"/>
          </a:xfrm>
          <a:prstGeom prst="rect">
            <a:avLst/>
          </a:prstGeom>
          <a:solidFill>
            <a:srgbClr val="C00000"/>
          </a:solidFill>
          <a:ln/>
        </p:spPr>
      </p:sp>
      <p:sp>
        <p:nvSpPr>
          <p:cNvPr id="9" name="Text 2">
            <a:extLst>
              <a:ext uri="{FF2B5EF4-FFF2-40B4-BE49-F238E27FC236}">
                <a16:creationId xmlns:a16="http://schemas.microsoft.com/office/drawing/2014/main" id="{C3D65F2D-BADA-9B85-272C-CE8056FB96CE}"/>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1" name="Text 3">
            <a:extLst>
              <a:ext uri="{FF2B5EF4-FFF2-40B4-BE49-F238E27FC236}">
                <a16:creationId xmlns:a16="http://schemas.microsoft.com/office/drawing/2014/main" id="{78BF6533-1400-2625-14A5-04D5851DC5D4}"/>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2" name="Text 4">
            <a:extLst>
              <a:ext uri="{FF2B5EF4-FFF2-40B4-BE49-F238E27FC236}">
                <a16:creationId xmlns:a16="http://schemas.microsoft.com/office/drawing/2014/main" id="{82206183-7DB5-D92E-EFBA-CAF8CF4A1E18}"/>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2206120</a:t>
            </a:r>
            <a:endParaRPr lang="en-US" sz="1600" dirty="0">
              <a:latin typeface="Times New Roman"/>
              <a:ea typeface="Times New Roman"/>
              <a:cs typeface="Times New Roman"/>
            </a:endParaRPr>
          </a:p>
        </p:txBody>
      </p:sp>
      <p:sp>
        <p:nvSpPr>
          <p:cNvPr id="13" name="Text 5">
            <a:extLst>
              <a:ext uri="{FF2B5EF4-FFF2-40B4-BE49-F238E27FC236}">
                <a16:creationId xmlns:a16="http://schemas.microsoft.com/office/drawing/2014/main" id="{52D5DDF2-17F0-C26F-F95F-680AF23BCAB7}"/>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28</a:t>
            </a:r>
            <a:endParaRPr lang="en-US" sz="1600" dirty="0">
              <a:latin typeface="Times New Roman"/>
              <a:ea typeface="Times New Roman"/>
              <a:cs typeface="Times New Roman"/>
            </a:endParaRPr>
          </a:p>
        </p:txBody>
      </p:sp>
      <p:pic>
        <p:nvPicPr>
          <p:cNvPr id="14" name="Picture 13">
            <a:extLst>
              <a:ext uri="{FF2B5EF4-FFF2-40B4-BE49-F238E27FC236}">
                <a16:creationId xmlns:a16="http://schemas.microsoft.com/office/drawing/2014/main" id="{69AEA588-A082-0D70-897D-CA9E6E9396E6}"/>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4018047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2803" y="717711"/>
            <a:ext cx="11338560" cy="566928"/>
          </a:xfrm>
          <a:prstGeom prst="rect">
            <a:avLst/>
          </a:prstGeom>
          <a:noFill/>
          <a:ln/>
        </p:spPr>
        <p:txBody>
          <a:bodyPr wrap="square" lIns="0" tIns="0" rIns="0" bIns="0" rtlCol="0" anchor="ctr"/>
          <a:lstStyle/>
          <a:p>
            <a:pPr marL="0" indent="0">
              <a:buNone/>
            </a:pPr>
            <a:r>
              <a:rPr lang="en-US" sz="4400" b="1" dirty="0">
                <a:solidFill>
                  <a:srgbClr val="17324F"/>
                </a:solidFill>
                <a:latin typeface="Times New Roman"/>
                <a:ea typeface="Times New Roman"/>
                <a:cs typeface="Times New Roman"/>
              </a:rPr>
              <a:t>9.  References</a:t>
            </a:r>
            <a:endParaRPr lang="en-US" sz="44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29</a:t>
            </a:r>
            <a:endParaRPr lang="en-US" sz="1100" dirty="0">
              <a:latin typeface="Times New Roman"/>
              <a:ea typeface="Times New Roman"/>
              <a:cs typeface="Times New Roman"/>
            </a:endParaRPr>
          </a:p>
        </p:txBody>
      </p:sp>
      <p:sp>
        <p:nvSpPr>
          <p:cNvPr id="8" name="Text 6"/>
          <p:cNvSpPr txBox="1"/>
          <p:nvPr/>
        </p:nvSpPr>
        <p:spPr>
          <a:xfrm>
            <a:off x="548640" y="1938528"/>
            <a:ext cx="11155680" cy="4754880"/>
          </a:xfrm>
          <a:prstGeom prst="rect">
            <a:avLst/>
          </a:prstGeom>
          <a:noFill/>
          <a:ln/>
        </p:spPr>
        <p:txBody>
          <a:bodyPr wrap="square" lIns="0" tIns="0" rIns="0" bIns="0" rtlCol="0" anchor="t"/>
          <a:lstStyle/>
          <a:p>
            <a:pPr marL="228600" indent="-228600">
              <a:spcAft>
                <a:spcPts val="600"/>
              </a:spcAft>
              <a:buSzPct val="100000"/>
              <a:buChar char="•"/>
            </a:pPr>
            <a:r>
              <a:rPr lang="en-US" sz="1350" dirty="0">
                <a:solidFill>
                  <a:srgbClr val="17324F"/>
                </a:solidFill>
                <a:latin typeface="Times New Roman"/>
                <a:ea typeface="Times New Roman"/>
                <a:cs typeface="Times New Roman"/>
              </a:rPr>
              <a:t>[1]  B. P. Lathi and Z. Ding, Modern Digital and Analog Communication Systems, 4th ed., Oxford University Press, 2009.</a:t>
            </a:r>
            <a:endParaRPr lang="en-US" sz="1350" dirty="0">
              <a:latin typeface="Times New Roman"/>
              <a:ea typeface="Times New Roman"/>
              <a:cs typeface="Times New Roman"/>
            </a:endParaRPr>
          </a:p>
          <a:p>
            <a:pPr marL="228600" indent="-228600">
              <a:spcAft>
                <a:spcPts val="600"/>
              </a:spcAft>
              <a:buSzPct val="100000"/>
              <a:buChar char="•"/>
            </a:pPr>
            <a:r>
              <a:rPr lang="en-US" sz="1350" dirty="0">
                <a:solidFill>
                  <a:srgbClr val="17324F"/>
                </a:solidFill>
                <a:latin typeface="Times New Roman"/>
                <a:ea typeface="Times New Roman"/>
                <a:cs typeface="Times New Roman"/>
              </a:rPr>
              <a:t>[2]  S. Haykin, Communication Systems, 4th ed., John Wiley &amp; Sons, 2001.</a:t>
            </a:r>
            <a:endParaRPr lang="en-US" sz="1350" dirty="0">
              <a:latin typeface="Times New Roman"/>
              <a:ea typeface="Times New Roman"/>
              <a:cs typeface="Times New Roman"/>
            </a:endParaRPr>
          </a:p>
          <a:p>
            <a:pPr marL="228600" indent="-228600">
              <a:spcAft>
                <a:spcPts val="600"/>
              </a:spcAft>
              <a:buSzPct val="100000"/>
              <a:buChar char="•"/>
            </a:pPr>
            <a:r>
              <a:rPr lang="en-US" sz="1350" dirty="0">
                <a:solidFill>
                  <a:srgbClr val="17324F"/>
                </a:solidFill>
                <a:latin typeface="Times New Roman"/>
                <a:ea typeface="Times New Roman"/>
                <a:cs typeface="Times New Roman"/>
              </a:rPr>
              <a:t>[3]  Course lecture slides, EEE 309: Communication System I, Dept. of EEE, BUET, September 2026.</a:t>
            </a:r>
            <a:endParaRPr lang="en-US" sz="1350" dirty="0">
              <a:latin typeface="Times New Roman"/>
              <a:ea typeface="Times New Roman"/>
              <a:cs typeface="Times New Roman"/>
            </a:endParaRPr>
          </a:p>
          <a:p>
            <a:pPr marL="228600" indent="-228600">
              <a:spcAft>
                <a:spcPts val="600"/>
              </a:spcAft>
              <a:buSzPct val="100000"/>
              <a:buChar char="•"/>
            </a:pPr>
            <a:r>
              <a:rPr lang="en-US" sz="1350" dirty="0">
                <a:solidFill>
                  <a:srgbClr val="17324F"/>
                </a:solidFill>
                <a:latin typeface="Times New Roman"/>
                <a:ea typeface="Times New Roman"/>
                <a:cs typeface="Times New Roman"/>
              </a:rPr>
              <a:t>[4]  Texas Instruments, TL072 Low-Noise JFET-Input Operational Amplifier, datasheet SLOS080.</a:t>
            </a:r>
            <a:endParaRPr lang="en-US" sz="1350" dirty="0">
              <a:latin typeface="Times New Roman"/>
              <a:ea typeface="Times New Roman"/>
              <a:cs typeface="Times New Roman"/>
            </a:endParaRPr>
          </a:p>
          <a:p>
            <a:pPr marL="228600" indent="-228600">
              <a:spcAft>
                <a:spcPts val="600"/>
              </a:spcAft>
              <a:buSzPct val="100000"/>
              <a:buChar char="•"/>
            </a:pPr>
            <a:r>
              <a:rPr lang="en-US" sz="1350" dirty="0">
                <a:solidFill>
                  <a:srgbClr val="17324F"/>
                </a:solidFill>
                <a:latin typeface="Times New Roman"/>
                <a:ea typeface="Times New Roman"/>
                <a:cs typeface="Times New Roman"/>
              </a:rPr>
              <a:t>[5]  Texas Instruments, LM358 Dual Operational Amplifier, datasheet SNOSBT3.</a:t>
            </a:r>
            <a:endParaRPr lang="en-US" sz="1350" dirty="0">
              <a:latin typeface="Times New Roman"/>
              <a:ea typeface="Times New Roman"/>
              <a:cs typeface="Times New Roman"/>
            </a:endParaRPr>
          </a:p>
          <a:p>
            <a:pPr marL="228600" indent="-228600">
              <a:spcAft>
                <a:spcPts val="600"/>
              </a:spcAft>
              <a:buSzPct val="100000"/>
              <a:buChar char="•"/>
            </a:pPr>
            <a:r>
              <a:rPr lang="en-US" sz="1350" dirty="0">
                <a:solidFill>
                  <a:srgbClr val="17324F"/>
                </a:solidFill>
                <a:latin typeface="Times New Roman"/>
                <a:ea typeface="Times New Roman"/>
                <a:cs typeface="Times New Roman"/>
              </a:rPr>
              <a:t>[6]  Texas Instruments, LM386 Low Voltage Audio Power Amplifier, datasheet SLOS264.</a:t>
            </a:r>
            <a:endParaRPr lang="en-US" sz="1350" dirty="0">
              <a:latin typeface="Times New Roman"/>
              <a:ea typeface="Times New Roman"/>
              <a:cs typeface="Times New Roman"/>
            </a:endParaRPr>
          </a:p>
          <a:p>
            <a:pPr marL="228600" indent="-228600">
              <a:spcAft>
                <a:spcPts val="600"/>
              </a:spcAft>
              <a:buSzPct val="100000"/>
              <a:buChar char="•"/>
            </a:pPr>
            <a:r>
              <a:rPr lang="en-US" sz="1350" dirty="0">
                <a:solidFill>
                  <a:srgbClr val="17324F"/>
                </a:solidFill>
                <a:latin typeface="Times New Roman"/>
                <a:ea typeface="Times New Roman"/>
                <a:cs typeface="Times New Roman"/>
              </a:rPr>
              <a:t>[7]  Vishay Semiconductors, BPW34 Silicon PIN Photodiode, datasheet 81521.</a:t>
            </a:r>
            <a:endParaRPr lang="en-US" sz="1350" dirty="0">
              <a:latin typeface="Times New Roman"/>
              <a:ea typeface="Times New Roman"/>
              <a:cs typeface="Times New Roman"/>
            </a:endParaRPr>
          </a:p>
          <a:p>
            <a:pPr marL="228600" indent="-228600">
              <a:spcAft>
                <a:spcPts val="600"/>
              </a:spcAft>
              <a:buSzPct val="100000"/>
              <a:buChar char="•"/>
            </a:pPr>
            <a:r>
              <a:rPr lang="en-US" sz="1350" dirty="0">
                <a:solidFill>
                  <a:srgbClr val="17324F"/>
                </a:solidFill>
                <a:latin typeface="Times New Roman"/>
                <a:ea typeface="Times New Roman"/>
                <a:cs typeface="Times New Roman"/>
              </a:rPr>
              <a:t>[8]  ON Semiconductor, BD135/BD137/BD139 NPN Transistor, datasheet Rev. 1.0.2.</a:t>
            </a:r>
            <a:endParaRPr lang="en-US" sz="1350" dirty="0">
              <a:latin typeface="Times New Roman"/>
              <a:ea typeface="Times New Roman"/>
              <a:cs typeface="Times New Roman"/>
            </a:endParaRPr>
          </a:p>
          <a:p>
            <a:pPr marL="228600" indent="-228600">
              <a:spcAft>
                <a:spcPts val="600"/>
              </a:spcAft>
              <a:buSzPct val="100000"/>
              <a:buChar char="•"/>
            </a:pPr>
            <a:r>
              <a:rPr lang="en-US" sz="1350" dirty="0">
                <a:solidFill>
                  <a:srgbClr val="17324F"/>
                </a:solidFill>
                <a:latin typeface="Times New Roman"/>
                <a:ea typeface="Times New Roman"/>
                <a:cs typeface="Times New Roman"/>
              </a:rPr>
              <a:t>[9]  Robotics Bangladesh, 5 mW Adjustable Laser Dot Diode Module, product specification.</a:t>
            </a:r>
            <a:endParaRPr lang="en-US" sz="1350" dirty="0">
              <a:latin typeface="Times New Roman"/>
              <a:ea typeface="Times New Roman"/>
              <a:cs typeface="Times New Roman"/>
            </a:endParaRPr>
          </a:p>
          <a:p>
            <a:pPr marL="228600" indent="-228600">
              <a:spcAft>
                <a:spcPts val="600"/>
              </a:spcAft>
              <a:buSzPct val="100000"/>
              <a:buChar char="•"/>
            </a:pPr>
            <a:r>
              <a:rPr lang="en-US" sz="1350" dirty="0">
                <a:solidFill>
                  <a:srgbClr val="17324F"/>
                </a:solidFill>
                <a:latin typeface="Times New Roman"/>
                <a:ea typeface="Times New Roman"/>
                <a:cs typeface="Times New Roman"/>
              </a:rPr>
              <a:t>[10]  IEC 60825-1: Safety of Laser Products — Part 1, 3rd ed., 2014.</a:t>
            </a:r>
            <a:endParaRPr lang="en-US" sz="1350" dirty="0">
              <a:latin typeface="Times New Roman"/>
              <a:ea typeface="Times New Roman"/>
              <a:cs typeface="Times New Roman"/>
            </a:endParaRPr>
          </a:p>
          <a:p>
            <a:pPr marL="228600" indent="-228600">
              <a:spcAft>
                <a:spcPts val="600"/>
              </a:spcAft>
              <a:buSzPct val="100000"/>
              <a:buChar char="•"/>
            </a:pPr>
            <a:r>
              <a:rPr lang="en-US" sz="1350" dirty="0">
                <a:solidFill>
                  <a:srgbClr val="17324F"/>
                </a:solidFill>
                <a:latin typeface="Times New Roman"/>
                <a:ea typeface="Times New Roman"/>
                <a:cs typeface="Times New Roman"/>
              </a:rPr>
              <a:t>[11]  Dept. of EEE, BUET, EEE 310 Course Outcomes and PO Mapping, eee.buet.ac.bd.</a:t>
            </a:r>
          </a:p>
          <a:p>
            <a:pPr>
              <a:spcAft>
                <a:spcPts val="600"/>
              </a:spcAft>
              <a:buSzPct val="100000"/>
            </a:pPr>
            <a:endParaRPr lang="en-US" sz="1350" dirty="0">
              <a:latin typeface="Times New Roman"/>
              <a:ea typeface="Times New Roman"/>
              <a:cs typeface="Times New Roman"/>
            </a:endParaRPr>
          </a:p>
        </p:txBody>
      </p:sp>
      <p:sp>
        <p:nvSpPr>
          <p:cNvPr id="9" name="Shape 1">
            <a:extLst>
              <a:ext uri="{FF2B5EF4-FFF2-40B4-BE49-F238E27FC236}">
                <a16:creationId xmlns:a16="http://schemas.microsoft.com/office/drawing/2014/main" id="{8BA02574-746D-9EE9-A06D-2C10A69BC67E}"/>
              </a:ext>
            </a:extLst>
          </p:cNvPr>
          <p:cNvSpPr/>
          <p:nvPr/>
        </p:nvSpPr>
        <p:spPr>
          <a:xfrm>
            <a:off x="0" y="6108192"/>
            <a:ext cx="12192000" cy="749808"/>
          </a:xfrm>
          <a:prstGeom prst="rect">
            <a:avLst/>
          </a:prstGeom>
          <a:solidFill>
            <a:srgbClr val="C00000"/>
          </a:solidFill>
          <a:ln/>
        </p:spPr>
      </p:sp>
      <p:sp>
        <p:nvSpPr>
          <p:cNvPr id="10" name="Text 2">
            <a:extLst>
              <a:ext uri="{FF2B5EF4-FFF2-40B4-BE49-F238E27FC236}">
                <a16:creationId xmlns:a16="http://schemas.microsoft.com/office/drawing/2014/main" id="{06635133-BB48-1104-F2C0-D62609DEA7FF}"/>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1" name="Text 3">
            <a:extLst>
              <a:ext uri="{FF2B5EF4-FFF2-40B4-BE49-F238E27FC236}">
                <a16:creationId xmlns:a16="http://schemas.microsoft.com/office/drawing/2014/main" id="{A3B4A99A-AA0D-DF40-3F22-35D998A34A3A}"/>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2" name="Text 4">
            <a:extLst>
              <a:ext uri="{FF2B5EF4-FFF2-40B4-BE49-F238E27FC236}">
                <a16:creationId xmlns:a16="http://schemas.microsoft.com/office/drawing/2014/main" id="{F7260172-637E-E642-2800-BA2C0377A444}"/>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2206120</a:t>
            </a:r>
            <a:endParaRPr lang="en-US" sz="1600" dirty="0">
              <a:latin typeface="Times New Roman"/>
              <a:ea typeface="Times New Roman"/>
              <a:cs typeface="Times New Roman"/>
            </a:endParaRPr>
          </a:p>
        </p:txBody>
      </p:sp>
      <p:sp>
        <p:nvSpPr>
          <p:cNvPr id="13" name="Text 5">
            <a:extLst>
              <a:ext uri="{FF2B5EF4-FFF2-40B4-BE49-F238E27FC236}">
                <a16:creationId xmlns:a16="http://schemas.microsoft.com/office/drawing/2014/main" id="{16EA294D-B911-A3F9-2694-41EDF8A8FD62}"/>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29</a:t>
            </a:r>
            <a:endParaRPr lang="en-US" sz="1600" dirty="0">
              <a:latin typeface="Times New Roman"/>
              <a:ea typeface="Times New Roman"/>
              <a:cs typeface="Times New Roman"/>
            </a:endParaRPr>
          </a:p>
        </p:txBody>
      </p:sp>
      <p:pic>
        <p:nvPicPr>
          <p:cNvPr id="14" name="Picture 13">
            <a:extLst>
              <a:ext uri="{FF2B5EF4-FFF2-40B4-BE49-F238E27FC236}">
                <a16:creationId xmlns:a16="http://schemas.microsoft.com/office/drawing/2014/main" id="{590101C3-6680-67B7-D492-2C20163E1D20}"/>
              </a:ext>
            </a:extLst>
          </p:cNvPr>
          <p:cNvPicPr>
            <a:picLocks noChangeAspect="1"/>
          </p:cNvPicPr>
          <p:nvPr/>
        </p:nvPicPr>
        <p:blipFill>
          <a:blip r:embed="rId3"/>
          <a:stretch>
            <a:fillRect/>
          </a:stretch>
        </p:blipFill>
        <p:spPr>
          <a:xfrm>
            <a:off x="3109" y="6159218"/>
            <a:ext cx="739389" cy="647756"/>
          </a:xfrm>
          <a:prstGeom prst="rect">
            <a:avLst/>
          </a:prstGeom>
        </p:spPr>
      </p:pic>
    </p:spTree>
    <p:extLst>
      <p:ext uri="{BB962C8B-B14F-4D97-AF65-F5344CB8AC3E}">
        <p14:creationId xmlns:p14="http://schemas.microsoft.com/office/powerpoint/2010/main" val="97622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406115"/>
            <a:ext cx="11338560" cy="566928"/>
          </a:xfrm>
          <a:prstGeom prst="rect">
            <a:avLst/>
          </a:prstGeom>
          <a:noFill/>
          <a:ln/>
        </p:spPr>
        <p:txBody>
          <a:bodyPr wrap="square" lIns="0" tIns="0" rIns="0" bIns="0" rtlCol="0" anchor="ctr"/>
          <a:lstStyle/>
          <a:p>
            <a:pPr marL="0" indent="0" algn="ctr">
              <a:buNone/>
            </a:pPr>
            <a:r>
              <a:rPr lang="en-US" sz="3600" b="1" dirty="0">
                <a:solidFill>
                  <a:srgbClr val="17324F"/>
                </a:solidFill>
                <a:latin typeface="Times New Roman"/>
                <a:ea typeface="Times New Roman"/>
                <a:cs typeface="Times New Roman"/>
              </a:rPr>
              <a:t>Appendix:  Mapping of Course Outcomes and Program Outcomes</a:t>
            </a:r>
            <a:endParaRPr lang="en-US" sz="3600" dirty="0">
              <a:latin typeface="Times New Roman"/>
              <a:ea typeface="Times New Roman"/>
              <a:cs typeface="Times New Roman"/>
            </a:endParaRPr>
          </a:p>
        </p:txBody>
      </p:sp>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30</a:t>
            </a:r>
            <a:endParaRPr lang="en-US" sz="1100" dirty="0">
              <a:latin typeface="Times New Roman"/>
              <a:ea typeface="Times New Roman"/>
              <a:cs typeface="Times New Roman"/>
            </a:endParaRPr>
          </a:p>
        </p:txBody>
      </p:sp>
      <p:graphicFrame>
        <p:nvGraphicFramePr>
          <p:cNvPr id="31" name="Table 0"/>
          <p:cNvGraphicFramePr>
            <a:graphicFrameLocks noGrp="1"/>
          </p:cNvGraphicFramePr>
          <p:nvPr>
            <p:extLst>
              <p:ext uri="{D42A27DB-BD31-4B8C-83A1-F6EECF244321}">
                <p14:modId xmlns:p14="http://schemas.microsoft.com/office/powerpoint/2010/main" val="4100116715"/>
              </p:ext>
            </p:extLst>
          </p:nvPr>
        </p:nvGraphicFramePr>
        <p:xfrm>
          <a:off x="548640" y="1554480"/>
          <a:ext cx="10972800" cy="2857500"/>
        </p:xfrm>
        <a:graphic>
          <a:graphicData uri="http://schemas.openxmlformats.org/drawingml/2006/table">
            <a:tbl>
              <a:tblPr/>
              <a:tblGrid>
                <a:gridCol w="8229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0">
                <a:tc>
                  <a:txBody>
                    <a:bodyPr/>
                    <a:lstStyle/>
                    <a:p>
                      <a:pPr marL="0" indent="0" algn="ctr">
                        <a:buNone/>
                      </a:pPr>
                      <a:r>
                        <a:rPr lang="en-US" sz="1250" b="1" dirty="0">
                          <a:solidFill>
                            <a:srgbClr val="FFFFFF"/>
                          </a:solidFill>
                          <a:latin typeface="Times New Roman"/>
                          <a:ea typeface="Times New Roman"/>
                          <a:cs typeface="Times New Roman"/>
                        </a:rPr>
                        <a:t>CO</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250" b="1" dirty="0">
                          <a:solidFill>
                            <a:srgbClr val="FFFFFF"/>
                          </a:solidFill>
                          <a:latin typeface="Times New Roman"/>
                          <a:ea typeface="Times New Roman"/>
                          <a:cs typeface="Times New Roman"/>
                        </a:rPr>
                        <a:t>PO</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250" b="1" dirty="0">
                          <a:solidFill>
                            <a:srgbClr val="FFFFFF"/>
                          </a:solidFill>
                          <a:latin typeface="Times New Roman"/>
                          <a:ea typeface="Times New Roman"/>
                          <a:cs typeface="Times New Roman"/>
                        </a:rPr>
                        <a:t>Description</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250" b="1" dirty="0">
                          <a:solidFill>
                            <a:srgbClr val="FFFFFF"/>
                          </a:solidFill>
                          <a:latin typeface="Times New Roman"/>
                          <a:ea typeface="Times New Roman"/>
                          <a:cs typeface="Times New Roman"/>
                        </a:rPr>
                        <a:t>Addressed in</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250" b="1" dirty="0">
                          <a:solidFill>
                            <a:srgbClr val="FFFFFF"/>
                          </a:solidFill>
                          <a:latin typeface="Times New Roman"/>
                          <a:ea typeface="Times New Roman"/>
                          <a:cs typeface="Times New Roman"/>
                        </a:rPr>
                        <a:t>Achieved</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0">
                <a:tc>
                  <a:txBody>
                    <a:bodyPr/>
                    <a:lstStyle/>
                    <a:p>
                      <a:pPr marL="0" indent="0" algn="l">
                        <a:buNone/>
                      </a:pPr>
                      <a:r>
                        <a:rPr lang="en-US" sz="1250" dirty="0">
                          <a:solidFill>
                            <a:srgbClr val="17324F"/>
                          </a:solidFill>
                          <a:latin typeface="Times New Roman"/>
                          <a:ea typeface="Times New Roman"/>
                          <a:cs typeface="Times New Roman"/>
                        </a:rPr>
                        <a:t>CO1</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PO(a)</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Explain practical aspects using modules and equipment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Section 3.1</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50" dirty="0">
                          <a:solidFill>
                            <a:srgbClr val="17324F"/>
                          </a:solidFill>
                          <a:latin typeface="Times New Roman"/>
                          <a:ea typeface="Times New Roman"/>
                          <a:cs typeface="Times New Roman"/>
                        </a:rPr>
                        <a:t>CO2</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PO(d)</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Compare theoretical and experimental results</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Section 5.3</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2"/>
                  </a:ext>
                </a:extLst>
              </a:tr>
              <a:tr h="0">
                <a:tc>
                  <a:txBody>
                    <a:bodyPr/>
                    <a:lstStyle/>
                    <a:p>
                      <a:pPr marL="0" indent="0" algn="l">
                        <a:buNone/>
                      </a:pPr>
                      <a:r>
                        <a:rPr lang="en-US" sz="1250" dirty="0">
                          <a:solidFill>
                            <a:srgbClr val="17324F"/>
                          </a:solidFill>
                          <a:latin typeface="Times New Roman"/>
                          <a:ea typeface="Times New Roman"/>
                          <a:cs typeface="Times New Roman"/>
                        </a:rPr>
                        <a:t>CO3</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PO(c)</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Design with safety, cultural, societal, environmental considerations</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Section 5.2</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50" dirty="0">
                          <a:solidFill>
                            <a:srgbClr val="17324F"/>
                          </a:solidFill>
                          <a:latin typeface="Times New Roman"/>
                          <a:ea typeface="Times New Roman"/>
                          <a:cs typeface="Times New Roman"/>
                        </a:rPr>
                        <a:t>CO4</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PO(f)</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Assess societal, health, safety, legal and cultural impact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Section 5.4</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4"/>
                  </a:ext>
                </a:extLst>
              </a:tr>
              <a:tr h="0">
                <a:tc>
                  <a:txBody>
                    <a:bodyPr/>
                    <a:lstStyle/>
                    <a:p>
                      <a:pPr marL="0" indent="0" algn="l">
                        <a:buNone/>
                      </a:pPr>
                      <a:r>
                        <a:rPr lang="en-US" sz="1250" dirty="0">
                          <a:solidFill>
                            <a:srgbClr val="17324F"/>
                          </a:solidFill>
                          <a:latin typeface="Times New Roman"/>
                          <a:ea typeface="Times New Roman"/>
                          <a:cs typeface="Times New Roman"/>
                        </a:rPr>
                        <a:t>CO5</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PO(g)</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Evaluate sustainability and environmental impact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Section 5.5</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50" dirty="0">
                          <a:solidFill>
                            <a:srgbClr val="17324F"/>
                          </a:solidFill>
                          <a:latin typeface="Times New Roman"/>
                          <a:ea typeface="Times New Roman"/>
                          <a:cs typeface="Times New Roman"/>
                        </a:rPr>
                        <a:t>CO6</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PO(i)</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Demonstrate participation and leadership in teamwork</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Section 6</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6"/>
                  </a:ext>
                </a:extLst>
              </a:tr>
              <a:tr h="0">
                <a:tc>
                  <a:txBody>
                    <a:bodyPr/>
                    <a:lstStyle/>
                    <a:p>
                      <a:pPr marL="0" indent="0" algn="l">
                        <a:buNone/>
                      </a:pPr>
                      <a:r>
                        <a:rPr lang="en-US" sz="1250" dirty="0">
                          <a:solidFill>
                            <a:srgbClr val="17324F"/>
                          </a:solidFill>
                          <a:latin typeface="Times New Roman"/>
                          <a:ea typeface="Times New Roman"/>
                          <a:cs typeface="Times New Roman"/>
                        </a:rPr>
                        <a:t>CO7</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PO(j)</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Communicate effectively with presentation and report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Section 7</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250" dirty="0">
                          <a:solidFill>
                            <a:srgbClr val="17324F"/>
                          </a:solidFill>
                          <a:latin typeface="Times New Roman"/>
                          <a:ea typeface="Times New Roman"/>
                          <a:cs typeface="Times New Roman"/>
                        </a:rPr>
                        <a:t>CO8</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PO(k)</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Demonstrate project management and cost analysis</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Section 8</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8"/>
                  </a:ext>
                </a:extLst>
              </a:tr>
            </a:tbl>
          </a:graphicData>
        </a:graphic>
      </p:graphicFrame>
      <p:sp>
        <p:nvSpPr>
          <p:cNvPr id="8" name="Shape 1">
            <a:extLst>
              <a:ext uri="{FF2B5EF4-FFF2-40B4-BE49-F238E27FC236}">
                <a16:creationId xmlns:a16="http://schemas.microsoft.com/office/drawing/2014/main" id="{AF161E5C-8472-82DC-011F-C64CDD9A7B56}"/>
              </a:ext>
            </a:extLst>
          </p:cNvPr>
          <p:cNvSpPr/>
          <p:nvPr/>
        </p:nvSpPr>
        <p:spPr>
          <a:xfrm>
            <a:off x="0" y="6108192"/>
            <a:ext cx="12192000" cy="749808"/>
          </a:xfrm>
          <a:prstGeom prst="rect">
            <a:avLst/>
          </a:prstGeom>
          <a:solidFill>
            <a:srgbClr val="C00000"/>
          </a:solidFill>
          <a:ln/>
        </p:spPr>
      </p:sp>
      <p:sp>
        <p:nvSpPr>
          <p:cNvPr id="9" name="Text 2">
            <a:extLst>
              <a:ext uri="{FF2B5EF4-FFF2-40B4-BE49-F238E27FC236}">
                <a16:creationId xmlns:a16="http://schemas.microsoft.com/office/drawing/2014/main" id="{7844FC92-0E06-7970-F4A4-5F76985B9511}"/>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0" name="Text 3">
            <a:extLst>
              <a:ext uri="{FF2B5EF4-FFF2-40B4-BE49-F238E27FC236}">
                <a16:creationId xmlns:a16="http://schemas.microsoft.com/office/drawing/2014/main" id="{6CD95626-EBC1-E70C-D3AB-7C95E614593D}"/>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1" name="Text 4">
            <a:extLst>
              <a:ext uri="{FF2B5EF4-FFF2-40B4-BE49-F238E27FC236}">
                <a16:creationId xmlns:a16="http://schemas.microsoft.com/office/drawing/2014/main" id="{A8E5D2B3-88BB-08C1-47BB-A94A0B407F36}"/>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r>
              <a:rPr lang="en-US" sz="1600" i="1" dirty="0">
                <a:solidFill>
                  <a:srgbClr val="FFE9A8"/>
                </a:solidFill>
                <a:latin typeface="Times New Roman"/>
                <a:ea typeface="Times New Roman"/>
                <a:cs typeface="Times New Roman"/>
              </a:rPr>
              <a:t>Presented by: 2206120</a:t>
            </a:r>
            <a:endParaRPr lang="en-US" sz="1600" dirty="0">
              <a:latin typeface="Times New Roman"/>
              <a:ea typeface="Times New Roman"/>
              <a:cs typeface="Times New Roman"/>
            </a:endParaRPr>
          </a:p>
        </p:txBody>
      </p:sp>
      <p:sp>
        <p:nvSpPr>
          <p:cNvPr id="12" name="Text 5">
            <a:extLst>
              <a:ext uri="{FF2B5EF4-FFF2-40B4-BE49-F238E27FC236}">
                <a16:creationId xmlns:a16="http://schemas.microsoft.com/office/drawing/2014/main" id="{3153B1C0-01ED-F1F5-3425-B062E5D7DBDB}"/>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30</a:t>
            </a:r>
            <a:endParaRPr lang="en-US" sz="1600" dirty="0">
              <a:latin typeface="Times New Roman"/>
              <a:ea typeface="Times New Roman"/>
              <a:cs typeface="Times New Roman"/>
            </a:endParaRPr>
          </a:p>
        </p:txBody>
      </p:sp>
      <p:pic>
        <p:nvPicPr>
          <p:cNvPr id="13" name="Picture 12">
            <a:extLst>
              <a:ext uri="{FF2B5EF4-FFF2-40B4-BE49-F238E27FC236}">
                <a16:creationId xmlns:a16="http://schemas.microsoft.com/office/drawing/2014/main" id="{C2A08F52-BB68-E207-DC75-DA0B5393D845}"/>
              </a:ext>
            </a:extLst>
          </p:cNvPr>
          <p:cNvPicPr>
            <a:picLocks noChangeAspect="1"/>
          </p:cNvPicPr>
          <p:nvPr/>
        </p:nvPicPr>
        <p:blipFill>
          <a:blip r:embed="rId3"/>
          <a:stretch>
            <a:fillRect/>
          </a:stretch>
        </p:blipFill>
        <p:spPr>
          <a:xfrm>
            <a:off x="3109" y="6159218"/>
            <a:ext cx="739389" cy="647756"/>
          </a:xfrm>
          <a:prstGeom prst="rect">
            <a:avLst/>
          </a:prstGeom>
        </p:spPr>
      </p:pic>
      <p:sp>
        <p:nvSpPr>
          <p:cNvPr id="16" name="Rectangle 15">
            <a:extLst>
              <a:ext uri="{FF2B5EF4-FFF2-40B4-BE49-F238E27FC236}">
                <a16:creationId xmlns:a16="http://schemas.microsoft.com/office/drawing/2014/main" id="{90220812-F618-E288-B78B-210CB6FDB7E5}"/>
              </a:ext>
            </a:extLst>
          </p:cNvPr>
          <p:cNvSpPr/>
          <p:nvPr/>
        </p:nvSpPr>
        <p:spPr>
          <a:xfrm>
            <a:off x="3109" y="-3456310"/>
            <a:ext cx="12192000" cy="3264389"/>
          </a:xfrm>
          <a:prstGeom prst="rect">
            <a:avLst/>
          </a:prstGeom>
          <a:solidFill>
            <a:srgbClr val="AE01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b="1" dirty="0">
              <a:solidFill>
                <a:schemeClr val="bg1"/>
              </a:solidFill>
            </a:endParaRPr>
          </a:p>
        </p:txBody>
      </p:sp>
      <p:pic>
        <p:nvPicPr>
          <p:cNvPr id="17" name="Picture 16">
            <a:extLst>
              <a:ext uri="{FF2B5EF4-FFF2-40B4-BE49-F238E27FC236}">
                <a16:creationId xmlns:a16="http://schemas.microsoft.com/office/drawing/2014/main" id="{FFDC6336-CFCD-1716-71EE-8CB264EB0F49}"/>
              </a:ext>
            </a:extLst>
          </p:cNvPr>
          <p:cNvPicPr>
            <a:picLocks noChangeAspect="1"/>
          </p:cNvPicPr>
          <p:nvPr/>
        </p:nvPicPr>
        <p:blipFill>
          <a:blip r:embed="rId4"/>
          <a:stretch>
            <a:fillRect/>
          </a:stretch>
        </p:blipFill>
        <p:spPr>
          <a:xfrm>
            <a:off x="2415788" y="-5779408"/>
            <a:ext cx="7360423" cy="2167650"/>
          </a:xfrm>
          <a:prstGeom prst="rect">
            <a:avLst/>
          </a:prstGeom>
        </p:spPr>
      </p:pic>
    </p:spTree>
    <p:extLst>
      <p:ext uri="{BB962C8B-B14F-4D97-AF65-F5344CB8AC3E}">
        <p14:creationId xmlns:p14="http://schemas.microsoft.com/office/powerpoint/2010/main" val="1144070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320040" y="6419088"/>
            <a:ext cx="3840480" cy="384048"/>
          </a:xfrm>
          <a:prstGeom prst="rect">
            <a:avLst/>
          </a:prstGeom>
          <a:noFill/>
          <a:ln/>
        </p:spPr>
        <p:txBody>
          <a:bodyPr wrap="square" lIns="0" tIns="0" rIns="0" bIns="0" rtlCol="0" anchor="ctr"/>
          <a:lstStyle/>
          <a:p>
            <a:pPr marL="0" indent="0">
              <a:buNone/>
            </a:pPr>
            <a:r>
              <a:rPr lang="en-US" sz="1100" dirty="0">
                <a:solidFill>
                  <a:srgbClr val="FFFFFF"/>
                </a:solidFill>
                <a:latin typeface="Times New Roman"/>
                <a:ea typeface="Times New Roman"/>
                <a:cs typeface="Times New Roman"/>
              </a:rPr>
              <a:t>EEE 310 – Comm. System I Lab | Group 05</a:t>
            </a:r>
            <a:endParaRPr lang="en-US" sz="1100" dirty="0">
              <a:latin typeface="Times New Roman"/>
              <a:ea typeface="Times New Roman"/>
              <a:cs typeface="Times New Roman"/>
            </a:endParaRPr>
          </a:p>
        </p:txBody>
      </p:sp>
      <p:sp>
        <p:nvSpPr>
          <p:cNvPr id="5" name="Text 3"/>
          <p:cNvSpPr txBox="1"/>
          <p:nvPr/>
        </p:nvSpPr>
        <p:spPr>
          <a:xfrm>
            <a:off x="4023360" y="6419088"/>
            <a:ext cx="51206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a:ea typeface="Times New Roman"/>
                <a:cs typeface="Times New Roman"/>
              </a:rPr>
              <a:t>Li-Fi: Audio Transmission over a Laser Beam</a:t>
            </a:r>
            <a:endParaRPr lang="en-US" sz="1100" dirty="0">
              <a:latin typeface="Times New Roman"/>
              <a:ea typeface="Times New Roman"/>
              <a:cs typeface="Times New Roman"/>
            </a:endParaRPr>
          </a:p>
        </p:txBody>
      </p:sp>
      <p:sp>
        <p:nvSpPr>
          <p:cNvPr id="6" name="Text 4"/>
          <p:cNvSpPr txBox="1"/>
          <p:nvPr/>
        </p:nvSpPr>
        <p:spPr>
          <a:xfrm>
            <a:off x="9144000" y="6419088"/>
            <a:ext cx="2377440" cy="384048"/>
          </a:xfrm>
          <a:prstGeom prst="rect">
            <a:avLst/>
          </a:prstGeom>
          <a:noFill/>
          <a:ln/>
        </p:spPr>
        <p:txBody>
          <a:bodyPr wrap="square" lIns="0" tIns="0" rIns="0" bIns="0" rtlCol="0" anchor="ctr"/>
          <a:lstStyle/>
          <a:p>
            <a:pPr marL="0" indent="0" algn="r">
              <a:buNone/>
            </a:pPr>
            <a:r>
              <a:rPr lang="en-US" sz="1100" i="1" dirty="0">
                <a:solidFill>
                  <a:srgbClr val="FFE9A8"/>
                </a:solidFill>
                <a:latin typeface="Times New Roman"/>
                <a:ea typeface="Times New Roman"/>
                <a:cs typeface="Times New Roman"/>
              </a:rPr>
              <a:t>Presented by: 2206119</a:t>
            </a:r>
            <a:endParaRPr lang="en-US" sz="1100" dirty="0">
              <a:latin typeface="Times New Roman"/>
              <a:ea typeface="Times New Roman"/>
              <a:cs typeface="Times New Roman"/>
            </a:endParaRPr>
          </a:p>
        </p:txBody>
      </p:sp>
      <p:sp>
        <p:nvSpPr>
          <p:cNvPr id="7" name="Text 5"/>
          <p:cNvSpPr txBox="1"/>
          <p:nvPr/>
        </p:nvSpPr>
        <p:spPr>
          <a:xfrm>
            <a:off x="11567160" y="6419088"/>
            <a:ext cx="411480" cy="384048"/>
          </a:xfrm>
          <a:prstGeom prst="rect">
            <a:avLst/>
          </a:prstGeom>
          <a:noFill/>
          <a:ln/>
        </p:spPr>
        <p:txBody>
          <a:bodyPr wrap="square" lIns="0" tIns="0" rIns="0" bIns="0" rtlCol="0" anchor="ctr"/>
          <a:lstStyle/>
          <a:p>
            <a:pPr marL="0" indent="0" algn="r">
              <a:buNone/>
            </a:pPr>
            <a:r>
              <a:rPr lang="en-US" sz="1100" b="1" dirty="0">
                <a:solidFill>
                  <a:srgbClr val="FFFFFF"/>
                </a:solidFill>
                <a:latin typeface="Times New Roman"/>
                <a:ea typeface="Times New Roman"/>
                <a:cs typeface="Times New Roman"/>
              </a:rPr>
              <a:t>30</a:t>
            </a:r>
            <a:endParaRPr lang="en-US" sz="1100" dirty="0">
              <a:latin typeface="Times New Roman"/>
              <a:ea typeface="Times New Roman"/>
              <a:cs typeface="Times New Roman"/>
            </a:endParaRPr>
          </a:p>
        </p:txBody>
      </p:sp>
      <p:sp>
        <p:nvSpPr>
          <p:cNvPr id="8" name="Shape 1">
            <a:extLst>
              <a:ext uri="{FF2B5EF4-FFF2-40B4-BE49-F238E27FC236}">
                <a16:creationId xmlns:a16="http://schemas.microsoft.com/office/drawing/2014/main" id="{AF161E5C-8472-82DC-011F-C64CDD9A7B56}"/>
              </a:ext>
            </a:extLst>
          </p:cNvPr>
          <p:cNvSpPr/>
          <p:nvPr/>
        </p:nvSpPr>
        <p:spPr>
          <a:xfrm>
            <a:off x="0" y="6108192"/>
            <a:ext cx="12192000" cy="749808"/>
          </a:xfrm>
          <a:prstGeom prst="rect">
            <a:avLst/>
          </a:prstGeom>
          <a:solidFill>
            <a:srgbClr val="C00000"/>
          </a:solidFill>
          <a:ln/>
        </p:spPr>
      </p:sp>
      <p:sp>
        <p:nvSpPr>
          <p:cNvPr id="9" name="Text 2">
            <a:extLst>
              <a:ext uri="{FF2B5EF4-FFF2-40B4-BE49-F238E27FC236}">
                <a16:creationId xmlns:a16="http://schemas.microsoft.com/office/drawing/2014/main" id="{7844FC92-0E06-7970-F4A4-5F76985B9511}"/>
              </a:ext>
            </a:extLst>
          </p:cNvPr>
          <p:cNvSpPr txBox="1"/>
          <p:nvPr/>
        </p:nvSpPr>
        <p:spPr>
          <a:xfrm>
            <a:off x="822960" y="6309360"/>
            <a:ext cx="3841440" cy="384048"/>
          </a:xfrm>
          <a:prstGeom prst="rect">
            <a:avLst/>
          </a:prstGeom>
          <a:noFill/>
          <a:ln/>
        </p:spPr>
        <p:txBody>
          <a:bodyPr wrap="square" lIns="0" tIns="0" rIns="0" bIns="0" rtlCol="0" anchor="ctr"/>
          <a:lstStyle/>
          <a:p>
            <a:pPr marL="0" indent="0">
              <a:buNone/>
            </a:pPr>
            <a:r>
              <a:rPr lang="en-US" sz="1600" dirty="0">
                <a:solidFill>
                  <a:srgbClr val="FFFFFF"/>
                </a:solidFill>
                <a:latin typeface="Times New Roman"/>
                <a:ea typeface="Times New Roman"/>
                <a:cs typeface="Times New Roman"/>
              </a:rPr>
              <a:t>EEE 310 – Comm. System I Lab | Group 05</a:t>
            </a:r>
            <a:endParaRPr lang="en-US" sz="1600" dirty="0">
              <a:latin typeface="Times New Roman"/>
              <a:ea typeface="Times New Roman"/>
              <a:cs typeface="Times New Roman"/>
            </a:endParaRPr>
          </a:p>
        </p:txBody>
      </p:sp>
      <p:sp>
        <p:nvSpPr>
          <p:cNvPr id="10" name="Text 3">
            <a:extLst>
              <a:ext uri="{FF2B5EF4-FFF2-40B4-BE49-F238E27FC236}">
                <a16:creationId xmlns:a16="http://schemas.microsoft.com/office/drawing/2014/main" id="{6CD95626-EBC1-E70C-D3AB-7C95E614593D}"/>
              </a:ext>
            </a:extLst>
          </p:cNvPr>
          <p:cNvSpPr txBox="1"/>
          <p:nvPr/>
        </p:nvSpPr>
        <p:spPr>
          <a:xfrm>
            <a:off x="4247295" y="6318317"/>
            <a:ext cx="5121920" cy="384048"/>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a:ea typeface="Times New Roman"/>
                <a:cs typeface="Times New Roman"/>
              </a:rPr>
              <a:t>Li-Fi: Audio Transmission over a Laser Beam</a:t>
            </a:r>
            <a:endParaRPr lang="en-US" sz="1600" dirty="0">
              <a:latin typeface="Times New Roman"/>
              <a:ea typeface="Times New Roman"/>
              <a:cs typeface="Times New Roman"/>
            </a:endParaRPr>
          </a:p>
        </p:txBody>
      </p:sp>
      <p:sp>
        <p:nvSpPr>
          <p:cNvPr id="11" name="Text 4">
            <a:extLst>
              <a:ext uri="{FF2B5EF4-FFF2-40B4-BE49-F238E27FC236}">
                <a16:creationId xmlns:a16="http://schemas.microsoft.com/office/drawing/2014/main" id="{A8E5D2B3-88BB-08C1-47BB-A94A0B407F36}"/>
              </a:ext>
            </a:extLst>
          </p:cNvPr>
          <p:cNvSpPr txBox="1"/>
          <p:nvPr/>
        </p:nvSpPr>
        <p:spPr>
          <a:xfrm>
            <a:off x="9143999" y="6336605"/>
            <a:ext cx="2378035" cy="384048"/>
          </a:xfrm>
          <a:prstGeom prst="rect">
            <a:avLst/>
          </a:prstGeom>
          <a:noFill/>
          <a:ln/>
        </p:spPr>
        <p:txBody>
          <a:bodyPr wrap="square" lIns="0" tIns="0" rIns="0" bIns="0" rtlCol="0" anchor="ctr"/>
          <a:lstStyle/>
          <a:p>
            <a:pPr marL="0" indent="0" algn="r">
              <a:buNone/>
            </a:pPr>
            <a:endParaRPr lang="en-US" sz="1600" dirty="0">
              <a:latin typeface="Times New Roman"/>
              <a:ea typeface="Times New Roman"/>
              <a:cs typeface="Times New Roman"/>
            </a:endParaRPr>
          </a:p>
        </p:txBody>
      </p:sp>
      <p:sp>
        <p:nvSpPr>
          <p:cNvPr id="12" name="Text 5">
            <a:extLst>
              <a:ext uri="{FF2B5EF4-FFF2-40B4-BE49-F238E27FC236}">
                <a16:creationId xmlns:a16="http://schemas.microsoft.com/office/drawing/2014/main" id="{3153B1C0-01ED-F1F5-3425-B062E5D7DBDB}"/>
              </a:ext>
            </a:extLst>
          </p:cNvPr>
          <p:cNvSpPr txBox="1"/>
          <p:nvPr/>
        </p:nvSpPr>
        <p:spPr>
          <a:xfrm>
            <a:off x="11567159" y="6419088"/>
            <a:ext cx="411583" cy="384048"/>
          </a:xfrm>
          <a:prstGeom prst="rect">
            <a:avLst/>
          </a:prstGeom>
          <a:noFill/>
          <a:ln/>
        </p:spPr>
        <p:txBody>
          <a:bodyPr wrap="square" lIns="0" tIns="0" rIns="0" bIns="0" rtlCol="0" anchor="ctr"/>
          <a:lstStyle/>
          <a:p>
            <a:pPr marL="0" indent="0" algn="r">
              <a:buNone/>
            </a:pPr>
            <a:r>
              <a:rPr lang="en-US" sz="1600" b="1" dirty="0">
                <a:solidFill>
                  <a:srgbClr val="FFFFFF"/>
                </a:solidFill>
                <a:latin typeface="Times New Roman"/>
                <a:ea typeface="Times New Roman"/>
                <a:cs typeface="Times New Roman"/>
              </a:rPr>
              <a:t>31</a:t>
            </a:r>
            <a:endParaRPr lang="en-US" sz="1600" dirty="0">
              <a:latin typeface="Times New Roman"/>
              <a:ea typeface="Times New Roman"/>
              <a:cs typeface="Times New Roman"/>
            </a:endParaRPr>
          </a:p>
        </p:txBody>
      </p:sp>
      <p:pic>
        <p:nvPicPr>
          <p:cNvPr id="13" name="Picture 12">
            <a:extLst>
              <a:ext uri="{FF2B5EF4-FFF2-40B4-BE49-F238E27FC236}">
                <a16:creationId xmlns:a16="http://schemas.microsoft.com/office/drawing/2014/main" id="{C2A08F52-BB68-E207-DC75-DA0B5393D845}"/>
              </a:ext>
            </a:extLst>
          </p:cNvPr>
          <p:cNvPicPr>
            <a:picLocks noChangeAspect="1"/>
          </p:cNvPicPr>
          <p:nvPr/>
        </p:nvPicPr>
        <p:blipFill>
          <a:blip r:embed="rId3"/>
          <a:stretch>
            <a:fillRect/>
          </a:stretch>
        </p:blipFill>
        <p:spPr>
          <a:xfrm>
            <a:off x="3109" y="6159218"/>
            <a:ext cx="739389" cy="647756"/>
          </a:xfrm>
          <a:prstGeom prst="rect">
            <a:avLst/>
          </a:prstGeom>
        </p:spPr>
      </p:pic>
      <p:sp>
        <p:nvSpPr>
          <p:cNvPr id="3" name="Rectangle 2">
            <a:extLst>
              <a:ext uri="{FF2B5EF4-FFF2-40B4-BE49-F238E27FC236}">
                <a16:creationId xmlns:a16="http://schemas.microsoft.com/office/drawing/2014/main" id="{AD39C412-4828-CB74-C53E-B65B8EE80DF7}"/>
              </a:ext>
            </a:extLst>
          </p:cNvPr>
          <p:cNvSpPr/>
          <p:nvPr/>
        </p:nvSpPr>
        <p:spPr>
          <a:xfrm>
            <a:off x="3109" y="-36672"/>
            <a:ext cx="12192000" cy="3264389"/>
          </a:xfrm>
          <a:prstGeom prst="rect">
            <a:avLst/>
          </a:prstGeom>
          <a:solidFill>
            <a:srgbClr val="AE01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b="1" dirty="0">
              <a:solidFill>
                <a:schemeClr val="bg1"/>
              </a:solidFill>
            </a:endParaRPr>
          </a:p>
        </p:txBody>
      </p:sp>
      <p:sp>
        <p:nvSpPr>
          <p:cNvPr id="2" name="Text 0"/>
          <p:cNvSpPr txBox="1"/>
          <p:nvPr/>
        </p:nvSpPr>
        <p:spPr>
          <a:xfrm>
            <a:off x="411480" y="2862072"/>
            <a:ext cx="11338560" cy="566928"/>
          </a:xfrm>
          <a:prstGeom prst="rect">
            <a:avLst/>
          </a:prstGeom>
          <a:noFill/>
          <a:ln/>
        </p:spPr>
        <p:txBody>
          <a:bodyPr wrap="square" lIns="0" tIns="0" rIns="0" bIns="0" rtlCol="0" anchor="ctr"/>
          <a:lstStyle/>
          <a:p>
            <a:pPr marL="0" indent="0" algn="ctr">
              <a:buNone/>
            </a:pPr>
            <a:r>
              <a:rPr lang="en-US" sz="9600" b="1" dirty="0">
                <a:solidFill>
                  <a:srgbClr val="17324F"/>
                </a:solidFill>
                <a:latin typeface="Times New Roman"/>
                <a:ea typeface="Times New Roman"/>
                <a:cs typeface="Times New Roman"/>
              </a:rPr>
              <a:t>Thank You</a:t>
            </a:r>
            <a:endParaRPr lang="en-US" sz="9600" dirty="0">
              <a:latin typeface="Times New Roman"/>
              <a:ea typeface="Times New Roman"/>
              <a:cs typeface="Times New Roman"/>
            </a:endParaRPr>
          </a:p>
        </p:txBody>
      </p:sp>
      <p:graphicFrame>
        <p:nvGraphicFramePr>
          <p:cNvPr id="14" name="Table 0">
            <a:extLst>
              <a:ext uri="{FF2B5EF4-FFF2-40B4-BE49-F238E27FC236}">
                <a16:creationId xmlns:a16="http://schemas.microsoft.com/office/drawing/2014/main" id="{4AC2761C-9BB3-1613-8C7A-C120688D5357}"/>
              </a:ext>
            </a:extLst>
          </p:cNvPr>
          <p:cNvGraphicFramePr>
            <a:graphicFrameLocks noGrp="1"/>
          </p:cNvGraphicFramePr>
          <p:nvPr>
            <p:extLst>
              <p:ext uri="{D42A27DB-BD31-4B8C-83A1-F6EECF244321}">
                <p14:modId xmlns:p14="http://schemas.microsoft.com/office/powerpoint/2010/main" val="1346998482"/>
              </p:ext>
            </p:extLst>
          </p:nvPr>
        </p:nvGraphicFramePr>
        <p:xfrm>
          <a:off x="293155" y="-21899880"/>
          <a:ext cx="10972800" cy="2857500"/>
        </p:xfrm>
        <a:graphic>
          <a:graphicData uri="http://schemas.openxmlformats.org/drawingml/2006/table">
            <a:tbl>
              <a:tblPr/>
              <a:tblGrid>
                <a:gridCol w="8229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0">
                <a:tc>
                  <a:txBody>
                    <a:bodyPr/>
                    <a:lstStyle/>
                    <a:p>
                      <a:pPr marL="0" indent="0" algn="ctr">
                        <a:buNone/>
                      </a:pPr>
                      <a:r>
                        <a:rPr lang="en-US" sz="1250" b="1" dirty="0">
                          <a:solidFill>
                            <a:srgbClr val="FFFFFF"/>
                          </a:solidFill>
                          <a:latin typeface="Times New Roman"/>
                          <a:ea typeface="Times New Roman"/>
                          <a:cs typeface="Times New Roman"/>
                        </a:rPr>
                        <a:t>CO</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250" b="1" dirty="0">
                          <a:solidFill>
                            <a:srgbClr val="FFFFFF"/>
                          </a:solidFill>
                          <a:latin typeface="Times New Roman"/>
                          <a:ea typeface="Times New Roman"/>
                          <a:cs typeface="Times New Roman"/>
                        </a:rPr>
                        <a:t>PO</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250" b="1" dirty="0">
                          <a:solidFill>
                            <a:srgbClr val="FFFFFF"/>
                          </a:solidFill>
                          <a:latin typeface="Times New Roman"/>
                          <a:ea typeface="Times New Roman"/>
                          <a:cs typeface="Times New Roman"/>
                        </a:rPr>
                        <a:t>Description</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250" b="1" dirty="0">
                          <a:solidFill>
                            <a:srgbClr val="FFFFFF"/>
                          </a:solidFill>
                          <a:latin typeface="Times New Roman"/>
                          <a:ea typeface="Times New Roman"/>
                          <a:cs typeface="Times New Roman"/>
                        </a:rPr>
                        <a:t>Addressed in</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tc>
                  <a:txBody>
                    <a:bodyPr/>
                    <a:lstStyle/>
                    <a:p>
                      <a:pPr marL="0" indent="0" algn="ctr">
                        <a:buNone/>
                      </a:pPr>
                      <a:r>
                        <a:rPr lang="en-US" sz="1250" b="1" dirty="0">
                          <a:solidFill>
                            <a:srgbClr val="FFFFFF"/>
                          </a:solidFill>
                          <a:latin typeface="Times New Roman"/>
                          <a:ea typeface="Times New Roman"/>
                          <a:cs typeface="Times New Roman"/>
                        </a:rPr>
                        <a:t>Achieved</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0">
                <a:tc>
                  <a:txBody>
                    <a:bodyPr/>
                    <a:lstStyle/>
                    <a:p>
                      <a:pPr marL="0" indent="0" algn="l">
                        <a:buNone/>
                      </a:pPr>
                      <a:r>
                        <a:rPr lang="en-US" sz="1250" dirty="0">
                          <a:solidFill>
                            <a:srgbClr val="17324F"/>
                          </a:solidFill>
                          <a:latin typeface="Times New Roman"/>
                          <a:ea typeface="Times New Roman"/>
                          <a:cs typeface="Times New Roman"/>
                        </a:rPr>
                        <a:t>CO1</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PO(a)</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Explain practical aspects using modules and equipment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Section 3.1</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50" dirty="0">
                          <a:solidFill>
                            <a:srgbClr val="17324F"/>
                          </a:solidFill>
                          <a:latin typeface="Times New Roman"/>
                          <a:ea typeface="Times New Roman"/>
                          <a:cs typeface="Times New Roman"/>
                        </a:rPr>
                        <a:t>CO2</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PO(d)</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Compare theoretical and experimental results</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Section 5.3</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2"/>
                  </a:ext>
                </a:extLst>
              </a:tr>
              <a:tr h="0">
                <a:tc>
                  <a:txBody>
                    <a:bodyPr/>
                    <a:lstStyle/>
                    <a:p>
                      <a:pPr marL="0" indent="0" algn="l">
                        <a:buNone/>
                      </a:pPr>
                      <a:r>
                        <a:rPr lang="en-US" sz="1250" dirty="0">
                          <a:solidFill>
                            <a:srgbClr val="17324F"/>
                          </a:solidFill>
                          <a:latin typeface="Times New Roman"/>
                          <a:ea typeface="Times New Roman"/>
                          <a:cs typeface="Times New Roman"/>
                        </a:rPr>
                        <a:t>CO3</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PO(c)</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Design with safety, cultural, societal, environmental considerations</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Section 5.2</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50" dirty="0">
                          <a:solidFill>
                            <a:srgbClr val="17324F"/>
                          </a:solidFill>
                          <a:latin typeface="Times New Roman"/>
                          <a:ea typeface="Times New Roman"/>
                          <a:cs typeface="Times New Roman"/>
                        </a:rPr>
                        <a:t>CO4</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PO(f)</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Assess societal, health, safety, legal and cultural impact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Section 5.4</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4"/>
                  </a:ext>
                </a:extLst>
              </a:tr>
              <a:tr h="0">
                <a:tc>
                  <a:txBody>
                    <a:bodyPr/>
                    <a:lstStyle/>
                    <a:p>
                      <a:pPr marL="0" indent="0" algn="l">
                        <a:buNone/>
                      </a:pPr>
                      <a:r>
                        <a:rPr lang="en-US" sz="1250" dirty="0">
                          <a:solidFill>
                            <a:srgbClr val="17324F"/>
                          </a:solidFill>
                          <a:latin typeface="Times New Roman"/>
                          <a:ea typeface="Times New Roman"/>
                          <a:cs typeface="Times New Roman"/>
                        </a:rPr>
                        <a:t>CO5</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PO(g)</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Evaluate sustainability and environmental impact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Section 5.5</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50" dirty="0">
                          <a:solidFill>
                            <a:srgbClr val="17324F"/>
                          </a:solidFill>
                          <a:latin typeface="Times New Roman"/>
                          <a:ea typeface="Times New Roman"/>
                          <a:cs typeface="Times New Roman"/>
                        </a:rPr>
                        <a:t>CO6</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PO(i)</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Demonstrate participation and leadership in teamwork</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Section 6</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6"/>
                  </a:ext>
                </a:extLst>
              </a:tr>
              <a:tr h="0">
                <a:tc>
                  <a:txBody>
                    <a:bodyPr/>
                    <a:lstStyle/>
                    <a:p>
                      <a:pPr marL="0" indent="0" algn="l">
                        <a:buNone/>
                      </a:pPr>
                      <a:r>
                        <a:rPr lang="en-US" sz="1250" dirty="0">
                          <a:solidFill>
                            <a:srgbClr val="17324F"/>
                          </a:solidFill>
                          <a:latin typeface="Times New Roman"/>
                          <a:ea typeface="Times New Roman"/>
                          <a:cs typeface="Times New Roman"/>
                        </a:rPr>
                        <a:t>CO7</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PO(j)</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Communicate effectively with presentation and report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Section 7</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250" dirty="0">
                          <a:solidFill>
                            <a:srgbClr val="17324F"/>
                          </a:solidFill>
                          <a:latin typeface="Times New Roman"/>
                          <a:ea typeface="Times New Roman"/>
                          <a:cs typeface="Times New Roman"/>
                        </a:rPr>
                        <a:t>CO8</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PO(k)</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Demonstrate project management and cost analysis</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Section 8</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tc>
                  <a:txBody>
                    <a:bodyPr/>
                    <a:lstStyle/>
                    <a:p>
                      <a:pPr marL="0" indent="0" algn="ctr">
                        <a:buNone/>
                      </a:pPr>
                      <a:r>
                        <a:rPr lang="en-US" sz="1250" dirty="0">
                          <a:solidFill>
                            <a:srgbClr val="17324F"/>
                          </a:solidFill>
                          <a:latin typeface="Times New Roman"/>
                          <a:ea typeface="Times New Roman"/>
                          <a:cs typeface="Times New Roman"/>
                        </a:rPr>
                        <a:t>✓</a:t>
                      </a:r>
                      <a:endParaRPr lang="en-US" sz="1250" dirty="0">
                        <a:latin typeface="Times New Roman"/>
                        <a:ea typeface="Times New Roman"/>
                        <a:cs typeface="Times New Roman"/>
                      </a:endParaRPr>
                    </a:p>
                  </a:txBody>
                  <a:tcPr marL="63500" marR="63500" marT="63500" marB="63500" anchor="ctr">
                    <a:lnL w="6350" cap="flat" cmpd="sng" algn="ctr">
                      <a:solidFill>
                        <a:srgbClr val="C3CCD6"/>
                      </a:solidFill>
                      <a:prstDash val="solid"/>
                      <a:round/>
                      <a:headEnd type="none" w="med" len="med"/>
                      <a:tailEnd type="none" w="med" len="med"/>
                    </a:lnL>
                    <a:lnR w="6350" cap="flat" cmpd="sng" algn="ctr">
                      <a:solidFill>
                        <a:srgbClr val="C3CCD6"/>
                      </a:solidFill>
                      <a:prstDash val="solid"/>
                      <a:round/>
                      <a:headEnd type="none" w="med" len="med"/>
                      <a:tailEnd type="none" w="med" len="med"/>
                    </a:lnR>
                    <a:lnT w="6350" cap="flat" cmpd="sng" algn="ctr">
                      <a:solidFill>
                        <a:srgbClr val="C3CCD6"/>
                      </a:solidFill>
                      <a:prstDash val="solid"/>
                      <a:round/>
                      <a:headEnd type="none" w="med" len="med"/>
                      <a:tailEnd type="none" w="med" len="med"/>
                    </a:lnT>
                    <a:lnB w="6350" cap="flat" cmpd="sng" algn="ctr">
                      <a:solidFill>
                        <a:srgbClr val="C3CCD6"/>
                      </a:solidFill>
                      <a:prstDash val="solid"/>
                      <a:round/>
                      <a:headEnd type="none" w="med" len="med"/>
                      <a:tailEnd type="none" w="med" len="med"/>
                    </a:lnB>
                    <a:solidFill>
                      <a:srgbClr val="F2F5F9"/>
                    </a:solidFill>
                  </a:tcPr>
                </a:tc>
                <a:extLst>
                  <a:ext uri="{0D108BD9-81ED-4DB2-BD59-A6C34878D82A}">
                    <a16:rowId xmlns:a16="http://schemas.microsoft.com/office/drawing/2014/main" val="10008"/>
                  </a:ext>
                </a:extLst>
              </a:tr>
            </a:tbl>
          </a:graphicData>
        </a:graphic>
      </p:graphicFrame>
      <p:sp>
        <p:nvSpPr>
          <p:cNvPr id="15" name="Text 0">
            <a:extLst>
              <a:ext uri="{FF2B5EF4-FFF2-40B4-BE49-F238E27FC236}">
                <a16:creationId xmlns:a16="http://schemas.microsoft.com/office/drawing/2014/main" id="{6F809CBC-BF83-D542-0A55-6D8AF9D12D24}"/>
              </a:ext>
            </a:extLst>
          </p:cNvPr>
          <p:cNvSpPr txBox="1"/>
          <p:nvPr/>
        </p:nvSpPr>
        <p:spPr>
          <a:xfrm>
            <a:off x="239175" y="-18269712"/>
            <a:ext cx="11338560" cy="566928"/>
          </a:xfrm>
          <a:prstGeom prst="rect">
            <a:avLst/>
          </a:prstGeom>
          <a:noFill/>
          <a:ln/>
        </p:spPr>
        <p:txBody>
          <a:bodyPr wrap="square" lIns="0" tIns="0" rIns="0" bIns="0" rtlCol="0" anchor="ctr"/>
          <a:lstStyle/>
          <a:p>
            <a:pPr marL="0" indent="0" algn="ctr">
              <a:buNone/>
            </a:pPr>
            <a:r>
              <a:rPr lang="en-US" sz="3600" b="1" dirty="0">
                <a:solidFill>
                  <a:srgbClr val="17324F"/>
                </a:solidFill>
                <a:latin typeface="Times New Roman"/>
                <a:ea typeface="Times New Roman"/>
                <a:cs typeface="Times New Roman"/>
              </a:rPr>
              <a:t>Appendix:  Mapping of Course Outcomes and Program Outcomes</a:t>
            </a:r>
            <a:endParaRPr lang="en-US" sz="3600" dirty="0">
              <a:latin typeface="Times New Roman"/>
              <a:ea typeface="Times New Roman"/>
              <a:cs typeface="Times New Roman"/>
            </a:endParaRPr>
          </a:p>
        </p:txBody>
      </p:sp>
      <p:sp>
        <p:nvSpPr>
          <p:cNvPr id="16" name="TextBox 15">
            <a:extLst>
              <a:ext uri="{FF2B5EF4-FFF2-40B4-BE49-F238E27FC236}">
                <a16:creationId xmlns:a16="http://schemas.microsoft.com/office/drawing/2014/main" id="{82E34DF6-F94C-3E2D-DE03-6709FD972A55}"/>
              </a:ext>
            </a:extLst>
          </p:cNvPr>
          <p:cNvSpPr txBox="1"/>
          <p:nvPr/>
        </p:nvSpPr>
        <p:spPr>
          <a:xfrm>
            <a:off x="5475466" y="3745468"/>
            <a:ext cx="121058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Questions?</a:t>
            </a:r>
          </a:p>
        </p:txBody>
      </p:sp>
      <p:pic>
        <p:nvPicPr>
          <p:cNvPr id="23" name="Picture 22">
            <a:extLst>
              <a:ext uri="{FF2B5EF4-FFF2-40B4-BE49-F238E27FC236}">
                <a16:creationId xmlns:a16="http://schemas.microsoft.com/office/drawing/2014/main" id="{1CAC91A9-560E-D58F-0BFB-2A96A28AB3F0}"/>
              </a:ext>
            </a:extLst>
          </p:cNvPr>
          <p:cNvPicPr>
            <a:picLocks noChangeAspect="1"/>
          </p:cNvPicPr>
          <p:nvPr/>
        </p:nvPicPr>
        <p:blipFill>
          <a:blip r:embed="rId4"/>
          <a:stretch>
            <a:fillRect/>
          </a:stretch>
        </p:blipFill>
        <p:spPr>
          <a:xfrm>
            <a:off x="2415788" y="377954"/>
            <a:ext cx="7360423" cy="2167650"/>
          </a:xfrm>
          <a:prstGeom prst="rect">
            <a:avLst/>
          </a:prstGeom>
        </p:spPr>
      </p:pic>
    </p:spTree>
    <p:extLst>
      <p:ext uri="{BB962C8B-B14F-4D97-AF65-F5344CB8AC3E}">
        <p14:creationId xmlns:p14="http://schemas.microsoft.com/office/powerpoint/2010/main" val="4223445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1790446375525]">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81FE6A0-949F-3045-95FF-242C93ECA4DC}">
  <we:reference id="wa200010725" version="1.0.0.1" store="en-US" storeType="OMEX"/>
  <we:alternateReferences>
    <we:reference id="WA200010725" version="1.0.0.1" store="" storeType="OMEX"/>
  </we:alternateReferences>
  <we:properties>
    <we:property name="claude.fileId" value="&quot;8002d6e2-726f-4cbb-b42f-fcc63694d3d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550</TotalTime>
  <Words>5024</Words>
  <Application>Microsoft Office PowerPoint</Application>
  <PresentationFormat>Widescreen</PresentationFormat>
  <Paragraphs>727</Paragraphs>
  <Slides>31</Slides>
  <Notes>30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31</vt:i4>
      </vt:variant>
    </vt:vector>
  </HeadingPairs>
  <TitlesOfParts>
    <vt:vector size="36" baseType="lpstr">
      <vt:lpstr>Arial</vt:lpstr>
      <vt:lpstr>Cambria Math</vt:lpstr>
      <vt:lpstr>Times New Roman</vt:lpstr>
      <vt:lpstr>Office Theme</vt:lpstr>
      <vt:lpstr>Office Theme [1790446375525]</vt:lpstr>
      <vt:lpstr>LI-FI:  AUDIO TRANSMISSION OVER A LASER BEAM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Li-Fi: Audio Transmission over a Laser Beam</dc:title>
  <dc:subject>PptxGenJS Presentation</dc:subject>
  <dc:creator>Md. Mahedi Hasan Saikot</dc:creator>
  <cp:lastModifiedBy>Mahedi Hasan Saikot</cp:lastModifiedBy>
  <cp:revision>17</cp:revision>
  <dcterms:created xsi:type="dcterms:W3CDTF">2026-09-26T17:53:03Z</dcterms:created>
  <dcterms:modified xsi:type="dcterms:W3CDTF">2026-09-27T22:39:56Z</dcterms:modified>
</cp:coreProperties>
</file>